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8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0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1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2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13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8"/>
  </p:notesMasterIdLst>
  <p:sldIdLst>
    <p:sldId id="256" r:id="rId2"/>
    <p:sldId id="272" r:id="rId3"/>
    <p:sldId id="301" r:id="rId4"/>
    <p:sldId id="275" r:id="rId5"/>
    <p:sldId id="276" r:id="rId6"/>
    <p:sldId id="274" r:id="rId7"/>
    <p:sldId id="306" r:id="rId8"/>
    <p:sldId id="295" r:id="rId9"/>
    <p:sldId id="294" r:id="rId10"/>
    <p:sldId id="293" r:id="rId11"/>
    <p:sldId id="300" r:id="rId12"/>
    <p:sldId id="292" r:id="rId13"/>
    <p:sldId id="291" r:id="rId14"/>
    <p:sldId id="290" r:id="rId15"/>
    <p:sldId id="287" r:id="rId16"/>
    <p:sldId id="289" r:id="rId17"/>
    <p:sldId id="297" r:id="rId18"/>
    <p:sldId id="298" r:id="rId19"/>
    <p:sldId id="296" r:id="rId20"/>
    <p:sldId id="307" r:id="rId21"/>
    <p:sldId id="260" r:id="rId22"/>
    <p:sldId id="303" r:id="rId23"/>
    <p:sldId id="302" r:id="rId24"/>
    <p:sldId id="304" r:id="rId25"/>
    <p:sldId id="299" r:id="rId26"/>
    <p:sldId id="3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A85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4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_rels/drawing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Driver_Base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51616" custLinFactNeighborX="2956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Driver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Translates the transaction level items to pin level ones.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6B3B7C3D-3769-4F98-A97E-6F7D0961B430}">
      <dgm:prSet phldrT="[Text]" custT="1"/>
      <dgm:spPr/>
      <dgm:t>
        <a:bodyPr/>
        <a:lstStyle/>
        <a:p>
          <a:r>
            <a:rPr lang="en-US" sz="1000" dirty="0"/>
            <a:t>Sends the stimulus to the DUT.</a:t>
          </a:r>
        </a:p>
      </dgm:t>
    </dgm:pt>
    <dgm:pt modelId="{8AF32A7D-F967-442E-B4D9-14C218613FF2}" type="parTrans" cxnId="{6842C1C5-24A4-44FF-8B7F-2567FA7EE1FE}">
      <dgm:prSet/>
      <dgm:spPr/>
      <dgm:t>
        <a:bodyPr/>
        <a:lstStyle/>
        <a:p>
          <a:endParaRPr lang="en-US"/>
        </a:p>
      </dgm:t>
    </dgm:pt>
    <dgm:pt modelId="{9E39DC66-3170-49BE-92F7-A1AFE6C6EC37}" type="sibTrans" cxnId="{6842C1C5-24A4-44FF-8B7F-2567FA7EE1F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 custScaleX="211129" custLinFactNeighborX="5647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BA2924F8-CC50-4C38-A774-5D450D43E14E}" type="pres">
      <dgm:prSet presAssocID="{6B3B7C3D-3769-4F98-A97E-6F7D0961B430}" presName="Image3" presStyleCnt="0"/>
      <dgm:spPr/>
    </dgm:pt>
    <dgm:pt modelId="{D6F6FC17-20B3-46E6-82FF-46C37F4B4423}" type="pres">
      <dgm:prSet presAssocID="{6B3B7C3D-3769-4F98-A97E-6F7D0961B430}" presName="Image" presStyleLbl="fgImgPlace1" presStyleIdx="2" presStyleCnt="3"/>
      <dgm:spPr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</dgm:pt>
    <dgm:pt modelId="{52DE6D73-3DC4-479B-B104-D4D5B94D7688}" type="pres">
      <dgm:prSet presAssocID="{6B3B7C3D-3769-4F98-A97E-6F7D0961B430}" presName="Child3" presStyleLbl="revTx" presStyleIdx="2" presStyleCnt="3" custScaleX="320691" custLinFactX="15829" custLinFactNeighborX="10000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2B859C81-8308-42D8-AD9E-6C4F8D8AB6EC}" type="presOf" srcId="{6B3B7C3D-3769-4F98-A97E-6F7D0961B430}" destId="{52DE6D73-3DC4-479B-B104-D4D5B94D7688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6842C1C5-24A4-44FF-8B7F-2567FA7EE1FE}" srcId="{6AFA46F5-CB29-4CFA-B940-0F77E508C6FB}" destId="{6B3B7C3D-3769-4F98-A97E-6F7D0961B430}" srcOrd="2" destOrd="0" parTransId="{8AF32A7D-F967-442E-B4D9-14C218613FF2}" sibTransId="{9E39DC66-3170-49BE-92F7-A1AFE6C6EC3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1D41DF6C-C5DE-4884-8447-2F83F01ABDBC}" type="presParOf" srcId="{99DDB345-EF8A-4603-AC40-B9476611FDB4}" destId="{BA2924F8-CC50-4C38-A774-5D450D43E14E}" srcOrd="6" destOrd="0" presId="urn:microsoft.com/office/officeart/2011/layout/RadialPictureList"/>
    <dgm:cxn modelId="{4B6CA8A2-D9AB-434E-A735-54207C63CC4F}" type="presParOf" srcId="{BA2924F8-CC50-4C38-A774-5D450D43E14E}" destId="{D6F6FC17-20B3-46E6-82FF-46C37F4B4423}" srcOrd="0" destOrd="0" presId="urn:microsoft.com/office/officeart/2011/layout/RadialPictureList"/>
    <dgm:cxn modelId="{62E059B6-1CDF-4D35-8E6D-0595AC6D91CD}" type="presParOf" srcId="{99DDB345-EF8A-4603-AC40-B9476611FDB4}" destId="{52DE6D73-3DC4-479B-B104-D4D5B94D7688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outputMonitor_Base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237692" custLinFactNeighborX="7435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51616" custLinFactNeighborX="2956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 err="1"/>
            <a:t>outputMonitor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Samples the DUT outputs.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6B3B7C3D-3769-4F98-A97E-6F7D0961B430}">
      <dgm:prSet phldrT="[Text]" custT="1"/>
      <dgm:spPr/>
      <dgm:t>
        <a:bodyPr/>
        <a:lstStyle/>
        <a:p>
          <a:r>
            <a:rPr lang="en-US" sz="1000" dirty="0"/>
            <a:t>Translates the sampled outputs from pin level to transaction  level.</a:t>
          </a:r>
        </a:p>
      </dgm:t>
    </dgm:pt>
    <dgm:pt modelId="{8AF32A7D-F967-442E-B4D9-14C218613FF2}" type="parTrans" cxnId="{6842C1C5-24A4-44FF-8B7F-2567FA7EE1FE}">
      <dgm:prSet/>
      <dgm:spPr/>
      <dgm:t>
        <a:bodyPr/>
        <a:lstStyle/>
        <a:p>
          <a:endParaRPr lang="en-US"/>
        </a:p>
      </dgm:t>
    </dgm:pt>
    <dgm:pt modelId="{9E39DC66-3170-49BE-92F7-A1AFE6C6EC37}" type="sibTrans" cxnId="{6842C1C5-24A4-44FF-8B7F-2567FA7EE1FE}">
      <dgm:prSet/>
      <dgm:spPr/>
      <dgm:t>
        <a:bodyPr/>
        <a:lstStyle/>
        <a:p>
          <a:endParaRPr lang="en-US"/>
        </a:p>
      </dgm:t>
    </dgm:pt>
    <dgm:pt modelId="{AEEA20E7-FF3A-41F9-A7D0-A2B57F2B7444}">
      <dgm:prSet phldrT="[Text]" custT="1"/>
      <dgm:spPr/>
      <dgm:t>
        <a:bodyPr/>
        <a:lstStyle/>
        <a:p>
          <a:r>
            <a:rPr lang="en-US" sz="1000" dirty="0"/>
            <a:t>Sends the sampled transaction level item to the Scoreboard/Comparator.</a:t>
          </a:r>
        </a:p>
      </dgm:t>
    </dgm:pt>
    <dgm:pt modelId="{CCFDB3CC-04F5-4BD0-B654-E5B085C944D6}" type="parTrans" cxnId="{E6955E79-01B8-4DED-A586-521A911FA9B6}">
      <dgm:prSet/>
      <dgm:spPr/>
      <dgm:t>
        <a:bodyPr/>
        <a:lstStyle/>
        <a:p>
          <a:endParaRPr lang="en-US"/>
        </a:p>
      </dgm:t>
    </dgm:pt>
    <dgm:pt modelId="{640588D7-C39E-4477-9717-A4D1A4AC88D6}" type="sibTrans" cxnId="{E6955E79-01B8-4DED-A586-521A911FA9B6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11129" custLinFactNeighborX="5647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 custLinFactNeighborX="3910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BA2924F8-CC50-4C38-A774-5D450D43E14E}" type="pres">
      <dgm:prSet presAssocID="{6B3B7C3D-3769-4F98-A97E-6F7D0961B430}" presName="Image3" presStyleCnt="0"/>
      <dgm:spPr/>
    </dgm:pt>
    <dgm:pt modelId="{D6F6FC17-20B3-46E6-82FF-46C37F4B4423}" type="pres">
      <dgm:prSet presAssocID="{6B3B7C3D-3769-4F98-A97E-6F7D0961B430}" presName="Image" presStyleLbl="fgImgPlace1" presStyleIdx="2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2DE6D73-3DC4-479B-B104-D4D5B94D7688}" type="pres">
      <dgm:prSet presAssocID="{6B3B7C3D-3769-4F98-A97E-6F7D0961B430}" presName="Child3" presStyleLbl="revTx" presStyleIdx="2" presStyleCnt="4" custScaleX="320691" custLinFactX="15829" custLinFactNeighborX="100000">
        <dgm:presLayoutVars>
          <dgm:chMax val="0"/>
          <dgm:chPref val="0"/>
          <dgm:bulletEnabled val="1"/>
        </dgm:presLayoutVars>
      </dgm:prSet>
      <dgm:spPr/>
    </dgm:pt>
    <dgm:pt modelId="{D4040B0C-B9ED-46D2-9D81-D497B3B91DA3}" type="pres">
      <dgm:prSet presAssocID="{AEEA20E7-FF3A-41F9-A7D0-A2B57F2B7444}" presName="Image4" presStyleCnt="0"/>
      <dgm:spPr/>
    </dgm:pt>
    <dgm:pt modelId="{FEE30AA5-757E-4947-926F-05DF8704EBF3}" type="pres">
      <dgm:prSet presAssocID="{AEEA20E7-FF3A-41F9-A7D0-A2B57F2B7444}" presName="Image" presStyleLbl="fgImgPlace1" presStyleIdx="3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E18E4002-8B38-4C7B-8383-F90062B4F9F7}" type="pres">
      <dgm:prSet presAssocID="{AEEA20E7-FF3A-41F9-A7D0-A2B57F2B7444}" presName="Child4" presStyleLbl="revTx" presStyleIdx="3" presStyleCnt="4" custScaleX="318228" custLinFactX="14887" custLinFactNeighborX="10000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E6955E79-01B8-4DED-A586-521A911FA9B6}" srcId="{6AFA46F5-CB29-4CFA-B940-0F77E508C6FB}" destId="{AEEA20E7-FF3A-41F9-A7D0-A2B57F2B7444}" srcOrd="3" destOrd="0" parTransId="{CCFDB3CC-04F5-4BD0-B654-E5B085C944D6}" sibTransId="{640588D7-C39E-4477-9717-A4D1A4AC88D6}"/>
    <dgm:cxn modelId="{2B859C81-8308-42D8-AD9E-6C4F8D8AB6EC}" type="presOf" srcId="{6B3B7C3D-3769-4F98-A97E-6F7D0961B430}" destId="{52DE6D73-3DC4-479B-B104-D4D5B94D7688}" srcOrd="0" destOrd="0" presId="urn:microsoft.com/office/officeart/2011/layout/RadialPictureList"/>
    <dgm:cxn modelId="{3BE19FA8-11B3-4923-8BCF-5AB6E1A4166A}" type="presOf" srcId="{AEEA20E7-FF3A-41F9-A7D0-A2B57F2B7444}" destId="{E18E4002-8B38-4C7B-8383-F90062B4F9F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6842C1C5-24A4-44FF-8B7F-2567FA7EE1FE}" srcId="{6AFA46F5-CB29-4CFA-B940-0F77E508C6FB}" destId="{6B3B7C3D-3769-4F98-A97E-6F7D0961B430}" srcOrd="2" destOrd="0" parTransId="{8AF32A7D-F967-442E-B4D9-14C218613FF2}" sibTransId="{9E39DC66-3170-49BE-92F7-A1AFE6C6EC3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1D41DF6C-C5DE-4884-8447-2F83F01ABDBC}" type="presParOf" srcId="{99DDB345-EF8A-4603-AC40-B9476611FDB4}" destId="{BA2924F8-CC50-4C38-A774-5D450D43E14E}" srcOrd="6" destOrd="0" presId="urn:microsoft.com/office/officeart/2011/layout/RadialPictureList"/>
    <dgm:cxn modelId="{4B6CA8A2-D9AB-434E-A735-54207C63CC4F}" type="presParOf" srcId="{BA2924F8-CC50-4C38-A774-5D450D43E14E}" destId="{D6F6FC17-20B3-46E6-82FF-46C37F4B4423}" srcOrd="0" destOrd="0" presId="urn:microsoft.com/office/officeart/2011/layout/RadialPictureList"/>
    <dgm:cxn modelId="{62E059B6-1CDF-4D35-8E6D-0595AC6D91CD}" type="presParOf" srcId="{99DDB345-EF8A-4603-AC40-B9476611FDB4}" destId="{52DE6D73-3DC4-479B-B104-D4D5B94D7688}" srcOrd="7" destOrd="0" presId="urn:microsoft.com/office/officeart/2011/layout/RadialPictureList"/>
    <dgm:cxn modelId="{3F5A3623-75FA-41A4-AF10-E54B09E0AD7A}" type="presParOf" srcId="{99DDB345-EF8A-4603-AC40-B9476611FDB4}" destId="{D4040B0C-B9ED-46D2-9D81-D497B3B91DA3}" srcOrd="8" destOrd="0" presId="urn:microsoft.com/office/officeart/2011/layout/RadialPictureList"/>
    <dgm:cxn modelId="{55A67D35-4EB4-4797-B1C5-C97CEA2A5C1E}" type="presParOf" srcId="{D4040B0C-B9ED-46D2-9D81-D497B3B91DA3}" destId="{FEE30AA5-757E-4947-926F-05DF8704EBF3}" srcOrd="0" destOrd="0" presId="urn:microsoft.com/office/officeart/2011/layout/RadialPictureList"/>
    <dgm:cxn modelId="{6878BB07-F54F-4FC1-B073-43BA3317EDCF}" type="presParOf" srcId="{99DDB345-EF8A-4603-AC40-B9476611FDB4}" destId="{E18E4002-8B38-4C7B-8383-F90062B4F9F7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inputMonitor_Base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 err="1"/>
            <a:t>inputMonitor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Sends the sampled inputs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6B3B7C3D-3769-4F98-A97E-6F7D0961B430}">
      <dgm:prSet phldrT="[Text]" custT="1"/>
      <dgm:spPr/>
      <dgm:t>
        <a:bodyPr/>
        <a:lstStyle/>
        <a:p>
          <a:r>
            <a:rPr lang="en-US" sz="1000" dirty="0"/>
            <a:t>Translates the sampled inputs from pin level to transaction  level</a:t>
          </a:r>
        </a:p>
      </dgm:t>
    </dgm:pt>
    <dgm:pt modelId="{8AF32A7D-F967-442E-B4D9-14C218613FF2}" type="parTrans" cxnId="{6842C1C5-24A4-44FF-8B7F-2567FA7EE1FE}">
      <dgm:prSet/>
      <dgm:spPr/>
      <dgm:t>
        <a:bodyPr/>
        <a:lstStyle/>
        <a:p>
          <a:endParaRPr lang="en-US"/>
        </a:p>
      </dgm:t>
    </dgm:pt>
    <dgm:pt modelId="{9E39DC66-3170-49BE-92F7-A1AFE6C6EC37}" type="sibTrans" cxnId="{6842C1C5-24A4-44FF-8B7F-2567FA7EE1FE}">
      <dgm:prSet/>
      <dgm:spPr/>
      <dgm:t>
        <a:bodyPr/>
        <a:lstStyle/>
        <a:p>
          <a:endParaRPr lang="en-US"/>
        </a:p>
      </dgm:t>
    </dgm:pt>
    <dgm:pt modelId="{AEEA20E7-FF3A-41F9-A7D0-A2B57F2B7444}">
      <dgm:prSet phldrT="[Text]" custT="1"/>
      <dgm:spPr/>
      <dgm:t>
        <a:bodyPr/>
        <a:lstStyle/>
        <a:p>
          <a:r>
            <a:rPr lang="en-US" sz="1000" dirty="0"/>
            <a:t>Sends the sampled transaction level item to the Scoreboard/Predictor</a:t>
          </a:r>
        </a:p>
      </dgm:t>
    </dgm:pt>
    <dgm:pt modelId="{CCFDB3CC-04F5-4BD0-B654-E5B085C944D6}" type="parTrans" cxnId="{E6955E79-01B8-4DED-A586-521A911FA9B6}">
      <dgm:prSet/>
      <dgm:spPr/>
      <dgm:t>
        <a:bodyPr/>
        <a:lstStyle/>
        <a:p>
          <a:endParaRPr lang="en-US"/>
        </a:p>
      </dgm:t>
    </dgm:pt>
    <dgm:pt modelId="{640588D7-C39E-4477-9717-A4D1A4AC88D6}" type="sibTrans" cxnId="{E6955E79-01B8-4DED-A586-521A911FA9B6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4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4" custScaleX="211129" custLinFactNeighborX="5647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4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BA2924F8-CC50-4C38-A774-5D450D43E14E}" type="pres">
      <dgm:prSet presAssocID="{6B3B7C3D-3769-4F98-A97E-6F7D0961B430}" presName="Image3" presStyleCnt="0"/>
      <dgm:spPr/>
    </dgm:pt>
    <dgm:pt modelId="{D6F6FC17-20B3-46E6-82FF-46C37F4B4423}" type="pres">
      <dgm:prSet presAssocID="{6B3B7C3D-3769-4F98-A97E-6F7D0961B430}" presName="Image" presStyleLbl="fgImgPlace1" presStyleIdx="2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52DE6D73-3DC4-479B-B104-D4D5B94D7688}" type="pres">
      <dgm:prSet presAssocID="{6B3B7C3D-3769-4F98-A97E-6F7D0961B430}" presName="Child3" presStyleLbl="revTx" presStyleIdx="2" presStyleCnt="4" custScaleX="320691" custLinFactX="15829" custLinFactNeighborX="100000">
        <dgm:presLayoutVars>
          <dgm:chMax val="0"/>
          <dgm:chPref val="0"/>
          <dgm:bulletEnabled val="1"/>
        </dgm:presLayoutVars>
      </dgm:prSet>
      <dgm:spPr/>
    </dgm:pt>
    <dgm:pt modelId="{D4040B0C-B9ED-46D2-9D81-D497B3B91DA3}" type="pres">
      <dgm:prSet presAssocID="{AEEA20E7-FF3A-41F9-A7D0-A2B57F2B7444}" presName="Image4" presStyleCnt="0"/>
      <dgm:spPr/>
    </dgm:pt>
    <dgm:pt modelId="{FEE30AA5-757E-4947-926F-05DF8704EBF3}" type="pres">
      <dgm:prSet presAssocID="{AEEA20E7-FF3A-41F9-A7D0-A2B57F2B7444}" presName="Image" presStyleLbl="fgImgPlace1" presStyleIdx="3" presStyleCnt="4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E18E4002-8B38-4C7B-8383-F90062B4F9F7}" type="pres">
      <dgm:prSet presAssocID="{AEEA20E7-FF3A-41F9-A7D0-A2B57F2B7444}" presName="Child4" presStyleLbl="revTx" presStyleIdx="3" presStyleCnt="4" custScaleX="318228" custLinFactX="14887" custLinFactNeighborX="100000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E6955E79-01B8-4DED-A586-521A911FA9B6}" srcId="{6AFA46F5-CB29-4CFA-B940-0F77E508C6FB}" destId="{AEEA20E7-FF3A-41F9-A7D0-A2B57F2B7444}" srcOrd="3" destOrd="0" parTransId="{CCFDB3CC-04F5-4BD0-B654-E5B085C944D6}" sibTransId="{640588D7-C39E-4477-9717-A4D1A4AC88D6}"/>
    <dgm:cxn modelId="{2B859C81-8308-42D8-AD9E-6C4F8D8AB6EC}" type="presOf" srcId="{6B3B7C3D-3769-4F98-A97E-6F7D0961B430}" destId="{52DE6D73-3DC4-479B-B104-D4D5B94D7688}" srcOrd="0" destOrd="0" presId="urn:microsoft.com/office/officeart/2011/layout/RadialPictureList"/>
    <dgm:cxn modelId="{3BE19FA8-11B3-4923-8BCF-5AB6E1A4166A}" type="presOf" srcId="{AEEA20E7-FF3A-41F9-A7D0-A2B57F2B7444}" destId="{E18E4002-8B38-4C7B-8383-F90062B4F9F7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6842C1C5-24A4-44FF-8B7F-2567FA7EE1FE}" srcId="{6AFA46F5-CB29-4CFA-B940-0F77E508C6FB}" destId="{6B3B7C3D-3769-4F98-A97E-6F7D0961B430}" srcOrd="2" destOrd="0" parTransId="{8AF32A7D-F967-442E-B4D9-14C218613FF2}" sibTransId="{9E39DC66-3170-49BE-92F7-A1AFE6C6EC37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1D41DF6C-C5DE-4884-8447-2F83F01ABDBC}" type="presParOf" srcId="{99DDB345-EF8A-4603-AC40-B9476611FDB4}" destId="{BA2924F8-CC50-4C38-A774-5D450D43E14E}" srcOrd="6" destOrd="0" presId="urn:microsoft.com/office/officeart/2011/layout/RadialPictureList"/>
    <dgm:cxn modelId="{4B6CA8A2-D9AB-434E-A735-54207C63CC4F}" type="presParOf" srcId="{BA2924F8-CC50-4C38-A774-5D450D43E14E}" destId="{D6F6FC17-20B3-46E6-82FF-46C37F4B4423}" srcOrd="0" destOrd="0" presId="urn:microsoft.com/office/officeart/2011/layout/RadialPictureList"/>
    <dgm:cxn modelId="{62E059B6-1CDF-4D35-8E6D-0595AC6D91CD}" type="presParOf" srcId="{99DDB345-EF8A-4603-AC40-B9476611FDB4}" destId="{52DE6D73-3DC4-479B-B104-D4D5B94D7688}" srcOrd="7" destOrd="0" presId="urn:microsoft.com/office/officeart/2011/layout/RadialPictureList"/>
    <dgm:cxn modelId="{3F5A3623-75FA-41A4-AF10-E54B09E0AD7A}" type="presParOf" srcId="{99DDB345-EF8A-4603-AC40-B9476611FDB4}" destId="{D4040B0C-B9ED-46D2-9D81-D497B3B91DA3}" srcOrd="8" destOrd="0" presId="urn:microsoft.com/office/officeart/2011/layout/RadialPictureList"/>
    <dgm:cxn modelId="{55A67D35-4EB4-4797-B1C5-C97CEA2A5C1E}" type="presParOf" srcId="{D4040B0C-B9ED-46D2-9D81-D497B3B91DA3}" destId="{FEE30AA5-757E-4947-926F-05DF8704EBF3}" srcOrd="0" destOrd="0" presId="urn:microsoft.com/office/officeart/2011/layout/RadialPictureList"/>
    <dgm:cxn modelId="{6878BB07-F54F-4FC1-B073-43BA3317EDCF}" type="presParOf" srcId="{99DDB345-EF8A-4603-AC40-B9476611FDB4}" destId="{E18E4002-8B38-4C7B-8383-F90062B4F9F7}" srcOrd="9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Coverage_Base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 by the entire test structure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89146" custLinFactNeighborX="43068" custLinFactNeighborY="-346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69391" custLinFactNeighborX="32164" custLinFactNeighborY="3067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Coverage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the input stimulus and sampled outputs from the input/</a:t>
          </a:r>
          <a:r>
            <a:rPr lang="en-US" sz="1000" dirty="0" err="1"/>
            <a:t>outputMonitor</a:t>
          </a:r>
          <a:r>
            <a:rPr lang="en-US" sz="1000" dirty="0"/>
            <a:t> and samples them through the coverage groups accordingly.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Scoreboard_Base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Defines the mailboxes &amp; Virtual Interface necessary for communication between the predictor &amp; comparator.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50811" custLinFactNeighborX="29716" custLinFactNeighborY="1491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Scoreboard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the input stimulus &amp; the outputs of the DUT from both the </a:t>
          </a:r>
          <a:r>
            <a:rPr lang="en-US" sz="1000" dirty="0" err="1"/>
            <a:t>InputMonitor</a:t>
          </a:r>
          <a:r>
            <a:rPr lang="en-US" sz="1000" dirty="0"/>
            <a:t> &amp; the </a:t>
          </a:r>
          <a:r>
            <a:rPr lang="en-US" sz="1000" dirty="0" err="1"/>
            <a:t>OutputMonitor</a:t>
          </a:r>
          <a:r>
            <a:rPr lang="en-US" sz="1000" dirty="0"/>
            <a:t>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FD81B7D8-D9DE-4A10-B001-2347DD7AC5A9}">
      <dgm:prSet phldrT="[Text]" custScaleX="247400" custScaleY="73333" custLinFactNeighborX="73457" custLinFactNeighborY="-3706"/>
      <dgm:spPr/>
    </dgm:pt>
    <dgm:pt modelId="{3ECEF1A3-F387-4E42-96ED-274655A41362}" type="parTrans" cxnId="{BAC40388-08F7-4F38-AC1D-62679B18329A}">
      <dgm:prSet/>
      <dgm:spPr/>
      <dgm:t>
        <a:bodyPr/>
        <a:lstStyle/>
        <a:p>
          <a:endParaRPr lang="en-US"/>
        </a:p>
      </dgm:t>
    </dgm:pt>
    <dgm:pt modelId="{87EDBCBE-0CD5-49EB-B819-5F81F8A76E77}" type="sibTrans" cxnId="{BAC40388-08F7-4F38-AC1D-62679B18329A}">
      <dgm:prSet/>
      <dgm:spPr/>
      <dgm:t>
        <a:bodyPr/>
        <a:lstStyle/>
        <a:p>
          <a:endParaRPr lang="en-US"/>
        </a:p>
      </dgm:t>
    </dgm:pt>
    <dgm:pt modelId="{E1EB2E52-F8F0-4990-A4BE-B0EB1D73D897}">
      <dgm:prSet phldrT="[Text]" custT="1"/>
      <dgm:spPr/>
      <dgm:t>
        <a:bodyPr/>
        <a:lstStyle/>
        <a:p>
          <a:r>
            <a:rPr lang="en-US" sz="1000" dirty="0"/>
            <a:t>Is the bridge of communication between the predictor &amp; comparator</a:t>
          </a:r>
        </a:p>
      </dgm:t>
    </dgm:pt>
    <dgm:pt modelId="{F36681BA-B855-4622-95AF-3C1C04327C9F}" type="parTrans" cxnId="{034D68A1-0B55-4FD6-83A2-8E443880800F}">
      <dgm:prSet/>
      <dgm:spPr/>
      <dgm:t>
        <a:bodyPr/>
        <a:lstStyle/>
        <a:p>
          <a:endParaRPr lang="en-US"/>
        </a:p>
      </dgm:t>
    </dgm:pt>
    <dgm:pt modelId="{FCF3B0CF-60E7-41B0-BE73-A68984FF9E67}" type="sibTrans" cxnId="{034D68A1-0B55-4FD6-83A2-8E443880800F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 custScaleX="247400" custScaleY="73333" custLinFactNeighborX="73457" custLinFactNeighborY="-3706">
        <dgm:presLayoutVars>
          <dgm:chMax val="0"/>
          <dgm:chPref val="0"/>
          <dgm:bulletEnabled val="1"/>
        </dgm:presLayoutVars>
      </dgm:prSet>
      <dgm:spPr/>
    </dgm:pt>
    <dgm:pt modelId="{C938802D-F22E-4D50-A5A5-DD0284A5F377}" type="pres">
      <dgm:prSet presAssocID="{E1EB2E52-F8F0-4990-A4BE-B0EB1D73D897}" presName="Image3" presStyleCnt="0"/>
      <dgm:spPr/>
    </dgm:pt>
    <dgm:pt modelId="{D1551EC0-5BDC-4B87-A33B-E6DE7DD35E43}" type="pres">
      <dgm:prSet presAssocID="{E1EB2E52-F8F0-4990-A4BE-B0EB1D73D897}" presName="Image" presStyleLbl="fgImgPlace1" presStyleIdx="2" presStyleCnt="3"/>
      <dgm:spPr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</dgm:pt>
    <dgm:pt modelId="{3BA0318B-346C-405E-AE06-092BC9562861}" type="pres">
      <dgm:prSet presAssocID="{E1EB2E52-F8F0-4990-A4BE-B0EB1D73D897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BAC40388-08F7-4F38-AC1D-62679B18329A}" srcId="{9B44EDE2-31CC-4C41-BC73-FB8FD33D4028}" destId="{FD81B7D8-D9DE-4A10-B001-2347DD7AC5A9}" srcOrd="1" destOrd="0" parTransId="{3ECEF1A3-F387-4E42-96ED-274655A41362}" sibTransId="{87EDBCBE-0CD5-49EB-B819-5F81F8A76E77}"/>
    <dgm:cxn modelId="{234C7EA0-33F3-4257-8D0B-757F3D0C6EE7}" type="presOf" srcId="{E1EB2E52-F8F0-4990-A4BE-B0EB1D73D897}" destId="{3BA0318B-346C-405E-AE06-092BC9562861}" srcOrd="0" destOrd="0" presId="urn:microsoft.com/office/officeart/2011/layout/RadialPictureList"/>
    <dgm:cxn modelId="{034D68A1-0B55-4FD6-83A2-8E443880800F}" srcId="{6AFA46F5-CB29-4CFA-B940-0F77E508C6FB}" destId="{E1EB2E52-F8F0-4990-A4BE-B0EB1D73D897}" srcOrd="2" destOrd="0" parTransId="{F36681BA-B855-4622-95AF-3C1C04327C9F}" sibTransId="{FCF3B0CF-60E7-41B0-BE73-A68984FF9E67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AD014E54-F357-464E-B11D-38DECA417AB4}" type="presParOf" srcId="{99DDB345-EF8A-4603-AC40-B9476611FDB4}" destId="{C938802D-F22E-4D50-A5A5-DD0284A5F377}" srcOrd="6" destOrd="0" presId="urn:microsoft.com/office/officeart/2011/layout/RadialPictureList"/>
    <dgm:cxn modelId="{C6B24240-26B5-4D49-AC94-39C4E0B74ACC}" type="presParOf" srcId="{C938802D-F22E-4D50-A5A5-DD0284A5F377}" destId="{D1551EC0-5BDC-4B87-A33B-E6DE7DD35E43}" srcOrd="0" destOrd="0" presId="urn:microsoft.com/office/officeart/2011/layout/RadialPictureList"/>
    <dgm:cxn modelId="{EEB5A992-C83D-469E-8DB7-3B785E419801}" type="presParOf" srcId="{99DDB345-EF8A-4603-AC40-B9476611FDB4}" destId="{3BA0318B-346C-405E-AE06-092BC9562861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Predictor_Base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Predictor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input items from the scoreboard/</a:t>
          </a:r>
          <a:r>
            <a:rPr lang="en-US" sz="1000" dirty="0" err="1"/>
            <a:t>inputMonitor</a:t>
          </a:r>
          <a:r>
            <a:rPr lang="en-US" sz="1000" dirty="0"/>
            <a:t> and calculates the supposed expected output and sends it to the comparator through the scoreboard.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Comparator_Base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Comparator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output items from the scoreboard/</a:t>
          </a:r>
          <a:r>
            <a:rPr lang="en-US" sz="1000" dirty="0" err="1"/>
            <a:t>outpuMonitor</a:t>
          </a:r>
          <a:r>
            <a:rPr lang="en-US" sz="1000" dirty="0"/>
            <a:t> and compares it to the previously sampled input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Transaction_Base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Rand properties of the ALU, the inputs defined as rand.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Void </a:t>
          </a:r>
          <a:r>
            <a:rPr lang="en-US" dirty="0" err="1"/>
            <a:t>Do_copy</a:t>
          </a:r>
          <a:r>
            <a:rPr lang="en-US" dirty="0"/>
            <a:t>(); functions that copies all the fields and assigns it to another item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A344FA3F-7C78-4280-9B85-F1D658E827C6}">
      <dgm:prSet phldrT="[Text]"/>
      <dgm:spPr/>
      <dgm:t>
        <a:bodyPr/>
        <a:lstStyle/>
        <a:p>
          <a:r>
            <a:rPr lang="en-US" dirty="0"/>
            <a:t>String functions for better debugging i.e. input2string, output2string, item2string</a:t>
          </a:r>
        </a:p>
      </dgm:t>
    </dgm:pt>
    <dgm:pt modelId="{6D01D7D4-CCE7-4B4D-B0A8-E59C93A98C0F}" type="parTrans" cxnId="{9607D8BB-B618-4CD4-826A-886CE287C07E}">
      <dgm:prSet/>
      <dgm:spPr/>
      <dgm:t>
        <a:bodyPr/>
        <a:lstStyle/>
        <a:p>
          <a:endParaRPr lang="en-US"/>
        </a:p>
      </dgm:t>
    </dgm:pt>
    <dgm:pt modelId="{A7858954-BEB2-4DBC-94BD-E8939468F004}" type="sibTrans" cxnId="{9607D8BB-B618-4CD4-826A-886CE287C07E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F861761A-163E-460E-B5D4-D1D8E824C0A2}" type="pres">
      <dgm:prSet presAssocID="{A344FA3F-7C78-4280-9B85-F1D658E827C6}" presName="Image3" presStyleCnt="0"/>
      <dgm:spPr/>
    </dgm:pt>
    <dgm:pt modelId="{505ABB21-91CF-43FB-B8BE-622A99AC091A}" type="pres">
      <dgm:prSet presAssocID="{A344FA3F-7C78-4280-9B85-F1D658E827C6}" presName="Image" presStyleLbl="fgImgPlace1" presStyleIdx="2" presStyleCnt="3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5261361A-2996-47AA-A1E0-91A736A9CE13}" type="pres">
      <dgm:prSet presAssocID="{A344FA3F-7C78-4280-9B85-F1D658E827C6}" presName="Child3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9607D8BB-B618-4CD4-826A-886CE287C07E}" srcId="{6AFA46F5-CB29-4CFA-B940-0F77E508C6FB}" destId="{A344FA3F-7C78-4280-9B85-F1D658E827C6}" srcOrd="2" destOrd="0" parTransId="{6D01D7D4-CCE7-4B4D-B0A8-E59C93A98C0F}" sibTransId="{A7858954-BEB2-4DBC-94BD-E8939468F004}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AF1D9ED7-D1AA-43B4-8A6E-C2B0FA3C5643}" type="presOf" srcId="{A344FA3F-7C78-4280-9B85-F1D658E827C6}" destId="{5261361A-2996-47AA-A1E0-91A736A9CE13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  <dgm:cxn modelId="{9E8EDB09-C784-4DFB-88F5-9812B737AFF3}" type="presParOf" srcId="{99DDB345-EF8A-4603-AC40-B9476611FDB4}" destId="{F861761A-163E-460E-B5D4-D1D8E824C0A2}" srcOrd="6" destOrd="0" presId="urn:microsoft.com/office/officeart/2011/layout/RadialPictureList"/>
    <dgm:cxn modelId="{F72826A2-93CB-4785-A86E-7BA68B16BEC0}" type="presParOf" srcId="{F861761A-163E-460E-B5D4-D1D8E824C0A2}" destId="{505ABB21-91CF-43FB-B8BE-622A99AC091A}" srcOrd="0" destOrd="0" presId="urn:microsoft.com/office/officeart/2011/layout/RadialPictureList"/>
    <dgm:cxn modelId="{D905D97E-3ACE-4E24-99B0-6E703723A44E}" type="presParOf" srcId="{99DDB345-EF8A-4603-AC40-B9476611FDB4}" destId="{5261361A-2996-47AA-A1E0-91A736A9CE13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/>
            <a:t>Transaction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Defining the needed constraints &amp; transaction item number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/>
            <a:t>Transactionx</a:t>
          </a:r>
          <a:endParaRPr lang="en-US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Defining different constraints &amp; transaction item number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Reset_Generator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Generates a Reset Transaction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Constructs the parent using </a:t>
          </a:r>
          <a:r>
            <a:rPr lang="en-US" dirty="0" err="1"/>
            <a:t>super.new</a:t>
          </a:r>
          <a:r>
            <a:rPr lang="en-US" dirty="0"/>
            <a:t>();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Generator_Base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Random_Error_Injection_Generator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Removes all the design spec constraints &amp; drives randomized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Generates randomized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Random_Reset_Thrice_Generator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Randomly generates randomized items &amp; 3 reset transactions every now and then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Comparator_Base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Comparator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/>
            <a:t>Receives sampled output items from the scoreboard/</a:t>
          </a:r>
          <a:r>
            <a:rPr lang="en-US" sz="1000" dirty="0" err="1"/>
            <a:t>outpuMonitor</a:t>
          </a:r>
          <a:r>
            <a:rPr lang="en-US" sz="1000" dirty="0"/>
            <a:t> and compares it to the previously sampled input items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Enviornment_Base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 by the entire test structure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/>
      <dgm:t>
        <a:bodyPr/>
        <a:lstStyle/>
        <a:p>
          <a:r>
            <a:rPr lang="en-US" dirty="0"/>
            <a:t>Environment</a:t>
          </a: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200" dirty="0"/>
            <a:t>Constructs </a:t>
          </a:r>
          <a:r>
            <a:rPr lang="en-US" sz="1000" dirty="0"/>
            <a:t>the</a:t>
          </a:r>
          <a:r>
            <a:rPr lang="en-US" sz="1200" dirty="0"/>
            <a:t> parent using </a:t>
          </a:r>
          <a:r>
            <a:rPr lang="en-US" sz="1200" dirty="0" err="1"/>
            <a:t>super.new</a:t>
          </a:r>
          <a:r>
            <a:rPr lang="en-US" sz="12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Inestsantiates</a:t>
          </a:r>
          <a:r>
            <a:rPr lang="en-US" sz="1000" dirty="0"/>
            <a:t> the entire testbench structure  that is under the test.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247400" custLinFactNeighborX="73457" custLinFactNeighborY="-3706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Reset_Test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reset_generator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72757" custLinFactNeighborX="36232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 custScaleX="153404" custLinFactNeighborX="34041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Test_Base</a:t>
          </a:r>
          <a:endParaRPr lang="en-US" dirty="0">
            <a:solidFill>
              <a:schemeClr val="bg1"/>
            </a:solidFill>
          </a:endParaRPr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/>
      <dgm:spPr/>
      <dgm:t>
        <a:bodyPr/>
        <a:lstStyle/>
        <a:p>
          <a:r>
            <a:rPr lang="en-US" dirty="0"/>
            <a:t>Defines the mailboxes &amp; Virtual Interface necessary for communication.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/>
      <dgm:spPr/>
      <dgm:t>
        <a:bodyPr/>
        <a:lstStyle/>
        <a:p>
          <a:r>
            <a:rPr lang="en-US" dirty="0"/>
            <a:t>Pre-defines pure virtual execute task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 custLinFactNeighborX="-64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 custScaleX="119593" custLinFactNeighborX="9436" custLinFactNeighborY="-2198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Random_Error_Injection_test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random_error_injection_generator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B44EDE2-31CC-4C41-BC73-FB8FD33D4028}" type="doc">
      <dgm:prSet loTypeId="urn:microsoft.com/office/officeart/2011/layout/RadialPictureList" loCatId="picture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6AFA46F5-CB29-4CFA-B940-0F77E508C6FB}">
      <dgm:prSet phldrT="[Text]" custT="1"/>
      <dgm:spPr/>
      <dgm:t>
        <a:bodyPr/>
        <a:lstStyle/>
        <a:p>
          <a:r>
            <a:rPr lang="en-US" sz="900" dirty="0" err="1"/>
            <a:t>Random_Reset_Thrice_test</a:t>
          </a:r>
          <a:endParaRPr lang="en-US" sz="900" dirty="0"/>
        </a:p>
      </dgm:t>
    </dgm:pt>
    <dgm:pt modelId="{B2505A0B-563E-4DFB-AC71-A6C7C7A669FE}" type="parTrans" cxnId="{AA6F4F67-3516-45BD-B01F-5F9D7FEF6C72}">
      <dgm:prSet/>
      <dgm:spPr/>
      <dgm:t>
        <a:bodyPr/>
        <a:lstStyle/>
        <a:p>
          <a:endParaRPr lang="en-US"/>
        </a:p>
      </dgm:t>
    </dgm:pt>
    <dgm:pt modelId="{4BCD6384-EB08-450F-8F22-1A27528F5E0C}" type="sibTrans" cxnId="{AA6F4F67-3516-45BD-B01F-5F9D7FEF6C72}">
      <dgm:prSet/>
      <dgm:spPr/>
      <dgm:t>
        <a:bodyPr/>
        <a:lstStyle/>
        <a:p>
          <a:endParaRPr lang="en-US"/>
        </a:p>
      </dgm:t>
    </dgm:pt>
    <dgm:pt modelId="{D1AF3FD0-02D9-45FA-8366-F92E34ADC12A}">
      <dgm:prSet phldrT="[Text]" custT="1"/>
      <dgm:spPr/>
      <dgm:t>
        <a:bodyPr/>
        <a:lstStyle/>
        <a:p>
          <a:r>
            <a:rPr lang="en-US" sz="1000" dirty="0"/>
            <a:t>Constructs the parent using </a:t>
          </a:r>
          <a:r>
            <a:rPr lang="en-US" sz="1000" dirty="0" err="1"/>
            <a:t>super.new</a:t>
          </a:r>
          <a:r>
            <a:rPr lang="en-US" sz="1000" dirty="0"/>
            <a:t>();</a:t>
          </a:r>
        </a:p>
      </dgm:t>
    </dgm:pt>
    <dgm:pt modelId="{B050AF31-8648-49D6-B72B-0E3F10AB53C3}" type="parTrans" cxnId="{31B57FC1-D34A-4E0B-A0DC-CDD6BCB97A75}">
      <dgm:prSet/>
      <dgm:spPr/>
      <dgm:t>
        <a:bodyPr/>
        <a:lstStyle/>
        <a:p>
          <a:endParaRPr lang="en-US"/>
        </a:p>
      </dgm:t>
    </dgm:pt>
    <dgm:pt modelId="{6BB4FDEE-D541-496A-9941-2A5B55CD6D9C}" type="sibTrans" cxnId="{31B57FC1-D34A-4E0B-A0DC-CDD6BCB97A75}">
      <dgm:prSet/>
      <dgm:spPr/>
      <dgm:t>
        <a:bodyPr/>
        <a:lstStyle/>
        <a:p>
          <a:endParaRPr lang="en-US"/>
        </a:p>
      </dgm:t>
    </dgm:pt>
    <dgm:pt modelId="{E91FFD83-9DEB-47F1-84EA-2DF0042B02D4}">
      <dgm:prSet phldrT="[Text]" custT="1"/>
      <dgm:spPr/>
      <dgm:t>
        <a:bodyPr/>
        <a:lstStyle/>
        <a:p>
          <a:r>
            <a:rPr lang="en-US" sz="1000" dirty="0" err="1"/>
            <a:t>Inestantiates</a:t>
          </a:r>
          <a:r>
            <a:rPr lang="en-US" sz="1000" dirty="0"/>
            <a:t> the </a:t>
          </a:r>
          <a:r>
            <a:rPr lang="en-US" sz="1000" dirty="0" err="1"/>
            <a:t>random_reset_thrice_generator</a:t>
          </a:r>
          <a:r>
            <a:rPr lang="en-US" sz="1000" dirty="0"/>
            <a:t> and runs the item generated by it</a:t>
          </a:r>
        </a:p>
      </dgm:t>
    </dgm:pt>
    <dgm:pt modelId="{2E08AF64-9D3F-4620-BFD8-D377C45EB5BB}" type="parTrans" cxnId="{BBC5770B-8262-44E6-82C1-AF51EE83A25B}">
      <dgm:prSet/>
      <dgm:spPr/>
      <dgm:t>
        <a:bodyPr/>
        <a:lstStyle/>
        <a:p>
          <a:endParaRPr lang="en-US"/>
        </a:p>
      </dgm:t>
    </dgm:pt>
    <dgm:pt modelId="{20F5CBF1-8D49-492A-8A9E-F3B73D5F079E}" type="sibTrans" cxnId="{BBC5770B-8262-44E6-82C1-AF51EE83A25B}">
      <dgm:prSet/>
      <dgm:spPr/>
      <dgm:t>
        <a:bodyPr/>
        <a:lstStyle/>
        <a:p>
          <a:endParaRPr lang="en-US"/>
        </a:p>
      </dgm:t>
    </dgm:pt>
    <dgm:pt modelId="{99DDB345-EF8A-4603-AC40-B9476611FDB4}" type="pres">
      <dgm:prSet presAssocID="{9B44EDE2-31CC-4C41-BC73-FB8FD33D4028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CBF2FDDB-0EF2-473A-B315-4E23EFA6B1FE}" type="pres">
      <dgm:prSet presAssocID="{6AFA46F5-CB29-4CFA-B940-0F77E508C6FB}" presName="Parent" presStyleLbl="node1" presStyleIdx="0" presStyleCnt="2">
        <dgm:presLayoutVars>
          <dgm:chMax val="4"/>
          <dgm:chPref val="3"/>
        </dgm:presLayoutVars>
      </dgm:prSet>
      <dgm:spPr/>
    </dgm:pt>
    <dgm:pt modelId="{67E10470-8429-4313-A979-E4661E041BF7}" type="pres">
      <dgm:prSet presAssocID="{D1AF3FD0-02D9-45FA-8366-F92E34ADC12A}" presName="Accent" presStyleLbl="node1" presStyleIdx="1" presStyleCnt="2"/>
      <dgm:spPr/>
    </dgm:pt>
    <dgm:pt modelId="{5B71E0BB-45D4-4BB7-9365-3AA9F9B7DC17}" type="pres">
      <dgm:prSet presAssocID="{D1AF3FD0-02D9-45FA-8366-F92E34ADC12A}" presName="Image1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C68D2479-6E95-440E-8A9F-972CE19F650D}" type="pres">
      <dgm:prSet presAssocID="{D1AF3FD0-02D9-45FA-8366-F92E34ADC12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971A39BA-7699-400D-9DD2-394EAA42EFD5}" type="pres">
      <dgm:prSet presAssocID="{E91FFD83-9DEB-47F1-84EA-2DF0042B02D4}" presName="Image2" presStyleCnt="0"/>
      <dgm:spPr/>
    </dgm:pt>
    <dgm:pt modelId="{1E8D6046-8D12-4E78-8B15-F5764271BE66}" type="pres">
      <dgm:prSet presAssocID="{E91FFD83-9DEB-47F1-84EA-2DF0042B02D4}" presName="Image" presStyleLbl="fgImgPlac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 with solid fill"/>
        </a:ext>
      </dgm:extLst>
    </dgm:pt>
    <dgm:pt modelId="{E9B78207-DD0E-4E80-A663-3FB1056EFA05}" type="pres">
      <dgm:prSet presAssocID="{E91FFD83-9DEB-47F1-84EA-2DF0042B02D4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BBC5770B-8262-44E6-82C1-AF51EE83A25B}" srcId="{6AFA46F5-CB29-4CFA-B940-0F77E508C6FB}" destId="{E91FFD83-9DEB-47F1-84EA-2DF0042B02D4}" srcOrd="1" destOrd="0" parTransId="{2E08AF64-9D3F-4620-BFD8-D377C45EB5BB}" sibTransId="{20F5CBF1-8D49-492A-8A9E-F3B73D5F079E}"/>
    <dgm:cxn modelId="{3AA5F92C-AFF8-481C-8EE4-FD80625AA281}" type="presOf" srcId="{E91FFD83-9DEB-47F1-84EA-2DF0042B02D4}" destId="{E9B78207-DD0E-4E80-A663-3FB1056EFA05}" srcOrd="0" destOrd="0" presId="urn:microsoft.com/office/officeart/2011/layout/RadialPictureList"/>
    <dgm:cxn modelId="{F6EF063A-885D-474B-BCD3-0B579976369D}" type="presOf" srcId="{6AFA46F5-CB29-4CFA-B940-0F77E508C6FB}" destId="{CBF2FDDB-0EF2-473A-B315-4E23EFA6B1FE}" srcOrd="0" destOrd="0" presId="urn:microsoft.com/office/officeart/2011/layout/RadialPictureList"/>
    <dgm:cxn modelId="{AA6F4F67-3516-45BD-B01F-5F9D7FEF6C72}" srcId="{9B44EDE2-31CC-4C41-BC73-FB8FD33D4028}" destId="{6AFA46F5-CB29-4CFA-B940-0F77E508C6FB}" srcOrd="0" destOrd="0" parTransId="{B2505A0B-563E-4DFB-AC71-A6C7C7A669FE}" sibTransId="{4BCD6384-EB08-450F-8F22-1A27528F5E0C}"/>
    <dgm:cxn modelId="{B6690D54-E927-4ACC-88F3-EE2D4B3692E7}" type="presOf" srcId="{D1AF3FD0-02D9-45FA-8366-F92E34ADC12A}" destId="{C68D2479-6E95-440E-8A9F-972CE19F650D}" srcOrd="0" destOrd="0" presId="urn:microsoft.com/office/officeart/2011/layout/RadialPictureList"/>
    <dgm:cxn modelId="{31B57FC1-D34A-4E0B-A0DC-CDD6BCB97A75}" srcId="{6AFA46F5-CB29-4CFA-B940-0F77E508C6FB}" destId="{D1AF3FD0-02D9-45FA-8366-F92E34ADC12A}" srcOrd="0" destOrd="0" parTransId="{B050AF31-8648-49D6-B72B-0E3F10AB53C3}" sibTransId="{6BB4FDEE-D541-496A-9941-2A5B55CD6D9C}"/>
    <dgm:cxn modelId="{412EFBD3-124F-43DF-BC7B-E48C8409551F}" type="presOf" srcId="{9B44EDE2-31CC-4C41-BC73-FB8FD33D4028}" destId="{99DDB345-EF8A-4603-AC40-B9476611FDB4}" srcOrd="0" destOrd="0" presId="urn:microsoft.com/office/officeart/2011/layout/RadialPictureList"/>
    <dgm:cxn modelId="{71C0552F-AC30-4C0A-9A9C-A9446B27ACA9}" type="presParOf" srcId="{99DDB345-EF8A-4603-AC40-B9476611FDB4}" destId="{CBF2FDDB-0EF2-473A-B315-4E23EFA6B1FE}" srcOrd="0" destOrd="0" presId="urn:microsoft.com/office/officeart/2011/layout/RadialPictureList"/>
    <dgm:cxn modelId="{DACCB39A-48CB-40AD-8879-F12EB634E271}" type="presParOf" srcId="{99DDB345-EF8A-4603-AC40-B9476611FDB4}" destId="{67E10470-8429-4313-A979-E4661E041BF7}" srcOrd="1" destOrd="0" presId="urn:microsoft.com/office/officeart/2011/layout/RadialPictureList"/>
    <dgm:cxn modelId="{74CC92FA-8014-45E2-AE6F-462926EC5782}" type="presParOf" srcId="{99DDB345-EF8A-4603-AC40-B9476611FDB4}" destId="{5B71E0BB-45D4-4BB7-9365-3AA9F9B7DC17}" srcOrd="2" destOrd="0" presId="urn:microsoft.com/office/officeart/2011/layout/RadialPictureList"/>
    <dgm:cxn modelId="{31B506C5-B745-4883-8696-3911B59728CA}" type="presParOf" srcId="{99DDB345-EF8A-4603-AC40-B9476611FDB4}" destId="{C68D2479-6E95-440E-8A9F-972CE19F650D}" srcOrd="3" destOrd="0" presId="urn:microsoft.com/office/officeart/2011/layout/RadialPictureList"/>
    <dgm:cxn modelId="{AB44617E-29F7-49E2-BD7F-D66D2780E6FA}" type="presParOf" srcId="{99DDB345-EF8A-4603-AC40-B9476611FDB4}" destId="{971A39BA-7699-400D-9DD2-394EAA42EFD5}" srcOrd="4" destOrd="0" presId="urn:microsoft.com/office/officeart/2011/layout/RadialPictureList"/>
    <dgm:cxn modelId="{AE473BF6-ACB4-422D-AA89-1BDBCED6A584}" type="presParOf" srcId="{971A39BA-7699-400D-9DD2-394EAA42EFD5}" destId="{1E8D6046-8D12-4E78-8B15-F5764271BE66}" srcOrd="0" destOrd="0" presId="urn:microsoft.com/office/officeart/2011/layout/RadialPictureList"/>
    <dgm:cxn modelId="{32BDAE73-ADE2-4EA1-8AB8-1C940F20BA2C}" type="presParOf" srcId="{99DDB345-EF8A-4603-AC40-B9476611FDB4}" destId="{E9B78207-DD0E-4E80-A663-3FB1056EFA05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8781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solidFill>
                <a:schemeClr val="bg1"/>
              </a:solidFill>
            </a:rPr>
            <a:t>Driver_Base</a:t>
          </a:r>
          <a:endParaRPr lang="en-US" sz="1400" kern="1200" dirty="0">
            <a:solidFill>
              <a:schemeClr val="bg1"/>
            </a:solidFill>
          </a:endParaRPr>
        </a:p>
      </dsp:txBody>
      <dsp:txXfrm>
        <a:off x="289219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6815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20814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072408" y="474489"/>
          <a:ext cx="237864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5072408" y="474489"/>
        <a:ext cx="2378644" cy="723758"/>
      </dsp:txXfrm>
    </dsp:sp>
    <dsp:sp modelId="{1E8D6046-8D12-4E78-8B15-F5764271BE66}">
      <dsp:nvSpPr>
        <dsp:cNvPr id="0" name=""/>
        <dsp:cNvSpPr/>
      </dsp:nvSpPr>
      <dsp:spPr>
        <a:xfrm>
          <a:off x="420814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054915" y="1658955"/>
          <a:ext cx="1517259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task.</a:t>
          </a:r>
        </a:p>
      </dsp:txBody>
      <dsp:txXfrm>
        <a:off x="5054915" y="1658955"/>
        <a:ext cx="1517259" cy="723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566921" y="775958"/>
          <a:ext cx="1395541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Driver</a:t>
          </a:r>
        </a:p>
      </dsp:txBody>
      <dsp:txXfrm>
        <a:off x="2771293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847260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918682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732076" y="259239"/>
          <a:ext cx="2112740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732076" y="259239"/>
        <a:ext cx="2112740" cy="723758"/>
      </dsp:txXfrm>
    </dsp:sp>
    <dsp:sp modelId="{1E8D6046-8D12-4E78-8B15-F5764271BE66}">
      <dsp:nvSpPr>
        <dsp:cNvPr id="0" name=""/>
        <dsp:cNvSpPr/>
      </dsp:nvSpPr>
      <dsp:spPr>
        <a:xfrm>
          <a:off x="4207631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013671" y="1081689"/>
          <a:ext cx="2475699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Translates the transaction level items to pin level ones.</a:t>
          </a:r>
        </a:p>
      </dsp:txBody>
      <dsp:txXfrm>
        <a:off x="5013671" y="1081689"/>
        <a:ext cx="2475699" cy="723758"/>
      </dsp:txXfrm>
    </dsp:sp>
    <dsp:sp modelId="{D6F6FC17-20B3-46E6-82FF-46C37F4B4423}">
      <dsp:nvSpPr>
        <dsp:cNvPr id="0" name=""/>
        <dsp:cNvSpPr/>
      </dsp:nvSpPr>
      <dsp:spPr>
        <a:xfrm>
          <a:off x="3918682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2DE6D73-3DC4-479B-B104-D4D5B94D7688}">
      <dsp:nvSpPr>
        <dsp:cNvPr id="0" name=""/>
        <dsp:cNvSpPr/>
      </dsp:nvSpPr>
      <dsp:spPr>
        <a:xfrm>
          <a:off x="4777857" y="1975966"/>
          <a:ext cx="3209113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stimulus to the DUT.</a:t>
          </a:r>
        </a:p>
      </dsp:txBody>
      <dsp:txXfrm>
        <a:off x="4777857" y="1975966"/>
        <a:ext cx="3209113" cy="7237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8781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>
              <a:solidFill>
                <a:schemeClr val="bg1"/>
              </a:solidFill>
            </a:rPr>
            <a:t>outputMonitor_Base</a:t>
          </a:r>
          <a:endParaRPr lang="en-US" sz="800" kern="1200" dirty="0">
            <a:solidFill>
              <a:schemeClr val="bg1"/>
            </a:solidFill>
          </a:endParaRPr>
        </a:p>
      </dsp:txBody>
      <dsp:txXfrm>
        <a:off x="289219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6815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20814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072408" y="474489"/>
          <a:ext cx="237864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5072408" y="474489"/>
        <a:ext cx="2378644" cy="723758"/>
      </dsp:txXfrm>
    </dsp:sp>
    <dsp:sp modelId="{1E8D6046-8D12-4E78-8B15-F5764271BE66}">
      <dsp:nvSpPr>
        <dsp:cNvPr id="0" name=""/>
        <dsp:cNvSpPr/>
      </dsp:nvSpPr>
      <dsp:spPr>
        <a:xfrm>
          <a:off x="420814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054915" y="1658955"/>
          <a:ext cx="1517259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task.</a:t>
          </a:r>
        </a:p>
      </dsp:txBody>
      <dsp:txXfrm>
        <a:off x="5054915" y="1658955"/>
        <a:ext cx="1517259" cy="723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06924" y="819653"/>
          <a:ext cx="1283701" cy="1283586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outputMonitor</a:t>
          </a:r>
          <a:endParaRPr lang="en-US" sz="1100" kern="1200" dirty="0"/>
        </a:p>
      </dsp:txBody>
      <dsp:txXfrm>
        <a:off x="2794918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945098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6898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295483" y="8797"/>
          <a:ext cx="1943974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295483" y="8797"/>
        <a:ext cx="1943974" cy="665693"/>
      </dsp:txXfrm>
    </dsp:sp>
    <dsp:sp modelId="{1E8D6046-8D12-4E78-8B15-F5764271BE66}">
      <dsp:nvSpPr>
        <dsp:cNvPr id="0" name=""/>
        <dsp:cNvSpPr/>
      </dsp:nvSpPr>
      <dsp:spPr>
        <a:xfrm>
          <a:off x="4081845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791049" y="627826"/>
          <a:ext cx="227794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Samples the DUT outputs.</a:t>
          </a:r>
        </a:p>
      </dsp:txBody>
      <dsp:txXfrm>
        <a:off x="4791049" y="627826"/>
        <a:ext cx="2277940" cy="665693"/>
      </dsp:txXfrm>
    </dsp:sp>
    <dsp:sp modelId="{D6F6FC17-20B3-46E6-82FF-46C37F4B4423}">
      <dsp:nvSpPr>
        <dsp:cNvPr id="0" name=""/>
        <dsp:cNvSpPr/>
      </dsp:nvSpPr>
      <dsp:spPr>
        <a:xfrm>
          <a:off x="4052313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2DE6D73-3DC4-479B-B104-D4D5B94D7688}">
      <dsp:nvSpPr>
        <dsp:cNvPr id="0" name=""/>
        <dsp:cNvSpPr/>
      </dsp:nvSpPr>
      <dsp:spPr>
        <a:xfrm>
          <a:off x="4843776" y="1593265"/>
          <a:ext cx="295276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Translates the sampled outputs from pin level to transaction  level.</a:t>
          </a:r>
        </a:p>
      </dsp:txBody>
      <dsp:txXfrm>
        <a:off x="4843776" y="1593265"/>
        <a:ext cx="2952769" cy="665693"/>
      </dsp:txXfrm>
    </dsp:sp>
    <dsp:sp modelId="{FEE30AA5-757E-4947-926F-05DF8704EBF3}">
      <dsp:nvSpPr>
        <dsp:cNvPr id="0" name=""/>
        <dsp:cNvSpPr/>
      </dsp:nvSpPr>
      <dsp:spPr>
        <a:xfrm>
          <a:off x="3546898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18E4002-8B38-4C7B-8383-F90062B4F9F7}">
      <dsp:nvSpPr>
        <dsp:cNvPr id="0" name=""/>
        <dsp:cNvSpPr/>
      </dsp:nvSpPr>
      <dsp:spPr>
        <a:xfrm>
          <a:off x="4340273" y="2258959"/>
          <a:ext cx="2930091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sampled transaction level item to the Scoreboard/Comparator.</a:t>
          </a:r>
        </a:p>
      </dsp:txBody>
      <dsp:txXfrm>
        <a:off x="4340273" y="2258959"/>
        <a:ext cx="2930091" cy="6656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inputMonitor_Base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06924" y="819653"/>
          <a:ext cx="1283701" cy="1283586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inputMonitor</a:t>
          </a:r>
          <a:endParaRPr lang="en-US" sz="1200" kern="1200" dirty="0"/>
        </a:p>
      </dsp:txBody>
      <dsp:txXfrm>
        <a:off x="2794918" y="1007630"/>
        <a:ext cx="907713" cy="907632"/>
      </dsp:txXfrm>
    </dsp:sp>
    <dsp:sp modelId="{67E10470-8429-4313-A979-E4661E041BF7}">
      <dsp:nvSpPr>
        <dsp:cNvPr id="0" name=""/>
        <dsp:cNvSpPr/>
      </dsp:nvSpPr>
      <dsp:spPr>
        <a:xfrm>
          <a:off x="1945098" y="105865"/>
          <a:ext cx="2587377" cy="2697085"/>
        </a:xfrm>
        <a:prstGeom prst="blockArc">
          <a:avLst>
            <a:gd name="adj1" fmla="val 16509444"/>
            <a:gd name="adj2" fmla="val 5088054"/>
            <a:gd name="adj3" fmla="val 524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6898" y="0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295483" y="8797"/>
          <a:ext cx="1943974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295483" y="8797"/>
        <a:ext cx="1943974" cy="665693"/>
      </dsp:txXfrm>
    </dsp:sp>
    <dsp:sp modelId="{1E8D6046-8D12-4E78-8B15-F5764271BE66}">
      <dsp:nvSpPr>
        <dsp:cNvPr id="0" name=""/>
        <dsp:cNvSpPr/>
      </dsp:nvSpPr>
      <dsp:spPr>
        <a:xfrm>
          <a:off x="4054951" y="640473"/>
          <a:ext cx="687831" cy="68768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791049" y="627826"/>
          <a:ext cx="2277940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sampled inputs</a:t>
          </a:r>
        </a:p>
      </dsp:txBody>
      <dsp:txXfrm>
        <a:off x="4791049" y="627826"/>
        <a:ext cx="2277940" cy="665693"/>
      </dsp:txXfrm>
    </dsp:sp>
    <dsp:sp modelId="{D6F6FC17-20B3-46E6-82FF-46C37F4B4423}">
      <dsp:nvSpPr>
        <dsp:cNvPr id="0" name=""/>
        <dsp:cNvSpPr/>
      </dsp:nvSpPr>
      <dsp:spPr>
        <a:xfrm>
          <a:off x="4052313" y="1582122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2DE6D73-3DC4-479B-B104-D4D5B94D7688}">
      <dsp:nvSpPr>
        <dsp:cNvPr id="0" name=""/>
        <dsp:cNvSpPr/>
      </dsp:nvSpPr>
      <dsp:spPr>
        <a:xfrm>
          <a:off x="4843776" y="1593265"/>
          <a:ext cx="2952769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Translates the sampled inputs from pin level to transaction  level</a:t>
          </a:r>
        </a:p>
      </dsp:txBody>
      <dsp:txXfrm>
        <a:off x="4843776" y="1593265"/>
        <a:ext cx="2952769" cy="665693"/>
      </dsp:txXfrm>
    </dsp:sp>
    <dsp:sp modelId="{FEE30AA5-757E-4947-926F-05DF8704EBF3}">
      <dsp:nvSpPr>
        <dsp:cNvPr id="0" name=""/>
        <dsp:cNvSpPr/>
      </dsp:nvSpPr>
      <dsp:spPr>
        <a:xfrm>
          <a:off x="3546898" y="2244883"/>
          <a:ext cx="687831" cy="687687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18E4002-8B38-4C7B-8383-F90062B4F9F7}">
      <dsp:nvSpPr>
        <dsp:cNvPr id="0" name=""/>
        <dsp:cNvSpPr/>
      </dsp:nvSpPr>
      <dsp:spPr>
        <a:xfrm>
          <a:off x="4340273" y="2258959"/>
          <a:ext cx="2930091" cy="665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Sends the sampled transaction level item to the Scoreboard/Predictor</a:t>
          </a:r>
        </a:p>
      </dsp:txBody>
      <dsp:txXfrm>
        <a:off x="4340273" y="2258959"/>
        <a:ext cx="2930091" cy="6656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809269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chemeClr val="bg1"/>
              </a:solidFill>
            </a:rPr>
            <a:t>Coverage_Base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01364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08960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32959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123700" y="449426"/>
          <a:ext cx="1892832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 by the entire test structure</a:t>
          </a:r>
        </a:p>
      </dsp:txBody>
      <dsp:txXfrm>
        <a:off x="5123700" y="449426"/>
        <a:ext cx="1892832" cy="723758"/>
      </dsp:txXfrm>
    </dsp:sp>
    <dsp:sp modelId="{1E8D6046-8D12-4E78-8B15-F5764271BE66}">
      <dsp:nvSpPr>
        <dsp:cNvPr id="0" name=""/>
        <dsp:cNvSpPr/>
      </dsp:nvSpPr>
      <dsp:spPr>
        <a:xfrm>
          <a:off x="432959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113427" y="1681153"/>
          <a:ext cx="1695138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113427" y="1681153"/>
        <a:ext cx="1695138" cy="72375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Coverage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the input stimulus and sampled outputs from the input/</a:t>
          </a:r>
          <a:r>
            <a:rPr lang="en-US" sz="1000" kern="1200" dirty="0" err="1"/>
            <a:t>outputMonitor</a:t>
          </a:r>
          <a:r>
            <a:rPr lang="en-US" sz="1000" kern="1200" dirty="0"/>
            <a:t> and samples them through the coverage groups accordingly.</a:t>
          </a:r>
        </a:p>
      </dsp:txBody>
      <dsp:txXfrm>
        <a:off x="4990588" y="1632132"/>
        <a:ext cx="2475794" cy="7237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90517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Scoreboard_Base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10955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18551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42550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277804" y="485281"/>
          <a:ext cx="150920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 between the predictor &amp; comparator.</a:t>
          </a:r>
        </a:p>
      </dsp:txBody>
      <dsp:txXfrm>
        <a:off x="5277804" y="485281"/>
        <a:ext cx="1509204" cy="723758"/>
      </dsp:txXfrm>
    </dsp:sp>
    <dsp:sp modelId="{1E8D6046-8D12-4E78-8B15-F5764271BE66}">
      <dsp:nvSpPr>
        <dsp:cNvPr id="0" name=""/>
        <dsp:cNvSpPr/>
      </dsp:nvSpPr>
      <dsp:spPr>
        <a:xfrm>
          <a:off x="442550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23466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234668" y="1658955"/>
        <a:ext cx="1000725" cy="7237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03715" y="775958"/>
          <a:ext cx="1395541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Scoreboard</a:t>
          </a:r>
        </a:p>
      </dsp:txBody>
      <dsp:txXfrm>
        <a:off x="2808087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884055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955477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759779" y="259239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759779" y="259239"/>
        <a:ext cx="1000687" cy="723758"/>
      </dsp:txXfrm>
    </dsp:sp>
    <dsp:sp modelId="{1E8D6046-8D12-4E78-8B15-F5764271BE66}">
      <dsp:nvSpPr>
        <dsp:cNvPr id="0" name=""/>
        <dsp:cNvSpPr/>
      </dsp:nvSpPr>
      <dsp:spPr>
        <a:xfrm>
          <a:off x="4244425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050465" y="1178191"/>
          <a:ext cx="2475699" cy="5307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the input stimulus &amp; the outputs of the DUT from both the </a:t>
          </a:r>
          <a:r>
            <a:rPr lang="en-US" sz="1000" kern="1200" dirty="0" err="1"/>
            <a:t>InputMonitor</a:t>
          </a:r>
          <a:r>
            <a:rPr lang="en-US" sz="1000" kern="1200" dirty="0"/>
            <a:t> &amp; the </a:t>
          </a:r>
          <a:r>
            <a:rPr lang="en-US" sz="1000" kern="1200" dirty="0" err="1"/>
            <a:t>OutputMonitor</a:t>
          </a:r>
          <a:r>
            <a:rPr lang="en-US" sz="1000" kern="1200" dirty="0"/>
            <a:t>.</a:t>
          </a:r>
        </a:p>
      </dsp:txBody>
      <dsp:txXfrm>
        <a:off x="5050465" y="1178191"/>
        <a:ext cx="2475699" cy="530753"/>
      </dsp:txXfrm>
    </dsp:sp>
    <dsp:sp modelId="{D1551EC0-5BDC-4B87-A33B-E6DE7DD35E43}">
      <dsp:nvSpPr>
        <dsp:cNvPr id="0" name=""/>
        <dsp:cNvSpPr/>
      </dsp:nvSpPr>
      <dsp:spPr>
        <a:xfrm>
          <a:off x="3955477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BA0318B-346C-405E-AE06-092BC9562861}">
      <dsp:nvSpPr>
        <dsp:cNvPr id="0" name=""/>
        <dsp:cNvSpPr/>
      </dsp:nvSpPr>
      <dsp:spPr>
        <a:xfrm>
          <a:off x="4759779" y="1975966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Is the bridge of communication between the predictor &amp; comparator</a:t>
          </a:r>
        </a:p>
      </dsp:txBody>
      <dsp:txXfrm>
        <a:off x="4759779" y="1975966"/>
        <a:ext cx="1000687" cy="7237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>
              <a:solidFill>
                <a:schemeClr val="bg1"/>
              </a:solidFill>
            </a:rPr>
            <a:t>Predictor_Base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Predictor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input items from the scoreboard/</a:t>
          </a:r>
          <a:r>
            <a:rPr lang="en-US" sz="1000" kern="1200" dirty="0" err="1"/>
            <a:t>inputMonitor</a:t>
          </a:r>
          <a:r>
            <a:rPr lang="en-US" sz="1000" kern="1200" dirty="0"/>
            <a:t> and calculates the supposed expected output and sends it to the comparator through the scoreboard.</a:t>
          </a:r>
        </a:p>
      </dsp:txBody>
      <dsp:txXfrm>
        <a:off x="4990588" y="1632132"/>
        <a:ext cx="2475794" cy="723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Comparator_Base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Comparator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output items from the scoreboard/</a:t>
          </a:r>
          <a:r>
            <a:rPr lang="en-US" sz="1000" kern="1200" dirty="0" err="1"/>
            <a:t>outpuMonitor</a:t>
          </a:r>
          <a:r>
            <a:rPr lang="en-US" sz="1000" kern="1200" dirty="0"/>
            <a:t> and compares it to the previously sampled input items</a:t>
          </a:r>
        </a:p>
      </dsp:txBody>
      <dsp:txXfrm>
        <a:off x="4990588" y="1632132"/>
        <a:ext cx="2475794" cy="72375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967890" y="775958"/>
          <a:ext cx="1395541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Transaction_Base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2172262" y="980340"/>
        <a:ext cx="986797" cy="986846"/>
      </dsp:txXfrm>
    </dsp:sp>
    <dsp:sp modelId="{67E10470-8429-4313-A979-E4661E041BF7}">
      <dsp:nvSpPr>
        <dsp:cNvPr id="0" name=""/>
        <dsp:cNvSpPr/>
      </dsp:nvSpPr>
      <dsp:spPr>
        <a:xfrm>
          <a:off x="1248229" y="0"/>
          <a:ext cx="2813181" cy="293257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319651" y="247215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123953" y="259239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Rand properties of the ALU, the inputs defined as rand.</a:t>
          </a:r>
        </a:p>
      </dsp:txBody>
      <dsp:txXfrm>
        <a:off x="4123953" y="259239"/>
        <a:ext cx="1000687" cy="723758"/>
      </dsp:txXfrm>
    </dsp:sp>
    <dsp:sp modelId="{1E8D6046-8D12-4E78-8B15-F5764271BE66}">
      <dsp:nvSpPr>
        <dsp:cNvPr id="0" name=""/>
        <dsp:cNvSpPr/>
      </dsp:nvSpPr>
      <dsp:spPr>
        <a:xfrm>
          <a:off x="3608599" y="1097954"/>
          <a:ext cx="747596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417071" y="1108511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Void </a:t>
          </a:r>
          <a:r>
            <a:rPr lang="en-US" sz="900" kern="1200" dirty="0" err="1"/>
            <a:t>Do_copy</a:t>
          </a:r>
          <a:r>
            <a:rPr lang="en-US" sz="900" kern="1200" dirty="0"/>
            <a:t>(); functions that copies all the fields and assigns it to another item</a:t>
          </a:r>
        </a:p>
      </dsp:txBody>
      <dsp:txXfrm>
        <a:off x="4417071" y="1108511"/>
        <a:ext cx="1000687" cy="723758"/>
      </dsp:txXfrm>
    </dsp:sp>
    <dsp:sp modelId="{505ABB21-91CF-43FB-B8BE-622A99AC091A}">
      <dsp:nvSpPr>
        <dsp:cNvPr id="0" name=""/>
        <dsp:cNvSpPr/>
      </dsp:nvSpPr>
      <dsp:spPr>
        <a:xfrm>
          <a:off x="3319651" y="1960716"/>
          <a:ext cx="747596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1361A-2996-47AA-A1E0-91A736A9CE13}">
      <dsp:nvSpPr>
        <dsp:cNvPr id="0" name=""/>
        <dsp:cNvSpPr/>
      </dsp:nvSpPr>
      <dsp:spPr>
        <a:xfrm>
          <a:off x="4123953" y="1975966"/>
          <a:ext cx="100068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String functions for better debugging i.e. input2string, output2string, item2string</a:t>
          </a:r>
        </a:p>
      </dsp:txBody>
      <dsp:txXfrm>
        <a:off x="4123953" y="1975966"/>
        <a:ext cx="1000687" cy="7237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027717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Transaction</a:t>
          </a:r>
          <a:endParaRPr lang="en-US" sz="1400" kern="1200" dirty="0"/>
        </a:p>
      </dsp:txBody>
      <dsp:txXfrm>
        <a:off x="2232096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30805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804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357208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357208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354804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35720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Defining the needed constraints &amp; transaction item number</a:t>
          </a:r>
        </a:p>
      </dsp:txBody>
      <dsp:txXfrm>
        <a:off x="4357208" y="1658955"/>
        <a:ext cx="1000725" cy="72375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027717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Transactionx</a:t>
          </a:r>
          <a:endParaRPr lang="en-US" sz="1300" kern="1200" dirty="0"/>
        </a:p>
      </dsp:txBody>
      <dsp:txXfrm>
        <a:off x="2232096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308053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3548042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357208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4357208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3548042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357208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Defining different constraints &amp; transaction item number</a:t>
          </a:r>
        </a:p>
      </dsp:txBody>
      <dsp:txXfrm>
        <a:off x="4357208" y="1658955"/>
        <a:ext cx="1000725" cy="72375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bg1"/>
              </a:solidFill>
            </a:rPr>
            <a:t>Reset_Generator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Generates a Reset Transaction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478474" y="1658955"/>
        <a:ext cx="1000725" cy="72375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bg1"/>
              </a:solidFill>
            </a:rPr>
            <a:t>Generator_Base</a:t>
          </a:r>
          <a:endParaRPr lang="en-US" sz="10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3478474" y="1658955"/>
        <a:ext cx="1000725" cy="72375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87450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Random_Error_Injection_Generator</a:t>
          </a:r>
          <a:endParaRPr lang="en-US" sz="900" kern="1200" dirty="0"/>
        </a:p>
      </dsp:txBody>
      <dsp:txXfrm>
        <a:off x="991829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6778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307775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116941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116941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2307775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116941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Removes all the design spec constraints &amp; drives randomized items</a:t>
          </a:r>
        </a:p>
      </dsp:txBody>
      <dsp:txXfrm>
        <a:off x="3116941" y="1658955"/>
        <a:ext cx="1000725" cy="72375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Random_Generator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Generates randomized items</a:t>
          </a:r>
        </a:p>
      </dsp:txBody>
      <dsp:txXfrm>
        <a:off x="3048529" y="1701285"/>
        <a:ext cx="1000520" cy="72361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Random_Reset_Thrice_Generator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Randomly generates randomized items &amp; 3 reset transactions every now and then</a:t>
          </a:r>
        </a:p>
      </dsp:txBody>
      <dsp:txXfrm>
        <a:off x="3048529" y="1701285"/>
        <a:ext cx="1000520" cy="72361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Comparator_Base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Defines the mailboxes &amp; Virtual Interface necessary for communication.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Comparator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Receives sampled output items from the scoreboard/</a:t>
          </a:r>
          <a:r>
            <a:rPr lang="en-US" sz="1000" kern="1200" dirty="0" err="1"/>
            <a:t>outpuMonitor</a:t>
          </a:r>
          <a:r>
            <a:rPr lang="en-US" sz="1000" kern="1200" dirty="0"/>
            <a:t> and compares it to the previously sampled input items</a:t>
          </a:r>
        </a:p>
      </dsp:txBody>
      <dsp:txXfrm>
        <a:off x="4990588" y="1632132"/>
        <a:ext cx="2475794" cy="72375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3032296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>
              <a:solidFill>
                <a:schemeClr val="bg1"/>
              </a:solidFill>
            </a:rPr>
            <a:t>Enviornment_Base</a:t>
          </a:r>
          <a:endParaRPr lang="en-US" sz="900" kern="1200" dirty="0">
            <a:solidFill>
              <a:schemeClr val="bg1"/>
            </a:solidFill>
          </a:endParaRPr>
        </a:p>
      </dsp:txBody>
      <dsp:txXfrm>
        <a:off x="3236675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2312632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552621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5361787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800" kern="1200" dirty="0"/>
            <a:t>Defines the mailboxes &amp; Virtual Interface necessary for communication by the entire test structure</a:t>
          </a:r>
        </a:p>
      </dsp:txBody>
      <dsp:txXfrm>
        <a:off x="5361787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552621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5361787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800" kern="1200" dirty="0"/>
            <a:t>Pre-defines pure virtual execute task</a:t>
          </a:r>
        </a:p>
      </dsp:txBody>
      <dsp:txXfrm>
        <a:off x="5361787" y="1658955"/>
        <a:ext cx="1000725" cy="72375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2663529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Environment</a:t>
          </a:r>
        </a:p>
      </dsp:txBody>
      <dsp:txXfrm>
        <a:off x="2867908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1943865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4183854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4993020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200" kern="1200" dirty="0"/>
            <a:t>Constructs </a:t>
          </a:r>
          <a:r>
            <a:rPr lang="en-US" sz="1000" kern="1200" dirty="0"/>
            <a:t>the</a:t>
          </a:r>
          <a:r>
            <a:rPr lang="en-US" sz="1200" kern="1200" dirty="0"/>
            <a:t> parent using </a:t>
          </a:r>
          <a:r>
            <a:rPr lang="en-US" sz="1200" kern="1200" dirty="0" err="1"/>
            <a:t>super.new</a:t>
          </a:r>
          <a:r>
            <a:rPr lang="en-US" sz="1200" kern="1200" dirty="0"/>
            <a:t>();</a:t>
          </a:r>
        </a:p>
      </dsp:txBody>
      <dsp:txXfrm>
        <a:off x="4993020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4183854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4990588" y="1632132"/>
          <a:ext cx="2475794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Inestsantiates</a:t>
          </a:r>
          <a:r>
            <a:rPr lang="en-US" sz="1000" kern="1200" dirty="0"/>
            <a:t> the entire testbench structure  that is under the test.</a:t>
          </a:r>
        </a:p>
      </dsp:txBody>
      <dsp:txXfrm>
        <a:off x="4990588" y="1632132"/>
        <a:ext cx="2475794" cy="72375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055361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>
              <a:solidFill>
                <a:schemeClr val="bg1"/>
              </a:solidFill>
            </a:rPr>
            <a:t>Reset_Test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59740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344657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584646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374421" y="458581"/>
          <a:ext cx="1728823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374421" y="458581"/>
        <a:ext cx="1728823" cy="723758"/>
      </dsp:txXfrm>
    </dsp:sp>
    <dsp:sp modelId="{1E8D6046-8D12-4E78-8B15-F5764271BE66}">
      <dsp:nvSpPr>
        <dsp:cNvPr id="0" name=""/>
        <dsp:cNvSpPr/>
      </dsp:nvSpPr>
      <dsp:spPr>
        <a:xfrm>
          <a:off x="2584646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67256" y="1658955"/>
          <a:ext cx="1535152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reset_generator</a:t>
          </a:r>
          <a:r>
            <a:rPr lang="en-US" sz="1000" kern="1200" dirty="0"/>
            <a:t> and runs the item generated by it</a:t>
          </a:r>
        </a:p>
      </dsp:txBody>
      <dsp:txXfrm>
        <a:off x="3467256" y="1658955"/>
        <a:ext cx="1535152" cy="72375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1140023" y="775958"/>
          <a:ext cx="1395588" cy="1395610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>
              <a:solidFill>
                <a:schemeClr val="bg1"/>
              </a:solidFill>
            </a:rPr>
            <a:t>Test_Base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1344402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429319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669308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474867" y="458581"/>
          <a:ext cx="1196797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Defines the mailboxes &amp; Virtual Interface necessary for communication.</a:t>
          </a:r>
        </a:p>
      </dsp:txBody>
      <dsp:txXfrm>
        <a:off x="3474867" y="458581"/>
        <a:ext cx="1196797" cy="723758"/>
      </dsp:txXfrm>
    </dsp:sp>
    <dsp:sp modelId="{1E8D6046-8D12-4E78-8B15-F5764271BE66}">
      <dsp:nvSpPr>
        <dsp:cNvPr id="0" name=""/>
        <dsp:cNvSpPr/>
      </dsp:nvSpPr>
      <dsp:spPr>
        <a:xfrm>
          <a:off x="2669308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478474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Pre-defines pure virtual execute task</a:t>
          </a:r>
        </a:p>
      </dsp:txBody>
      <dsp:txXfrm>
        <a:off x="3478474" y="1658955"/>
        <a:ext cx="1000725" cy="72375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87450" y="775958"/>
          <a:ext cx="1395588" cy="1395610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Random_Error_Injection_test</a:t>
          </a:r>
          <a:endParaRPr lang="en-US" sz="900" kern="1200" dirty="0"/>
        </a:p>
      </dsp:txBody>
      <dsp:txXfrm>
        <a:off x="991829" y="980340"/>
        <a:ext cx="986830" cy="986846"/>
      </dsp:txXfrm>
    </dsp:sp>
    <dsp:sp modelId="{67E10470-8429-4313-A979-E4661E041BF7}">
      <dsp:nvSpPr>
        <dsp:cNvPr id="0" name=""/>
        <dsp:cNvSpPr/>
      </dsp:nvSpPr>
      <dsp:spPr>
        <a:xfrm>
          <a:off x="67786" y="0"/>
          <a:ext cx="2813047" cy="2932570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307775" y="464812"/>
          <a:ext cx="747607" cy="747805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116941" y="474489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116941" y="474489"/>
        <a:ext cx="1000725" cy="723758"/>
      </dsp:txXfrm>
    </dsp:sp>
    <dsp:sp modelId="{1E8D6046-8D12-4E78-8B15-F5764271BE66}">
      <dsp:nvSpPr>
        <dsp:cNvPr id="0" name=""/>
        <dsp:cNvSpPr/>
      </dsp:nvSpPr>
      <dsp:spPr>
        <a:xfrm>
          <a:off x="2307775" y="1649277"/>
          <a:ext cx="747607" cy="74780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116941" y="1658955"/>
          <a:ext cx="1000725" cy="7237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random_error_injection_generator</a:t>
          </a:r>
          <a:r>
            <a:rPr lang="en-US" sz="1000" kern="1200" dirty="0"/>
            <a:t> and runs the item generated by it</a:t>
          </a:r>
        </a:p>
      </dsp:txBody>
      <dsp:txXfrm>
        <a:off x="3116941" y="1658955"/>
        <a:ext cx="1000725" cy="72375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Random_test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random_generator</a:t>
          </a:r>
          <a:r>
            <a:rPr lang="en-US" sz="1000" kern="1200" dirty="0"/>
            <a:t> and runs the item generated by it</a:t>
          </a:r>
        </a:p>
      </dsp:txBody>
      <dsp:txXfrm>
        <a:off x="3048529" y="1701285"/>
        <a:ext cx="1000520" cy="72361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2FDDB-0EF2-473A-B315-4E23EFA6B1FE}">
      <dsp:nvSpPr>
        <dsp:cNvPr id="0" name=""/>
        <dsp:cNvSpPr/>
      </dsp:nvSpPr>
      <dsp:spPr>
        <a:xfrm>
          <a:off x="719516" y="818469"/>
          <a:ext cx="1395302" cy="1395324"/>
        </a:xfrm>
        <a:prstGeom prst="ellipse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Random_Reset_Thrice_test</a:t>
          </a:r>
          <a:endParaRPr lang="en-US" sz="900" kern="1200" dirty="0"/>
        </a:p>
      </dsp:txBody>
      <dsp:txXfrm>
        <a:off x="923853" y="1022809"/>
        <a:ext cx="986628" cy="986644"/>
      </dsp:txXfrm>
    </dsp:sp>
    <dsp:sp modelId="{67E10470-8429-4313-A979-E4661E041BF7}">
      <dsp:nvSpPr>
        <dsp:cNvPr id="0" name=""/>
        <dsp:cNvSpPr/>
      </dsp:nvSpPr>
      <dsp:spPr>
        <a:xfrm>
          <a:off x="0" y="42670"/>
          <a:ext cx="2812470" cy="2931969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gradFill rotWithShape="0">
          <a:gsLst>
            <a:gs pos="0">
              <a:schemeClr val="accent6">
                <a:shade val="80000"/>
                <a:hueOff val="-774429"/>
                <a:satOff val="-51893"/>
                <a:lumOff val="365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-774429"/>
                <a:satOff val="-51893"/>
                <a:lumOff val="365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-774429"/>
                <a:satOff val="-51893"/>
                <a:lumOff val="365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B71E0BB-45D4-4BB7-9365-3AA9F9B7DC17}">
      <dsp:nvSpPr>
        <dsp:cNvPr id="0" name=""/>
        <dsp:cNvSpPr/>
      </dsp:nvSpPr>
      <dsp:spPr>
        <a:xfrm>
          <a:off x="2239529" y="507387"/>
          <a:ext cx="747454" cy="747652"/>
        </a:xfrm>
        <a:prstGeom prst="ellipse">
          <a:avLst/>
        </a:prstGeom>
        <a:blipFill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8D2479-6E95-440E-8A9F-972CE19F650D}">
      <dsp:nvSpPr>
        <dsp:cNvPr id="0" name=""/>
        <dsp:cNvSpPr/>
      </dsp:nvSpPr>
      <dsp:spPr>
        <a:xfrm>
          <a:off x="3048529" y="517062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/>
            <a:t>Constructs the parent using </a:t>
          </a:r>
          <a:r>
            <a:rPr lang="en-US" sz="1000" kern="1200" dirty="0" err="1"/>
            <a:t>super.new</a:t>
          </a:r>
          <a:r>
            <a:rPr lang="en-US" sz="1000" kern="1200" dirty="0"/>
            <a:t>();</a:t>
          </a:r>
        </a:p>
      </dsp:txBody>
      <dsp:txXfrm>
        <a:off x="3048529" y="517062"/>
        <a:ext cx="1000520" cy="723610"/>
      </dsp:txXfrm>
    </dsp:sp>
    <dsp:sp modelId="{1E8D6046-8D12-4E78-8B15-F5764271BE66}">
      <dsp:nvSpPr>
        <dsp:cNvPr id="0" name=""/>
        <dsp:cNvSpPr/>
      </dsp:nvSpPr>
      <dsp:spPr>
        <a:xfrm>
          <a:off x="2239529" y="1691609"/>
          <a:ext cx="747454" cy="74765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E9B78207-DD0E-4E80-A663-3FB1056EFA05}">
      <dsp:nvSpPr>
        <dsp:cNvPr id="0" name=""/>
        <dsp:cNvSpPr/>
      </dsp:nvSpPr>
      <dsp:spPr>
        <a:xfrm>
          <a:off x="3048529" y="1701285"/>
          <a:ext cx="1000520" cy="723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1000" kern="1200" dirty="0" err="1"/>
            <a:t>Inestantiates</a:t>
          </a:r>
          <a:r>
            <a:rPr lang="en-US" sz="1000" kern="1200" dirty="0"/>
            <a:t> the </a:t>
          </a:r>
          <a:r>
            <a:rPr lang="en-US" sz="1000" kern="1200" dirty="0" err="1"/>
            <a:t>random_reset_thrice_generator</a:t>
          </a:r>
          <a:r>
            <a:rPr lang="en-US" sz="1000" kern="1200" dirty="0"/>
            <a:t> and runs the item generated by it</a:t>
          </a:r>
        </a:p>
      </dsp:txBody>
      <dsp:txXfrm>
        <a:off x="3048529" y="1701285"/>
        <a:ext cx="1000520" cy="7236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36D9-F1FB-484F-814C-FEFFAC61D63C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CEB92-A670-4136-8665-709A0B277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6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41EDD-CE03-79D2-6A4A-F2A01AA1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493DF-9329-EC2F-0EEE-9694ED78F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7F325-2F67-CD8C-8189-760607694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1C9CD-9D0B-1EFA-C04C-12BE6F4A5D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56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CD583-A77A-37FF-E6F4-39942B6F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687D-E006-3A85-EDE7-D33788BB1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880C-762A-6657-1926-F0BB10A0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9B9DC-B0B5-8E5E-1BAA-DA491FEE2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89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5778F-69CA-1BA4-53BB-BDB926F8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E12114-2141-B963-6EA1-3CA4E21DC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955FE-3753-FEE8-5F9E-8439B45DA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508C3-00DB-D6EB-4C33-66B81C056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21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DFEF6-B22A-CCF1-486A-4E818106E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2ED95-0076-8C3B-3883-952A89198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503E5-4FCE-13C9-D30F-85B955774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B0ADE-9FED-511E-E447-A4203E4EA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6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62F2-A196-004B-9A0D-97EBE13BE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CDD2C-794E-4E5F-C3D1-5F33840F3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1A61C-B3FC-A3F9-F354-2F8D4E141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0D11C-87DD-2E2A-A481-C3B9F6554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24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B9D8-C504-44CE-B51C-8F467EFE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0A44E-644F-76ED-7CB1-48EEE51E8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8A8C0-DDA1-B7C1-16B2-929B96688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AB16D-A086-B053-E835-2550E14D1E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20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E5227-ECCF-9D68-CE82-D710B9F8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4852E-0FF8-5C49-AB0C-12CCF6EAD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24ED0-F124-E290-B28C-BAA6F6827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0C9E3-8112-0F35-D06E-920D0249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147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3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0166-CEF0-118C-E956-E0D89E52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47292-8EC6-0D78-0AB7-6E7A7C278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BC670-0BE1-DC11-82BA-9A96A862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561A-82FA-0C66-A2FC-092294DE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28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56D9-75C1-15A8-39EB-6508E735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57529-CC6E-5015-4268-C2FF8A245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92B22-D5CB-8024-4B6B-854297687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6BE1-FBAD-8B99-629E-2DAA9B77EE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97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FEFD-38B5-28D9-AA79-DC7D7EAA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5A324-5752-AED6-6419-932CDCFDA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82823-C845-9C77-4580-772C42395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5DBCF-5191-B38D-51DD-A49FA960A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5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78BD-AD70-E373-4C0C-DAD408B5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8479E1-E880-8557-4123-8650E5E6C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F12BA9-BCFA-132F-ACE8-48937110E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56048-CE2A-25F3-EB14-4EBA0C82F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CEB92-A670-4136-8665-709A0B277D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5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2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9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0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5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5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3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14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66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0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8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QuickStyle" Target="../diagrams/quickStyle2.xml"/><Relationship Id="rId5" Type="http://schemas.openxmlformats.org/officeDocument/2006/relationships/diagramQuickStyle" Target="../diagrams/quickStyle1.xml"/><Relationship Id="rId10" Type="http://schemas.openxmlformats.org/officeDocument/2006/relationships/diagramLayout" Target="../diagrams/layout2.xml"/><Relationship Id="rId4" Type="http://schemas.openxmlformats.org/officeDocument/2006/relationships/diagramLayout" Target="../diagrams/layout1.xml"/><Relationship Id="rId9" Type="http://schemas.openxmlformats.org/officeDocument/2006/relationships/diagramData" Target="../diagrams/data2.xml"/><Relationship Id="rId1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diagramColors" Target="../diagrams/colors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QuickStyle" Target="../diagrams/quickStyle4.xml"/><Relationship Id="rId5" Type="http://schemas.openxmlformats.org/officeDocument/2006/relationships/diagramQuickStyle" Target="../diagrams/quickStyle3.xml"/><Relationship Id="rId10" Type="http://schemas.openxmlformats.org/officeDocument/2006/relationships/diagramLayout" Target="../diagrams/layout4.xml"/><Relationship Id="rId4" Type="http://schemas.openxmlformats.org/officeDocument/2006/relationships/diagramLayout" Target="../diagrams/layout3.xml"/><Relationship Id="rId9" Type="http://schemas.openxmlformats.org/officeDocument/2006/relationships/diagramData" Target="../diagrams/data4.xml"/><Relationship Id="rId1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diagramColors" Target="../diagrams/colors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diagramQuickStyle" Target="../diagrams/quickStyle6.xml"/><Relationship Id="rId5" Type="http://schemas.openxmlformats.org/officeDocument/2006/relationships/diagramQuickStyle" Target="../diagrams/quickStyle5.xml"/><Relationship Id="rId10" Type="http://schemas.openxmlformats.org/officeDocument/2006/relationships/diagramLayout" Target="../diagrams/layout6.xml"/><Relationship Id="rId4" Type="http://schemas.openxmlformats.org/officeDocument/2006/relationships/diagramLayout" Target="../diagrams/layout5.xml"/><Relationship Id="rId9" Type="http://schemas.openxmlformats.org/officeDocument/2006/relationships/diagramData" Target="../diagrams/data6.xml"/><Relationship Id="rId14" Type="http://schemas.openxmlformats.org/officeDocument/2006/relationships/image" Target="../media/image16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8.xml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diagramColors" Target="../diagrams/colors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diagramQuickStyle" Target="../diagrams/quickStyle8.xml"/><Relationship Id="rId5" Type="http://schemas.openxmlformats.org/officeDocument/2006/relationships/diagramQuickStyle" Target="../diagrams/quickStyle7.xml"/><Relationship Id="rId10" Type="http://schemas.openxmlformats.org/officeDocument/2006/relationships/diagramLayout" Target="../diagrams/layout8.xml"/><Relationship Id="rId4" Type="http://schemas.openxmlformats.org/officeDocument/2006/relationships/diagramLayout" Target="../diagrams/layout7.xml"/><Relationship Id="rId9" Type="http://schemas.openxmlformats.org/officeDocument/2006/relationships/diagramData" Target="../diagrams/data8.xml"/><Relationship Id="rId14" Type="http://schemas.openxmlformats.org/officeDocument/2006/relationships/image" Target="../media/image16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10.xm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diagramQuickStyle" Target="../diagrams/quickStyle10.xml"/><Relationship Id="rId5" Type="http://schemas.openxmlformats.org/officeDocument/2006/relationships/diagramQuickStyle" Target="../diagrams/quickStyle9.xml"/><Relationship Id="rId10" Type="http://schemas.openxmlformats.org/officeDocument/2006/relationships/diagramLayout" Target="../diagrams/layout10.xml"/><Relationship Id="rId4" Type="http://schemas.openxmlformats.org/officeDocument/2006/relationships/diagramLayout" Target="../diagrams/layout9.xml"/><Relationship Id="rId9" Type="http://schemas.openxmlformats.org/officeDocument/2006/relationships/diagramData" Target="../diagrams/data10.xml"/><Relationship Id="rId14" Type="http://schemas.openxmlformats.org/officeDocument/2006/relationships/image" Target="../media/image16.gi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diagramColors" Target="../diagrams/colors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openxmlformats.org/officeDocument/2006/relationships/diagramQuickStyle" Target="../diagrams/quickStyle12.xml"/><Relationship Id="rId5" Type="http://schemas.openxmlformats.org/officeDocument/2006/relationships/diagramQuickStyle" Target="../diagrams/quickStyle11.xml"/><Relationship Id="rId10" Type="http://schemas.openxmlformats.org/officeDocument/2006/relationships/diagramLayout" Target="../diagrams/layout12.xml"/><Relationship Id="rId4" Type="http://schemas.openxmlformats.org/officeDocument/2006/relationships/diagramLayout" Target="../diagrams/layout11.xml"/><Relationship Id="rId9" Type="http://schemas.openxmlformats.org/officeDocument/2006/relationships/diagramData" Target="../diagrams/data12.xml"/><Relationship Id="rId14" Type="http://schemas.openxmlformats.org/officeDocument/2006/relationships/image" Target="../media/image16.gi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openxmlformats.org/officeDocument/2006/relationships/diagramColors" Target="../diagrams/colors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11" Type="http://schemas.openxmlformats.org/officeDocument/2006/relationships/diagramQuickStyle" Target="../diagrams/quickStyle14.xml"/><Relationship Id="rId5" Type="http://schemas.openxmlformats.org/officeDocument/2006/relationships/diagramQuickStyle" Target="../diagrams/quickStyle13.xml"/><Relationship Id="rId10" Type="http://schemas.openxmlformats.org/officeDocument/2006/relationships/diagramLayout" Target="../diagrams/layout14.xml"/><Relationship Id="rId4" Type="http://schemas.openxmlformats.org/officeDocument/2006/relationships/diagramLayout" Target="../diagrams/layout13.xml"/><Relationship Id="rId9" Type="http://schemas.openxmlformats.org/officeDocument/2006/relationships/diagramData" Target="../diagrams/data14.xml"/><Relationship Id="rId14" Type="http://schemas.openxmlformats.org/officeDocument/2006/relationships/image" Target="../media/image16.gi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16.xml"/><Relationship Id="rId18" Type="http://schemas.microsoft.com/office/2007/relationships/diagramDrawing" Target="../diagrams/drawing17.xml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12" Type="http://schemas.openxmlformats.org/officeDocument/2006/relationships/diagramColors" Target="../diagrams/colors16.xml"/><Relationship Id="rId17" Type="http://schemas.openxmlformats.org/officeDocument/2006/relationships/diagramColors" Target="../diagrams/colors17.xml"/><Relationship Id="rId2" Type="http://schemas.openxmlformats.org/officeDocument/2006/relationships/notesSlide" Target="../notesSlides/notesSlide9.xml"/><Relationship Id="rId16" Type="http://schemas.openxmlformats.org/officeDocument/2006/relationships/diagramQuickStyle" Target="../diagrams/quickStyl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11" Type="http://schemas.openxmlformats.org/officeDocument/2006/relationships/diagramQuickStyle" Target="../diagrams/quickStyle16.xml"/><Relationship Id="rId5" Type="http://schemas.openxmlformats.org/officeDocument/2006/relationships/diagramQuickStyle" Target="../diagrams/quickStyle15.xml"/><Relationship Id="rId15" Type="http://schemas.openxmlformats.org/officeDocument/2006/relationships/diagramLayout" Target="../diagrams/layout17.xml"/><Relationship Id="rId10" Type="http://schemas.openxmlformats.org/officeDocument/2006/relationships/diagramLayout" Target="../diagrams/layout16.xml"/><Relationship Id="rId19" Type="http://schemas.openxmlformats.org/officeDocument/2006/relationships/image" Target="../media/image16.gif"/><Relationship Id="rId4" Type="http://schemas.openxmlformats.org/officeDocument/2006/relationships/diagramLayout" Target="../diagrams/layout15.xml"/><Relationship Id="rId9" Type="http://schemas.openxmlformats.org/officeDocument/2006/relationships/diagramData" Target="../diagrams/data16.xml"/><Relationship Id="rId14" Type="http://schemas.openxmlformats.org/officeDocument/2006/relationships/diagramData" Target="../diagrams/data1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9.xml"/><Relationship Id="rId13" Type="http://schemas.openxmlformats.org/officeDocument/2006/relationships/image" Target="../media/image9.png"/><Relationship Id="rId18" Type="http://schemas.microsoft.com/office/2007/relationships/diagramDrawing" Target="../diagrams/drawing20.xml"/><Relationship Id="rId26" Type="http://schemas.openxmlformats.org/officeDocument/2006/relationships/diagramLayout" Target="../diagrams/layout22.xml"/><Relationship Id="rId3" Type="http://schemas.openxmlformats.org/officeDocument/2006/relationships/diagramData" Target="../diagrams/data18.xml"/><Relationship Id="rId21" Type="http://schemas.openxmlformats.org/officeDocument/2006/relationships/diagramQuickStyle" Target="../diagrams/quickStyle21.xml"/><Relationship Id="rId7" Type="http://schemas.microsoft.com/office/2007/relationships/diagramDrawing" Target="../diagrams/drawing18.xml"/><Relationship Id="rId12" Type="http://schemas.microsoft.com/office/2007/relationships/diagramDrawing" Target="../diagrams/drawing19.xml"/><Relationship Id="rId17" Type="http://schemas.openxmlformats.org/officeDocument/2006/relationships/diagramColors" Target="../diagrams/colors20.xml"/><Relationship Id="rId25" Type="http://schemas.openxmlformats.org/officeDocument/2006/relationships/diagramData" Target="../diagrams/data22.xml"/><Relationship Id="rId2" Type="http://schemas.openxmlformats.org/officeDocument/2006/relationships/notesSlide" Target="../notesSlides/notesSlide10.xml"/><Relationship Id="rId16" Type="http://schemas.openxmlformats.org/officeDocument/2006/relationships/diagramQuickStyle" Target="../diagrams/quickStyle20.xml"/><Relationship Id="rId20" Type="http://schemas.openxmlformats.org/officeDocument/2006/relationships/diagramLayout" Target="../diagrams/layout21.xml"/><Relationship Id="rId29" Type="http://schemas.microsoft.com/office/2007/relationships/diagramDrawing" Target="../diagrams/drawing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11" Type="http://schemas.openxmlformats.org/officeDocument/2006/relationships/diagramColors" Target="../diagrams/colors19.xml"/><Relationship Id="rId24" Type="http://schemas.openxmlformats.org/officeDocument/2006/relationships/image" Target="../media/image16.gif"/><Relationship Id="rId5" Type="http://schemas.openxmlformats.org/officeDocument/2006/relationships/diagramQuickStyle" Target="../diagrams/quickStyle18.xml"/><Relationship Id="rId15" Type="http://schemas.openxmlformats.org/officeDocument/2006/relationships/diagramLayout" Target="../diagrams/layout20.xml"/><Relationship Id="rId23" Type="http://schemas.microsoft.com/office/2007/relationships/diagramDrawing" Target="../diagrams/drawing21.xml"/><Relationship Id="rId28" Type="http://schemas.openxmlformats.org/officeDocument/2006/relationships/diagramColors" Target="../diagrams/colors22.xml"/><Relationship Id="rId10" Type="http://schemas.openxmlformats.org/officeDocument/2006/relationships/diagramQuickStyle" Target="../diagrams/quickStyle19.xml"/><Relationship Id="rId19" Type="http://schemas.openxmlformats.org/officeDocument/2006/relationships/diagramData" Target="../diagrams/data21.xml"/><Relationship Id="rId4" Type="http://schemas.openxmlformats.org/officeDocument/2006/relationships/diagramLayout" Target="../diagrams/layout18.xml"/><Relationship Id="rId9" Type="http://schemas.openxmlformats.org/officeDocument/2006/relationships/diagramLayout" Target="../diagrams/layout19.xml"/><Relationship Id="rId14" Type="http://schemas.openxmlformats.org/officeDocument/2006/relationships/diagramData" Target="../diagrams/data20.xml"/><Relationship Id="rId22" Type="http://schemas.openxmlformats.org/officeDocument/2006/relationships/diagramColors" Target="../diagrams/colors21.xml"/><Relationship Id="rId27" Type="http://schemas.openxmlformats.org/officeDocument/2006/relationships/diagramQuickStyle" Target="../diagrams/quickStyle2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24.xml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12" Type="http://schemas.openxmlformats.org/officeDocument/2006/relationships/diagramColors" Target="../diagrams/colors2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11" Type="http://schemas.openxmlformats.org/officeDocument/2006/relationships/diagramQuickStyle" Target="../diagrams/quickStyle24.xml"/><Relationship Id="rId5" Type="http://schemas.openxmlformats.org/officeDocument/2006/relationships/diagramQuickStyle" Target="../diagrams/quickStyle23.xml"/><Relationship Id="rId10" Type="http://schemas.openxmlformats.org/officeDocument/2006/relationships/diagramLayout" Target="../diagrams/layout24.xml"/><Relationship Id="rId4" Type="http://schemas.openxmlformats.org/officeDocument/2006/relationships/diagramLayout" Target="../diagrams/layout23.xml"/><Relationship Id="rId9" Type="http://schemas.openxmlformats.org/officeDocument/2006/relationships/diagramData" Target="../diagrams/data24.xml"/><Relationship Id="rId14" Type="http://schemas.openxmlformats.org/officeDocument/2006/relationships/image" Target="../media/image16.gi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26.xml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12" Type="http://schemas.openxmlformats.org/officeDocument/2006/relationships/diagramColors" Target="../diagrams/colors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11" Type="http://schemas.openxmlformats.org/officeDocument/2006/relationships/diagramQuickStyle" Target="../diagrams/quickStyle26.xml"/><Relationship Id="rId5" Type="http://schemas.openxmlformats.org/officeDocument/2006/relationships/diagramQuickStyle" Target="../diagrams/quickStyle25.xml"/><Relationship Id="rId10" Type="http://schemas.openxmlformats.org/officeDocument/2006/relationships/diagramLayout" Target="../diagrams/layout26.xml"/><Relationship Id="rId4" Type="http://schemas.openxmlformats.org/officeDocument/2006/relationships/diagramLayout" Target="../diagrams/layout25.xml"/><Relationship Id="rId9" Type="http://schemas.openxmlformats.org/officeDocument/2006/relationships/diagramData" Target="../diagrams/data26.xml"/><Relationship Id="rId14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8.xml"/><Relationship Id="rId13" Type="http://schemas.openxmlformats.org/officeDocument/2006/relationships/image" Target="../media/image9.png"/><Relationship Id="rId18" Type="http://schemas.microsoft.com/office/2007/relationships/diagramDrawing" Target="../diagrams/drawing29.xml"/><Relationship Id="rId26" Type="http://schemas.openxmlformats.org/officeDocument/2006/relationships/diagramLayout" Target="../diagrams/layout31.xml"/><Relationship Id="rId3" Type="http://schemas.openxmlformats.org/officeDocument/2006/relationships/diagramData" Target="../diagrams/data27.xml"/><Relationship Id="rId21" Type="http://schemas.openxmlformats.org/officeDocument/2006/relationships/diagramQuickStyle" Target="../diagrams/quickStyle30.xml"/><Relationship Id="rId7" Type="http://schemas.microsoft.com/office/2007/relationships/diagramDrawing" Target="../diagrams/drawing27.xml"/><Relationship Id="rId12" Type="http://schemas.microsoft.com/office/2007/relationships/diagramDrawing" Target="../diagrams/drawing28.xml"/><Relationship Id="rId17" Type="http://schemas.openxmlformats.org/officeDocument/2006/relationships/diagramColors" Target="../diagrams/colors29.xml"/><Relationship Id="rId25" Type="http://schemas.openxmlformats.org/officeDocument/2006/relationships/diagramData" Target="../diagrams/data31.xml"/><Relationship Id="rId2" Type="http://schemas.openxmlformats.org/officeDocument/2006/relationships/notesSlide" Target="../notesSlides/notesSlide13.xml"/><Relationship Id="rId16" Type="http://schemas.openxmlformats.org/officeDocument/2006/relationships/diagramQuickStyle" Target="../diagrams/quickStyle29.xml"/><Relationship Id="rId20" Type="http://schemas.openxmlformats.org/officeDocument/2006/relationships/diagramLayout" Target="../diagrams/layout30.xml"/><Relationship Id="rId29" Type="http://schemas.microsoft.com/office/2007/relationships/diagramDrawing" Target="../diagrams/drawing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11" Type="http://schemas.openxmlformats.org/officeDocument/2006/relationships/diagramColors" Target="../diagrams/colors28.xml"/><Relationship Id="rId24" Type="http://schemas.openxmlformats.org/officeDocument/2006/relationships/image" Target="../media/image16.gif"/><Relationship Id="rId5" Type="http://schemas.openxmlformats.org/officeDocument/2006/relationships/diagramQuickStyle" Target="../diagrams/quickStyle27.xml"/><Relationship Id="rId15" Type="http://schemas.openxmlformats.org/officeDocument/2006/relationships/diagramLayout" Target="../diagrams/layout29.xml"/><Relationship Id="rId23" Type="http://schemas.microsoft.com/office/2007/relationships/diagramDrawing" Target="../diagrams/drawing30.xml"/><Relationship Id="rId28" Type="http://schemas.openxmlformats.org/officeDocument/2006/relationships/diagramColors" Target="../diagrams/colors31.xml"/><Relationship Id="rId10" Type="http://schemas.openxmlformats.org/officeDocument/2006/relationships/diagramQuickStyle" Target="../diagrams/quickStyle28.xml"/><Relationship Id="rId19" Type="http://schemas.openxmlformats.org/officeDocument/2006/relationships/diagramData" Target="../diagrams/data30.xml"/><Relationship Id="rId4" Type="http://schemas.openxmlformats.org/officeDocument/2006/relationships/diagramLayout" Target="../diagrams/layout27.xml"/><Relationship Id="rId9" Type="http://schemas.openxmlformats.org/officeDocument/2006/relationships/diagramLayout" Target="../diagrams/layout28.xml"/><Relationship Id="rId14" Type="http://schemas.openxmlformats.org/officeDocument/2006/relationships/diagramData" Target="../diagrams/data29.xml"/><Relationship Id="rId22" Type="http://schemas.openxmlformats.org/officeDocument/2006/relationships/diagramColors" Target="../diagrams/colors30.xml"/><Relationship Id="rId27" Type="http://schemas.openxmlformats.org/officeDocument/2006/relationships/diagramQuickStyle" Target="../diagrams/quickStyle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71AFC83-43DA-2361-0668-F0E67D9E9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63AC4ACD-DE44-441A-FC4E-61044240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4" r="4629" b="-2"/>
          <a:stretch/>
        </p:blipFill>
        <p:spPr>
          <a:xfrm>
            <a:off x="517869" y="965741"/>
            <a:ext cx="6554050" cy="5380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A42F14-C558-9E35-7DD8-7C19CCD6D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7741" y="966178"/>
            <a:ext cx="4598628" cy="4054057"/>
          </a:xfrm>
        </p:spPr>
        <p:txBody>
          <a:bodyPr anchor="t">
            <a:normAutofit fontScale="90000"/>
          </a:bodyPr>
          <a:lstStyle/>
          <a:p>
            <a:r>
              <a:rPr lang="en-US" sz="5600" dirty="0"/>
              <a:t>Design &amp; Verification of an ALU using </a:t>
            </a:r>
            <a:r>
              <a:rPr lang="en-US" sz="5600" dirty="0" err="1"/>
              <a:t>SystemVerilog</a:t>
            </a:r>
            <a:r>
              <a:rPr lang="en-US" sz="5600" dirty="0"/>
              <a:t> &amp; SVA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9FCD2-8991-F88F-65F8-3163884B4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20" y="4927302"/>
            <a:ext cx="4081295" cy="1338269"/>
          </a:xfrm>
        </p:spPr>
        <p:txBody>
          <a:bodyPr anchor="b">
            <a:normAutofit lnSpcReduction="10000"/>
          </a:bodyPr>
          <a:lstStyle/>
          <a:p>
            <a:pPr algn="ctr"/>
            <a:r>
              <a:rPr lang="en-US" dirty="0"/>
              <a:t>Abdelrahman Mohamed Yassien</a:t>
            </a:r>
            <a:br>
              <a:rPr lang="en-US" dirty="0"/>
            </a:br>
            <a:br>
              <a:rPr lang="en-US" dirty="0"/>
            </a:br>
            <a:r>
              <a:rPr lang="en-US" sz="1600" dirty="0" err="1"/>
              <a:t>dir</a:t>
            </a:r>
            <a:r>
              <a:rPr lang="en-US" sz="1600" dirty="0"/>
              <a:t>: /home/svgpdv25abohamad/</a:t>
            </a:r>
            <a:r>
              <a:rPr lang="en-US" sz="1600" dirty="0" err="1"/>
              <a:t>alu_project</a:t>
            </a:r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35EA8DD-92F5-E06C-4DEE-B7AB507C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9498F536-4B0F-DF76-46F4-5986C0754F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37" y="2139843"/>
            <a:ext cx="10131769" cy="337345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8AFB62-F1F9-582A-4671-5F017EA71C81}"/>
              </a:ext>
            </a:extLst>
          </p:cNvPr>
          <p:cNvSpPr txBox="1"/>
          <p:nvPr/>
        </p:nvSpPr>
        <p:spPr>
          <a:xfrm>
            <a:off x="421343" y="883041"/>
            <a:ext cx="54236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+mj-lt"/>
                <a:ea typeface="+mj-ea"/>
                <a:cs typeface="+mj-cs"/>
              </a:rPr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364059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60DAB5-3BBC-D502-2F1C-E94DFCE523CB}"/>
              </a:ext>
            </a:extLst>
          </p:cNvPr>
          <p:cNvSpPr txBox="1"/>
          <p:nvPr/>
        </p:nvSpPr>
        <p:spPr>
          <a:xfrm>
            <a:off x="4043082" y="376518"/>
            <a:ext cx="43299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Verification Plan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A5FBC9-9362-8CF9-E840-564DCA096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240714"/>
              </p:ext>
            </p:extLst>
          </p:nvPr>
        </p:nvGraphicFramePr>
        <p:xfrm>
          <a:off x="3579904" y="1535657"/>
          <a:ext cx="5617884" cy="44173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24847">
                  <a:extLst>
                    <a:ext uri="{9D8B030D-6E8A-4147-A177-3AD203B41FA5}">
                      <a16:colId xmlns:a16="http://schemas.microsoft.com/office/drawing/2014/main" val="1157593473"/>
                    </a:ext>
                  </a:extLst>
                </a:gridCol>
                <a:gridCol w="3293037">
                  <a:extLst>
                    <a:ext uri="{9D8B030D-6E8A-4147-A177-3AD203B41FA5}">
                      <a16:colId xmlns:a16="http://schemas.microsoft.com/office/drawing/2014/main" val="36684154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32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Reset DUT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Resetting the DUT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450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ALU_en</a:t>
                      </a:r>
                      <a:endParaRPr lang="en-US" sz="105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Sending transactions while </a:t>
                      </a:r>
                      <a:r>
                        <a:rPr lang="en-US" sz="1050" dirty="0" err="1"/>
                        <a:t>ALU_en</a:t>
                      </a:r>
                      <a:r>
                        <a:rPr lang="en-US" sz="1050" dirty="0"/>
                        <a:t> is off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6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/>
                      <a:r>
                        <a:rPr lang="en-US" sz="1050" kern="1200" dirty="0" err="1">
                          <a:solidFill>
                            <a:schemeClr val="dk1"/>
                          </a:solidFill>
                        </a:rPr>
                        <a:t>A_op</a:t>
                      </a:r>
                      <a:r>
                        <a:rPr lang="en-US" sz="1050" kern="1200" dirty="0">
                          <a:solidFill>
                            <a:schemeClr val="dk1"/>
                          </a:solidFill>
                        </a:rPr>
                        <a:t> Opcodes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Checking all </a:t>
                      </a:r>
                      <a:r>
                        <a:rPr lang="en-US" sz="1050" dirty="0" err="1"/>
                        <a:t>A_op</a:t>
                      </a:r>
                      <a:r>
                        <a:rPr lang="en-US" sz="1050" dirty="0"/>
                        <a:t> opcodes when (</a:t>
                      </a:r>
                      <a:r>
                        <a:rPr lang="en-US" sz="1050" dirty="0" err="1"/>
                        <a:t>A_en</a:t>
                      </a:r>
                      <a:r>
                        <a:rPr lang="en-US" sz="1050" dirty="0"/>
                        <a:t> &amp; ~</a:t>
                      </a:r>
                      <a:r>
                        <a:rPr lang="en-US" sz="1050" dirty="0" err="1"/>
                        <a:t>B_en</a:t>
                      </a:r>
                      <a:r>
                        <a:rPr lang="en-US" sz="1050" dirty="0"/>
                        <a:t>)</a:t>
                      </a:r>
                    </a:p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306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B_11op Opcodes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Checking all 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B_op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opcodes when (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A_en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 &amp; </a:t>
                      </a:r>
                      <a:r>
                        <a:rPr kumimoji="0" lang="en-US" sz="105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B_en</a:t>
                      </a: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663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Random Reset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Randomly Resetting the DUT during the entire simulation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55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Code Coverage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Ensuring all the DUT’s code lines were HIT using code coverage and making better test cases if not.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218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Functional Coverage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Ensuring all opcodes/values are met and tried using Functional Coverage and Fixing the DUT if not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28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Error Injection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Using an Error Injection scenario to check if the DUT hangs or behaves in a destructive way if faced with an undefined state or an out-of-bounds/unexpected inputs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1910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Assertion Based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Asserting over the design specs, clock period, alu operations,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alu_en</a:t>
                      </a: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Bierstadt"/>
                          <a:ea typeface="+mn-ea"/>
                          <a:cs typeface="+mn-cs"/>
                        </a:rPr>
                        <a:t>rst_n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Bierstad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783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1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FC2290-9007-2BA6-35E2-B7D3DC9D5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036530"/>
              </p:ext>
            </p:extLst>
          </p:nvPr>
        </p:nvGraphicFramePr>
        <p:xfrm>
          <a:off x="377977" y="2426697"/>
          <a:ext cx="4436069" cy="33782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46847">
                  <a:extLst>
                    <a:ext uri="{9D8B030D-6E8A-4147-A177-3AD203B41FA5}">
                      <a16:colId xmlns:a16="http://schemas.microsoft.com/office/drawing/2014/main" val="4135427993"/>
                    </a:ext>
                  </a:extLst>
                </a:gridCol>
                <a:gridCol w="778741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118494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925536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9"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(A_EN &amp; ~B_EN)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A_op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4987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|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267501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^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XNOR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80664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681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98105D-C8F1-6B1B-F43C-C4C75E94D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37086"/>
              </p:ext>
            </p:extLst>
          </p:nvPr>
        </p:nvGraphicFramePr>
        <p:xfrm>
          <a:off x="8588188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(~A_EN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 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~(A &amp; 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NAND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Not permitted to take this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B4E3D-74B8-640F-B73E-0A7B55410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939174"/>
              </p:ext>
            </p:extLst>
          </p:nvPr>
        </p:nvGraphicFramePr>
        <p:xfrm>
          <a:off x="5208494" y="4425825"/>
          <a:ext cx="3083858" cy="1894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49423">
                  <a:extLst>
                    <a:ext uri="{9D8B030D-6E8A-4147-A177-3AD203B41FA5}">
                      <a16:colId xmlns:a16="http://schemas.microsoft.com/office/drawing/2014/main" val="3735101611"/>
                    </a:ext>
                  </a:extLst>
                </a:gridCol>
                <a:gridCol w="549423">
                  <a:extLst>
                    <a:ext uri="{9D8B030D-6E8A-4147-A177-3AD203B41FA5}">
                      <a16:colId xmlns:a16="http://schemas.microsoft.com/office/drawing/2014/main" val="3800804451"/>
                    </a:ext>
                  </a:extLst>
                </a:gridCol>
                <a:gridCol w="756195">
                  <a:extLst>
                    <a:ext uri="{9D8B030D-6E8A-4147-A177-3AD203B41FA5}">
                      <a16:colId xmlns:a16="http://schemas.microsoft.com/office/drawing/2014/main" val="2926376368"/>
                    </a:ext>
                  </a:extLst>
                </a:gridCol>
                <a:gridCol w="1228817">
                  <a:extLst>
                    <a:ext uri="{9D8B030D-6E8A-4147-A177-3AD203B41FA5}">
                      <a16:colId xmlns:a16="http://schemas.microsoft.com/office/drawing/2014/main" val="8777567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(A_EN &amp; B_EN)</a:t>
                      </a:r>
                    </a:p>
                  </a:txBody>
                  <a:tcPr vert="vert27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/>
                        <a:t>B_op</a:t>
                      </a:r>
                      <a:endParaRPr lang="en-US" sz="1050" dirty="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C= ?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7291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+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Sum of inputs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00799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–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B subtracted from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29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^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XOR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8434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&amp;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A bitwise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1214960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304FF421-37C7-47D1-C8CA-DEF4E2F49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680" y="291730"/>
            <a:ext cx="6008437" cy="949003"/>
          </a:xfrm>
        </p:spPr>
        <p:txBody>
          <a:bodyPr>
            <a:normAutofit fontScale="90000"/>
          </a:bodyPr>
          <a:lstStyle/>
          <a:p>
            <a:r>
              <a:rPr lang="en-US" dirty="0"/>
              <a:t>ALU DESIGN SPECIFICATIONS</a:t>
            </a:r>
          </a:p>
        </p:txBody>
      </p:sp>
      <p:pic>
        <p:nvPicPr>
          <p:cNvPr id="12" name="Picture 11" descr="A diagram of a rectangle with arrows and letters&#10;&#10;AI-generated content may be incorrect.">
            <a:extLst>
              <a:ext uri="{FF2B5EF4-FFF2-40B4-BE49-F238E27FC236}">
                <a16:creationId xmlns:a16="http://schemas.microsoft.com/office/drawing/2014/main" id="{1E9DA519-56A3-74AD-CF88-8C853390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592" y="427279"/>
            <a:ext cx="6379431" cy="356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65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38CB98-F790-D8F5-0AE1-B323EE96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016" y="257648"/>
            <a:ext cx="8887968" cy="899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dirty="0"/>
              <a:t>Verification Environment Classes</a:t>
            </a:r>
          </a:p>
        </p:txBody>
      </p:sp>
      <p:pic>
        <p:nvPicPr>
          <p:cNvPr id="9" name="Content Placeholder 8" descr="A diagram of a company structure&#10;&#10;AI-generated content may be incorrect.">
            <a:extLst>
              <a:ext uri="{FF2B5EF4-FFF2-40B4-BE49-F238E27FC236}">
                <a16:creationId xmlns:a16="http://schemas.microsoft.com/office/drawing/2014/main" id="{2C44E30C-7DD1-4B3A-5CCB-716A34783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224" y="1027046"/>
            <a:ext cx="10802112" cy="6026194"/>
          </a:xfrm>
        </p:spPr>
      </p:pic>
    </p:spTree>
    <p:extLst>
      <p:ext uri="{BB962C8B-B14F-4D97-AF65-F5344CB8AC3E}">
        <p14:creationId xmlns:p14="http://schemas.microsoft.com/office/powerpoint/2010/main" val="191395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BEBFB59-E9CF-331E-9C40-4FD07A96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FE905E-8BE8-23D6-FC13-E320225A6D32}"/>
              </a:ext>
            </a:extLst>
          </p:cNvPr>
          <p:cNvSpPr/>
          <p:nvPr/>
        </p:nvSpPr>
        <p:spPr>
          <a:xfrm>
            <a:off x="635442" y="170328"/>
            <a:ext cx="11171073" cy="6636647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 prst="riblet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4AC6F-6EDB-F284-9F67-8C15F14C3C52}"/>
              </a:ext>
            </a:extLst>
          </p:cNvPr>
          <p:cNvSpPr txBox="1"/>
          <p:nvPr/>
        </p:nvSpPr>
        <p:spPr>
          <a:xfrm>
            <a:off x="800422" y="229247"/>
            <a:ext cx="5525430" cy="461665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TOP ALU TESTBENCH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68AF4A-2752-8B91-F06E-7841C85EB752}"/>
              </a:ext>
            </a:extLst>
          </p:cNvPr>
          <p:cNvSpPr/>
          <p:nvPr/>
        </p:nvSpPr>
        <p:spPr>
          <a:xfrm>
            <a:off x="882484" y="838804"/>
            <a:ext cx="9946129" cy="372123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177B4E-256A-0D4B-1A13-30A0A5AE8BE9}"/>
              </a:ext>
            </a:extLst>
          </p:cNvPr>
          <p:cNvSpPr txBox="1"/>
          <p:nvPr/>
        </p:nvSpPr>
        <p:spPr>
          <a:xfrm>
            <a:off x="948731" y="873693"/>
            <a:ext cx="4407249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27000">
              <a:schemeClr val="accent6">
                <a:lumMod val="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RANDOM TEST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06E47-756C-721C-30C5-F79CF30B9718}"/>
              </a:ext>
            </a:extLst>
          </p:cNvPr>
          <p:cNvSpPr/>
          <p:nvPr/>
        </p:nvSpPr>
        <p:spPr>
          <a:xfrm>
            <a:off x="1180293" y="1024364"/>
            <a:ext cx="9946129" cy="3742918"/>
          </a:xfrm>
          <a:prstGeom prst="rect">
            <a:avLst/>
          </a:prstGeom>
          <a:solidFill>
            <a:srgbClr val="C0000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777AF3-F450-4E3C-8072-5CEC880FCDBC}"/>
              </a:ext>
            </a:extLst>
          </p:cNvPr>
          <p:cNvSpPr txBox="1"/>
          <p:nvPr/>
        </p:nvSpPr>
        <p:spPr>
          <a:xfrm>
            <a:off x="1249813" y="1060319"/>
            <a:ext cx="4150993" cy="40011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glow rad="127000">
              <a:srgbClr val="C00000">
                <a:alpha val="4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alpha val="60000"/>
                  </a:schemeClr>
                </a:solidFill>
              </a:rPr>
              <a:t>RANDOM ERROR INJECTION TEST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3B882F-1096-122B-1E08-58AA501FCB0F}"/>
              </a:ext>
            </a:extLst>
          </p:cNvPr>
          <p:cNvSpPr/>
          <p:nvPr/>
        </p:nvSpPr>
        <p:spPr>
          <a:xfrm>
            <a:off x="1579609" y="1242353"/>
            <a:ext cx="9946129" cy="3742918"/>
          </a:xfrm>
          <a:prstGeom prst="rect">
            <a:avLst/>
          </a:prstGeom>
          <a:solidFill>
            <a:srgbClr val="002060"/>
          </a:solidFill>
          <a:ln w="34925">
            <a:noFill/>
          </a:ln>
          <a:effectLst/>
          <a:scene3d>
            <a:camera prst="orthographicFront">
              <a:rot lat="0" lon="0" rev="0"/>
            </a:camera>
            <a:lightRig rig="sunset" dir="t"/>
          </a:scene3d>
          <a:sp3d extrusionH="76200" contourW="12700" prstMaterial="clear">
            <a:bevelT/>
            <a:bevelB w="0" h="0"/>
            <a:extrusionClr>
              <a:schemeClr val="tx2">
                <a:lumMod val="10000"/>
                <a:lumOff val="9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gradFill>
                  <a:gsLst>
                    <a:gs pos="0">
                      <a:srgbClr val="7030A0"/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solidFill>
                <a:schemeClr val="lt1">
                  <a:alpha val="8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32DF14-16D9-DFD9-0D34-FEE77F16419E}"/>
              </a:ext>
            </a:extLst>
          </p:cNvPr>
          <p:cNvSpPr txBox="1"/>
          <p:nvPr/>
        </p:nvSpPr>
        <p:spPr>
          <a:xfrm>
            <a:off x="1644081" y="1224146"/>
            <a:ext cx="3711900" cy="40011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glow rad="127000">
              <a:schemeClr val="accent4"/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matte">
            <a:bevelT h="635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alpha val="64000"/>
                  </a:schemeClr>
                </a:solidFill>
              </a:rPr>
              <a:t>RANDOM RESET THRICE TEST</a:t>
            </a:r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D9E06A7-D143-AF44-313C-C0AEB509A581}"/>
              </a:ext>
            </a:extLst>
          </p:cNvPr>
          <p:cNvSpPr/>
          <p:nvPr/>
        </p:nvSpPr>
        <p:spPr>
          <a:xfrm>
            <a:off x="2508445" y="2282183"/>
            <a:ext cx="233307" cy="486964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A54F400-A291-A23A-F52E-4467A8DE6E01}"/>
              </a:ext>
            </a:extLst>
          </p:cNvPr>
          <p:cNvGrpSpPr/>
          <p:nvPr/>
        </p:nvGrpSpPr>
        <p:grpSpPr>
          <a:xfrm>
            <a:off x="1920367" y="1820759"/>
            <a:ext cx="1642770" cy="522853"/>
            <a:chOff x="1850583" y="2534186"/>
            <a:chExt cx="1932523" cy="52285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3B6FA90-8FB6-DE97-ABB3-35D23E313437}"/>
                </a:ext>
              </a:extLst>
            </p:cNvPr>
            <p:cNvSpPr/>
            <p:nvPr/>
          </p:nvSpPr>
          <p:spPr>
            <a:xfrm>
              <a:off x="1850583" y="2534186"/>
              <a:ext cx="1932523" cy="52285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1A21838-5575-2BBE-B3C2-D324EE85C0DB}"/>
                </a:ext>
              </a:extLst>
            </p:cNvPr>
            <p:cNvSpPr txBox="1"/>
            <p:nvPr/>
          </p:nvSpPr>
          <p:spPr>
            <a:xfrm>
              <a:off x="1850585" y="2623767"/>
              <a:ext cx="1932521" cy="338554"/>
            </a:xfrm>
            <a:prstGeom prst="rect">
              <a:avLst/>
            </a:prstGeom>
            <a:noFill/>
            <a:ln>
              <a:noFill/>
            </a:ln>
            <a:effectLst>
              <a:glow rad="127000">
                <a:schemeClr val="accent1"/>
              </a:glow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GENERATOR</a:t>
              </a:r>
              <a:endParaRPr lang="en-US" b="1" dirty="0"/>
            </a:p>
          </p:txBody>
        </p:sp>
      </p:grpSp>
      <p:sp>
        <p:nvSpPr>
          <p:cNvPr id="43" name="Arrow: Down 42">
            <a:extLst>
              <a:ext uri="{FF2B5EF4-FFF2-40B4-BE49-F238E27FC236}">
                <a16:creationId xmlns:a16="http://schemas.microsoft.com/office/drawing/2014/main" id="{801BC04A-9DC8-0F05-2BFF-3BC78F2BCDEC}"/>
              </a:ext>
            </a:extLst>
          </p:cNvPr>
          <p:cNvSpPr/>
          <p:nvPr/>
        </p:nvSpPr>
        <p:spPr>
          <a:xfrm flipH="1" flipV="1">
            <a:off x="2708726" y="3288856"/>
            <a:ext cx="274573" cy="706551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A3A314D-0727-BB40-2B0A-528EE031B3E6}"/>
              </a:ext>
            </a:extLst>
          </p:cNvPr>
          <p:cNvGrpSpPr/>
          <p:nvPr/>
        </p:nvGrpSpPr>
        <p:grpSpPr>
          <a:xfrm>
            <a:off x="2075507" y="2749514"/>
            <a:ext cx="1055052" cy="550959"/>
            <a:chOff x="2115670" y="3926869"/>
            <a:chExt cx="1864647" cy="661333"/>
          </a:xfrm>
          <a:effectLst>
            <a:glow rad="101600">
              <a:schemeClr val="accent6">
                <a:lumMod val="50000"/>
                <a:alpha val="60000"/>
              </a:schemeClr>
            </a:glow>
          </a:effectLst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F66360-C756-E6AC-CCA3-CB8D78BFEC9D}"/>
                </a:ext>
              </a:extLst>
            </p:cNvPr>
            <p:cNvSpPr/>
            <p:nvPr/>
          </p:nvSpPr>
          <p:spPr>
            <a:xfrm>
              <a:off x="2115670" y="3926869"/>
              <a:ext cx="1864646" cy="66133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3D06DB5-C2E2-4AA0-36BA-7749751A8F51}"/>
                </a:ext>
              </a:extLst>
            </p:cNvPr>
            <p:cNvSpPr txBox="1"/>
            <p:nvPr/>
          </p:nvSpPr>
          <p:spPr>
            <a:xfrm>
              <a:off x="2115671" y="4081729"/>
              <a:ext cx="18646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DRIVER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592041-3B95-134C-7C2B-3199F53C1DF6}"/>
              </a:ext>
            </a:extLst>
          </p:cNvPr>
          <p:cNvGrpSpPr/>
          <p:nvPr/>
        </p:nvGrpSpPr>
        <p:grpSpPr>
          <a:xfrm>
            <a:off x="3267670" y="2698107"/>
            <a:ext cx="1506268" cy="642892"/>
            <a:chOff x="2115669" y="4027912"/>
            <a:chExt cx="1864647" cy="560291"/>
          </a:xfrm>
          <a:effectLst>
            <a:glow rad="63500">
              <a:schemeClr val="accent4">
                <a:alpha val="40000"/>
              </a:schemeClr>
            </a:glow>
          </a:effectLst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5AF7EC-51E2-8616-4755-2720373CCF03}"/>
                </a:ext>
              </a:extLst>
            </p:cNvPr>
            <p:cNvSpPr/>
            <p:nvPr/>
          </p:nvSpPr>
          <p:spPr>
            <a:xfrm>
              <a:off x="2115670" y="4027912"/>
              <a:ext cx="1864646" cy="56029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867A2C-77E0-DD80-B572-B63C9BE09BB2}"/>
                </a:ext>
              </a:extLst>
            </p:cNvPr>
            <p:cNvSpPr txBox="1"/>
            <p:nvPr/>
          </p:nvSpPr>
          <p:spPr>
            <a:xfrm>
              <a:off x="2115669" y="4078433"/>
              <a:ext cx="1864647" cy="379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INPUT</a:t>
              </a:r>
              <a:br>
                <a:rPr lang="en-US" sz="1600" b="1" dirty="0"/>
              </a:br>
              <a:r>
                <a:rPr lang="en-US" sz="1600" b="1" dirty="0"/>
                <a:t>MONITOR</a:t>
              </a:r>
            </a:p>
          </p:txBody>
        </p:sp>
      </p:grpSp>
      <p:sp>
        <p:nvSpPr>
          <p:cNvPr id="42" name="Arrow: Down 41">
            <a:extLst>
              <a:ext uri="{FF2B5EF4-FFF2-40B4-BE49-F238E27FC236}">
                <a16:creationId xmlns:a16="http://schemas.microsoft.com/office/drawing/2014/main" id="{9D807C76-7B07-8199-31EB-441F7127F3A5}"/>
              </a:ext>
            </a:extLst>
          </p:cNvPr>
          <p:cNvSpPr/>
          <p:nvPr/>
        </p:nvSpPr>
        <p:spPr>
          <a:xfrm>
            <a:off x="2366783" y="3316080"/>
            <a:ext cx="274573" cy="699919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Arrow: Up 66">
            <a:extLst>
              <a:ext uri="{FF2B5EF4-FFF2-40B4-BE49-F238E27FC236}">
                <a16:creationId xmlns:a16="http://schemas.microsoft.com/office/drawing/2014/main" id="{8B51A975-7187-3BBA-30E6-9D32C5E49F78}"/>
              </a:ext>
            </a:extLst>
          </p:cNvPr>
          <p:cNvSpPr/>
          <p:nvPr/>
        </p:nvSpPr>
        <p:spPr>
          <a:xfrm flipV="1">
            <a:off x="2645300" y="5023535"/>
            <a:ext cx="327233" cy="934629"/>
          </a:xfrm>
          <a:prstGeom prst="upArrow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Arrow: Up-Down 51">
            <a:extLst>
              <a:ext uri="{FF2B5EF4-FFF2-40B4-BE49-F238E27FC236}">
                <a16:creationId xmlns:a16="http://schemas.microsoft.com/office/drawing/2014/main" id="{D2B6D1DE-5AFD-1711-F17B-8A80D400A4E0}"/>
              </a:ext>
            </a:extLst>
          </p:cNvPr>
          <p:cNvSpPr/>
          <p:nvPr/>
        </p:nvSpPr>
        <p:spPr>
          <a:xfrm>
            <a:off x="3130559" y="4307075"/>
            <a:ext cx="223866" cy="691327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123779C-A919-86DC-463A-C02F162A1D8D}"/>
              </a:ext>
            </a:extLst>
          </p:cNvPr>
          <p:cNvGrpSpPr/>
          <p:nvPr/>
        </p:nvGrpSpPr>
        <p:grpSpPr>
          <a:xfrm>
            <a:off x="2181192" y="4995938"/>
            <a:ext cx="2198582" cy="338554"/>
            <a:chOff x="2133640" y="6156522"/>
            <a:chExt cx="2456919" cy="378728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BB6064A-60E9-C8FE-D6E6-0F8F551FD760}"/>
                </a:ext>
              </a:extLst>
            </p:cNvPr>
            <p:cNvSpPr/>
            <p:nvPr/>
          </p:nvSpPr>
          <p:spPr>
            <a:xfrm>
              <a:off x="2133640" y="6174611"/>
              <a:ext cx="2456919" cy="31551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953FE54-23B4-9A2A-4811-3A5E56027E51}"/>
                </a:ext>
              </a:extLst>
            </p:cNvPr>
            <p:cNvSpPr txBox="1"/>
            <p:nvPr/>
          </p:nvSpPr>
          <p:spPr>
            <a:xfrm>
              <a:off x="2133640" y="6156522"/>
              <a:ext cx="2447933" cy="378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Interface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DB555CC-BC1B-341A-338A-CC4D6A0BCB2B}"/>
              </a:ext>
            </a:extLst>
          </p:cNvPr>
          <p:cNvGrpSpPr/>
          <p:nvPr/>
        </p:nvGrpSpPr>
        <p:grpSpPr>
          <a:xfrm>
            <a:off x="1834739" y="3963777"/>
            <a:ext cx="2891489" cy="338554"/>
            <a:chOff x="4795506" y="4207214"/>
            <a:chExt cx="2891489" cy="338554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DAEA5C5-1E9C-88D9-CEDD-076B9E38B044}"/>
                </a:ext>
              </a:extLst>
            </p:cNvPr>
            <p:cNvSpPr/>
            <p:nvPr/>
          </p:nvSpPr>
          <p:spPr>
            <a:xfrm>
              <a:off x="4795506" y="4257015"/>
              <a:ext cx="2891489" cy="282051"/>
            </a:xfrm>
            <a:prstGeom prst="rect">
              <a:avLst/>
            </a:prstGeom>
            <a:solidFill>
              <a:srgbClr val="660033"/>
            </a:solidFill>
            <a:ln>
              <a:solidFill>
                <a:srgbClr val="660033"/>
              </a:solidFill>
            </a:ln>
            <a:effectLst>
              <a:glow rad="101600">
                <a:srgbClr val="660033">
                  <a:alpha val="40000"/>
                </a:srgb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AC40B73-D62A-61B9-7428-B79C0FD67CA8}"/>
                </a:ext>
              </a:extLst>
            </p:cNvPr>
            <p:cNvSpPr txBox="1"/>
            <p:nvPr/>
          </p:nvSpPr>
          <p:spPr>
            <a:xfrm>
              <a:off x="5036274" y="4207214"/>
              <a:ext cx="2492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Virtual Interface</a:t>
              </a:r>
            </a:p>
          </p:txBody>
        </p:sp>
      </p:grpSp>
      <p:sp>
        <p:nvSpPr>
          <p:cNvPr id="56" name="Arrow: Down 55">
            <a:extLst>
              <a:ext uri="{FF2B5EF4-FFF2-40B4-BE49-F238E27FC236}">
                <a16:creationId xmlns:a16="http://schemas.microsoft.com/office/drawing/2014/main" id="{B3E696C0-2D98-4613-FA5A-44B4FFAA916E}"/>
              </a:ext>
            </a:extLst>
          </p:cNvPr>
          <p:cNvSpPr/>
          <p:nvPr/>
        </p:nvSpPr>
        <p:spPr>
          <a:xfrm flipH="1" flipV="1">
            <a:off x="3904149" y="3350291"/>
            <a:ext cx="233307" cy="60678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Up 63">
            <a:extLst>
              <a:ext uri="{FF2B5EF4-FFF2-40B4-BE49-F238E27FC236}">
                <a16:creationId xmlns:a16="http://schemas.microsoft.com/office/drawing/2014/main" id="{238FDF18-03DA-E169-51BA-9A758E8C99DB}"/>
              </a:ext>
            </a:extLst>
          </p:cNvPr>
          <p:cNvSpPr/>
          <p:nvPr/>
        </p:nvSpPr>
        <p:spPr>
          <a:xfrm>
            <a:off x="3716000" y="5256992"/>
            <a:ext cx="327233" cy="727315"/>
          </a:xfrm>
          <a:prstGeom prst="upArrow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Arrow: Up 111">
            <a:extLst>
              <a:ext uri="{FF2B5EF4-FFF2-40B4-BE49-F238E27FC236}">
                <a16:creationId xmlns:a16="http://schemas.microsoft.com/office/drawing/2014/main" id="{FFE2CF37-EAE0-E8AA-F4BA-F3EA344A214D}"/>
              </a:ext>
            </a:extLst>
          </p:cNvPr>
          <p:cNvSpPr/>
          <p:nvPr/>
        </p:nvSpPr>
        <p:spPr>
          <a:xfrm>
            <a:off x="9435483" y="5292852"/>
            <a:ext cx="327233" cy="701173"/>
          </a:xfrm>
          <a:prstGeom prst="upArrow">
            <a:avLst/>
          </a:prstGeom>
          <a:solidFill>
            <a:srgbClr val="C000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6C32297-4633-F2E9-0EAA-D7D0882977D6}"/>
              </a:ext>
            </a:extLst>
          </p:cNvPr>
          <p:cNvSpPr/>
          <p:nvPr/>
        </p:nvSpPr>
        <p:spPr>
          <a:xfrm>
            <a:off x="5823096" y="1820759"/>
            <a:ext cx="2061880" cy="91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SCOREBOARD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6894AB7C-C2F0-714C-8646-09753F2B5975}"/>
              </a:ext>
            </a:extLst>
          </p:cNvPr>
          <p:cNvSpPr/>
          <p:nvPr/>
        </p:nvSpPr>
        <p:spPr>
          <a:xfrm>
            <a:off x="5823096" y="3078432"/>
            <a:ext cx="2061880" cy="91697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101600">
              <a:srgbClr val="C00000">
                <a:alpha val="60000"/>
              </a:srgbClr>
            </a:glo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Coverage Collector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74A0FEA-1F71-5595-173C-357A4C675CBE}"/>
              </a:ext>
            </a:extLst>
          </p:cNvPr>
          <p:cNvGrpSpPr/>
          <p:nvPr/>
        </p:nvGrpSpPr>
        <p:grpSpPr>
          <a:xfrm>
            <a:off x="8965933" y="2701311"/>
            <a:ext cx="1506268" cy="642892"/>
            <a:chOff x="2115669" y="4027912"/>
            <a:chExt cx="1864647" cy="560291"/>
          </a:xfrm>
          <a:effectLst>
            <a:glow rad="63500">
              <a:schemeClr val="accent4">
                <a:alpha val="40000"/>
              </a:schemeClr>
            </a:glow>
          </a:effectLst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F4BF24A-9096-17C0-EE92-0F52A65E319B}"/>
                </a:ext>
              </a:extLst>
            </p:cNvPr>
            <p:cNvSpPr/>
            <p:nvPr/>
          </p:nvSpPr>
          <p:spPr>
            <a:xfrm>
              <a:off x="2115670" y="4027912"/>
              <a:ext cx="1864646" cy="56029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1F2C05C-DCC5-5171-037D-0411C7AB6172}"/>
                </a:ext>
              </a:extLst>
            </p:cNvPr>
            <p:cNvSpPr txBox="1"/>
            <p:nvPr/>
          </p:nvSpPr>
          <p:spPr>
            <a:xfrm>
              <a:off x="2115669" y="4078433"/>
              <a:ext cx="1864647" cy="509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OUTPUT</a:t>
              </a:r>
              <a:br>
                <a:rPr lang="en-US" sz="1600" b="1" dirty="0"/>
              </a:br>
              <a:r>
                <a:rPr lang="en-US" sz="1600" b="1" dirty="0"/>
                <a:t>MONITOR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ADCB3C5-2632-E406-7B59-71AAACA3F8C6}"/>
              </a:ext>
            </a:extLst>
          </p:cNvPr>
          <p:cNvGrpSpPr/>
          <p:nvPr/>
        </p:nvGrpSpPr>
        <p:grpSpPr>
          <a:xfrm>
            <a:off x="8362076" y="3963558"/>
            <a:ext cx="2312953" cy="338554"/>
            <a:chOff x="4795506" y="4207214"/>
            <a:chExt cx="2891489" cy="338554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2DB15D7-02B6-00BC-BCFE-66EB1F7F5326}"/>
                </a:ext>
              </a:extLst>
            </p:cNvPr>
            <p:cNvSpPr/>
            <p:nvPr/>
          </p:nvSpPr>
          <p:spPr>
            <a:xfrm>
              <a:off x="4795506" y="4257015"/>
              <a:ext cx="2891489" cy="282051"/>
            </a:xfrm>
            <a:prstGeom prst="rect">
              <a:avLst/>
            </a:prstGeom>
            <a:solidFill>
              <a:srgbClr val="660033"/>
            </a:solidFill>
            <a:ln>
              <a:solidFill>
                <a:srgbClr val="660033"/>
              </a:solidFill>
            </a:ln>
            <a:effectLst>
              <a:glow rad="101600">
                <a:srgbClr val="660033">
                  <a:alpha val="40000"/>
                </a:srgbClr>
              </a:glow>
            </a:effectLst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8842AA90-A5E1-C3B4-A396-1F8B58F09749}"/>
                </a:ext>
              </a:extLst>
            </p:cNvPr>
            <p:cNvSpPr txBox="1"/>
            <p:nvPr/>
          </p:nvSpPr>
          <p:spPr>
            <a:xfrm>
              <a:off x="5036274" y="4207214"/>
              <a:ext cx="24928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Virtual Interface</a:t>
              </a:r>
            </a:p>
          </p:txBody>
        </p:sp>
      </p:grpSp>
      <p:sp>
        <p:nvSpPr>
          <p:cNvPr id="107" name="Arrow: Down 106">
            <a:extLst>
              <a:ext uri="{FF2B5EF4-FFF2-40B4-BE49-F238E27FC236}">
                <a16:creationId xmlns:a16="http://schemas.microsoft.com/office/drawing/2014/main" id="{A82F31FE-0444-E860-CE94-CAB1D96BBA1A}"/>
              </a:ext>
            </a:extLst>
          </p:cNvPr>
          <p:cNvSpPr/>
          <p:nvPr/>
        </p:nvSpPr>
        <p:spPr>
          <a:xfrm flipH="1" flipV="1">
            <a:off x="9498123" y="3359254"/>
            <a:ext cx="233307" cy="606783"/>
          </a:xfrm>
          <a:prstGeom prst="downArrow">
            <a:avLst/>
          </a:pr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C9066A0-16DC-E820-DA3B-9FE00A0D9DE4}"/>
              </a:ext>
            </a:extLst>
          </p:cNvPr>
          <p:cNvGrpSpPr/>
          <p:nvPr/>
        </p:nvGrpSpPr>
        <p:grpSpPr>
          <a:xfrm>
            <a:off x="8492343" y="4995938"/>
            <a:ext cx="2198582" cy="338554"/>
            <a:chOff x="2133640" y="6156522"/>
            <a:chExt cx="2456919" cy="378728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08B7386-B365-35AE-D4C2-9AE672875E32}"/>
                </a:ext>
              </a:extLst>
            </p:cNvPr>
            <p:cNvSpPr/>
            <p:nvPr/>
          </p:nvSpPr>
          <p:spPr>
            <a:xfrm>
              <a:off x="2133640" y="6174611"/>
              <a:ext cx="2456919" cy="31551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48614A7-78B2-9710-9117-45E3C505DBD1}"/>
                </a:ext>
              </a:extLst>
            </p:cNvPr>
            <p:cNvSpPr txBox="1"/>
            <p:nvPr/>
          </p:nvSpPr>
          <p:spPr>
            <a:xfrm>
              <a:off x="2133640" y="6156522"/>
              <a:ext cx="2447933" cy="3787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Interface</a:t>
              </a:r>
            </a:p>
          </p:txBody>
        </p:sp>
      </p:grpSp>
      <p:sp>
        <p:nvSpPr>
          <p:cNvPr id="113" name="Arrow: Up-Down 112">
            <a:extLst>
              <a:ext uri="{FF2B5EF4-FFF2-40B4-BE49-F238E27FC236}">
                <a16:creationId xmlns:a16="http://schemas.microsoft.com/office/drawing/2014/main" id="{DFE0E9EA-6628-1AD9-D695-575B4799EE51}"/>
              </a:ext>
            </a:extLst>
          </p:cNvPr>
          <p:cNvSpPr/>
          <p:nvPr/>
        </p:nvSpPr>
        <p:spPr>
          <a:xfrm>
            <a:off x="9468601" y="4307077"/>
            <a:ext cx="223866" cy="673378"/>
          </a:xfrm>
          <a:prstGeom prst="up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913963D9-CE93-0880-F77C-C599B2E701AA}"/>
              </a:ext>
            </a:extLst>
          </p:cNvPr>
          <p:cNvSpPr/>
          <p:nvPr/>
        </p:nvSpPr>
        <p:spPr>
          <a:xfrm rot="16200000" flipH="1" flipV="1">
            <a:off x="4621879" y="2431104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5" name="Freeform: Shape 124">
            <a:extLst>
              <a:ext uri="{FF2B5EF4-FFF2-40B4-BE49-F238E27FC236}">
                <a16:creationId xmlns:a16="http://schemas.microsoft.com/office/drawing/2014/main" id="{6FF76322-64D4-D788-041E-F85A8E527B85}"/>
              </a:ext>
            </a:extLst>
          </p:cNvPr>
          <p:cNvSpPr/>
          <p:nvPr/>
        </p:nvSpPr>
        <p:spPr>
          <a:xfrm rot="5400000" flipV="1">
            <a:off x="7786422" y="2431104"/>
            <a:ext cx="1312190" cy="1011496"/>
          </a:xfrm>
          <a:custGeom>
            <a:avLst/>
            <a:gdLst>
              <a:gd name="connsiteX0" fmla="*/ 0 w 1312190"/>
              <a:gd name="connsiteY0" fmla="*/ 116928 h 1011496"/>
              <a:gd name="connsiteX1" fmla="*/ 115447 w 1312190"/>
              <a:gd name="connsiteY1" fmla="*/ 1481 h 1011496"/>
              <a:gd name="connsiteX2" fmla="*/ 230894 w 1312190"/>
              <a:gd name="connsiteY2" fmla="*/ 116928 h 1011496"/>
              <a:gd name="connsiteX3" fmla="*/ 173171 w 1312190"/>
              <a:gd name="connsiteY3" fmla="*/ 116928 h 1011496"/>
              <a:gd name="connsiteX4" fmla="*/ 173171 w 1312190"/>
              <a:gd name="connsiteY4" fmla="*/ 397246 h 1011496"/>
              <a:gd name="connsiteX5" fmla="*/ 639217 w 1312190"/>
              <a:gd name="connsiteY5" fmla="*/ 397246 h 1011496"/>
              <a:gd name="connsiteX6" fmla="*/ 639217 w 1312190"/>
              <a:gd name="connsiteY6" fmla="*/ 397243 h 1011496"/>
              <a:gd name="connsiteX7" fmla="*/ 1139019 w 1312190"/>
              <a:gd name="connsiteY7" fmla="*/ 397243 h 1011496"/>
              <a:gd name="connsiteX8" fmla="*/ 1139019 w 1312190"/>
              <a:gd name="connsiteY8" fmla="*/ 115449 h 1011496"/>
              <a:gd name="connsiteX9" fmla="*/ 1081295 w 1312190"/>
              <a:gd name="connsiteY9" fmla="*/ 115449 h 1011496"/>
              <a:gd name="connsiteX10" fmla="*/ 1196743 w 1312190"/>
              <a:gd name="connsiteY10" fmla="*/ 0 h 1011496"/>
              <a:gd name="connsiteX11" fmla="*/ 1312190 w 1312190"/>
              <a:gd name="connsiteY11" fmla="*/ 115449 h 1011496"/>
              <a:gd name="connsiteX12" fmla="*/ 1254466 w 1312190"/>
              <a:gd name="connsiteY12" fmla="*/ 115449 h 1011496"/>
              <a:gd name="connsiteX13" fmla="*/ 1254466 w 1312190"/>
              <a:gd name="connsiteY13" fmla="*/ 513915 h 1011496"/>
              <a:gd name="connsiteX14" fmla="*/ 1246000 w 1312190"/>
              <a:gd name="connsiteY14" fmla="*/ 513915 h 1011496"/>
              <a:gd name="connsiteX15" fmla="*/ 1246000 w 1312190"/>
              <a:gd name="connsiteY15" fmla="*/ 516940 h 1011496"/>
              <a:gd name="connsiteX16" fmla="*/ 778347 w 1312190"/>
              <a:gd name="connsiteY16" fmla="*/ 516940 h 1011496"/>
              <a:gd name="connsiteX17" fmla="*/ 778347 w 1312190"/>
              <a:gd name="connsiteY17" fmla="*/ 1011496 h 1011496"/>
              <a:gd name="connsiteX18" fmla="*/ 658650 w 1312190"/>
              <a:gd name="connsiteY18" fmla="*/ 1011496 h 1011496"/>
              <a:gd name="connsiteX19" fmla="*/ 658650 w 1312190"/>
              <a:gd name="connsiteY19" fmla="*/ 516943 h 1011496"/>
              <a:gd name="connsiteX20" fmla="*/ 92374 w 1312190"/>
              <a:gd name="connsiteY20" fmla="*/ 516943 h 1011496"/>
              <a:gd name="connsiteX21" fmla="*/ 92374 w 1312190"/>
              <a:gd name="connsiteY21" fmla="*/ 515394 h 1011496"/>
              <a:gd name="connsiteX22" fmla="*/ 57724 w 1312190"/>
              <a:gd name="connsiteY22" fmla="*/ 515394 h 1011496"/>
              <a:gd name="connsiteX23" fmla="*/ 57724 w 1312190"/>
              <a:gd name="connsiteY23" fmla="*/ 116928 h 1011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312190" h="1011496">
                <a:moveTo>
                  <a:pt x="0" y="116928"/>
                </a:moveTo>
                <a:lnTo>
                  <a:pt x="115447" y="1481"/>
                </a:lnTo>
                <a:lnTo>
                  <a:pt x="230894" y="116928"/>
                </a:lnTo>
                <a:lnTo>
                  <a:pt x="173171" y="116928"/>
                </a:lnTo>
                <a:lnTo>
                  <a:pt x="173171" y="397246"/>
                </a:lnTo>
                <a:lnTo>
                  <a:pt x="639217" y="397246"/>
                </a:lnTo>
                <a:lnTo>
                  <a:pt x="639217" y="397243"/>
                </a:lnTo>
                <a:lnTo>
                  <a:pt x="1139019" y="397243"/>
                </a:lnTo>
                <a:lnTo>
                  <a:pt x="1139019" y="115449"/>
                </a:lnTo>
                <a:lnTo>
                  <a:pt x="1081295" y="115449"/>
                </a:lnTo>
                <a:lnTo>
                  <a:pt x="1196743" y="0"/>
                </a:lnTo>
                <a:lnTo>
                  <a:pt x="1312190" y="115449"/>
                </a:lnTo>
                <a:lnTo>
                  <a:pt x="1254466" y="115449"/>
                </a:lnTo>
                <a:lnTo>
                  <a:pt x="1254466" y="513915"/>
                </a:lnTo>
                <a:lnTo>
                  <a:pt x="1246000" y="513915"/>
                </a:lnTo>
                <a:lnTo>
                  <a:pt x="1246000" y="516940"/>
                </a:lnTo>
                <a:lnTo>
                  <a:pt x="778347" y="516940"/>
                </a:lnTo>
                <a:lnTo>
                  <a:pt x="778347" y="1011496"/>
                </a:lnTo>
                <a:lnTo>
                  <a:pt x="658650" y="1011496"/>
                </a:lnTo>
                <a:lnTo>
                  <a:pt x="658650" y="516943"/>
                </a:lnTo>
                <a:lnTo>
                  <a:pt x="92374" y="516943"/>
                </a:lnTo>
                <a:lnTo>
                  <a:pt x="92374" y="515394"/>
                </a:lnTo>
                <a:lnTo>
                  <a:pt x="57724" y="515394"/>
                </a:lnTo>
                <a:lnTo>
                  <a:pt x="57724" y="116928"/>
                </a:lnTo>
                <a:close/>
              </a:path>
            </a:pathLst>
          </a:custGeom>
          <a:solidFill>
            <a:schemeClr val="bg1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7388C0E-3A4F-A017-BE56-50182F7D9FFB}"/>
              </a:ext>
            </a:extLst>
          </p:cNvPr>
          <p:cNvSpPr/>
          <p:nvPr/>
        </p:nvSpPr>
        <p:spPr>
          <a:xfrm>
            <a:off x="1180293" y="5998499"/>
            <a:ext cx="9648319" cy="40682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83111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1" grpId="0" animBg="1"/>
      <p:bldP spid="13" grpId="0" animBg="1"/>
      <p:bldP spid="4" grpId="0" animBg="1"/>
      <p:bldP spid="14" grpId="0" animBg="1"/>
      <p:bldP spid="18" grpId="0" animBg="1"/>
      <p:bldP spid="19" grpId="0" animBg="1"/>
      <p:bldP spid="37" grpId="0" animBg="1"/>
      <p:bldP spid="43" grpId="0" animBg="1"/>
      <p:bldP spid="42" grpId="0" animBg="1"/>
      <p:bldP spid="67" grpId="0" animBg="1"/>
      <p:bldP spid="52" grpId="0" animBg="1"/>
      <p:bldP spid="56" grpId="0" animBg="1"/>
      <p:bldP spid="64" grpId="0" animBg="1"/>
      <p:bldP spid="112" grpId="0" animBg="1"/>
      <p:bldP spid="69" grpId="0" animBg="1"/>
      <p:bldP spid="93" grpId="0" animBg="1"/>
      <p:bldP spid="107" grpId="0" animBg="1"/>
      <p:bldP spid="113" grpId="0" animBg="1"/>
      <p:bldP spid="124" grpId="0" animBg="1"/>
      <p:bldP spid="125" grpId="0" animBg="1"/>
      <p:bldP spid="1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1A48-1007-A17E-6115-A7A390A14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979" y="3990404"/>
            <a:ext cx="5021182" cy="2566528"/>
          </a:xfrm>
        </p:spPr>
        <p:txBody>
          <a:bodyPr/>
          <a:lstStyle/>
          <a:p>
            <a:pPr algn="ctr"/>
            <a:r>
              <a:rPr lang="en-US" dirty="0"/>
              <a:t>Classes?</a:t>
            </a:r>
            <a:br>
              <a:rPr lang="en-US" dirty="0"/>
            </a:br>
            <a:r>
              <a:rPr lang="en-US" dirty="0"/>
              <a:t>What do they do?</a:t>
            </a:r>
          </a:p>
        </p:txBody>
      </p:sp>
      <p:pic>
        <p:nvPicPr>
          <p:cNvPr id="5" name="Content Placeholder 4" descr="A diagram of a dog&#10;&#10;AI-generated content may be incorrect.">
            <a:extLst>
              <a:ext uri="{FF2B5EF4-FFF2-40B4-BE49-F238E27FC236}">
                <a16:creationId xmlns:a16="http://schemas.microsoft.com/office/drawing/2014/main" id="{DBCB8EDD-CB20-EBB5-7FF9-9F217B383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37" y="823659"/>
            <a:ext cx="4870450" cy="4870450"/>
          </a:xfrm>
        </p:spPr>
      </p:pic>
      <p:pic>
        <p:nvPicPr>
          <p:cNvPr id="7" name="Picture 6" descr="A hand holding a spray object&#10;&#10;AI-generated content may be incorrect.">
            <a:extLst>
              <a:ext uri="{FF2B5EF4-FFF2-40B4-BE49-F238E27FC236}">
                <a16:creationId xmlns:a16="http://schemas.microsoft.com/office/drawing/2014/main" id="{4C1254D2-491A-E455-493C-532E36753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482" y="1231852"/>
            <a:ext cx="4106445" cy="256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37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8A9ECE-6CA8-4607-D69B-8F229A7A3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6469DC8-514B-0EA9-DB75-0C049C43C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4632105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6D13AEF-59EE-9B75-B0F1-A834C578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Driver &amp; Driver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CB08B4-7A51-7617-4367-266818C574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6E193F-1F18-1D44-C806-875E991D7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D86DF4-63D8-9F4D-0A50-0E11262C64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B39267F3-6691-40D4-0548-1EAFF3720A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3425145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5F5F6DE-ACF0-942A-3498-CE77BC0C4076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1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2C051F-E073-2CB7-BCD0-80C8BA58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16289C7-840B-D9C7-6ED7-87A8C14388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7793682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530C0DF-D514-530F-9DE0-40590F325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740152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outputMonitor</a:t>
            </a:r>
            <a:r>
              <a:rPr lang="en-US" sz="4400" dirty="0"/>
              <a:t> &amp; </a:t>
            </a:r>
            <a:r>
              <a:rPr lang="en-US" sz="4400" dirty="0" err="1"/>
              <a:t>outputMonitor</a:t>
            </a:r>
            <a:r>
              <a:rPr lang="en-US" sz="4400" dirty="0"/>
              <a:t>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DB8625-D9F4-EF69-6221-48AE2D26D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3CB75-22CF-7920-C80C-50AC4FDDA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D18C7F-8CD9-6446-7ECA-CBA582D6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47918101-6EA2-60D6-E3ED-C79BD00667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833970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DB758882-5824-F6EB-478C-6DA4BA8875C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6E65AA-9EE7-3162-3D00-AC193275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FD02A58-167F-A9BD-EDD8-68256A3288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591292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2AB1577-2CB6-4DCB-7CD7-0F3D271D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20600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inputMonitor</a:t>
            </a:r>
            <a:r>
              <a:rPr lang="en-US" sz="4400" dirty="0"/>
              <a:t> &amp; </a:t>
            </a:r>
            <a:r>
              <a:rPr lang="en-US" sz="4400" dirty="0" err="1"/>
              <a:t>inputMonitor</a:t>
            </a:r>
            <a:r>
              <a:rPr lang="en-US" sz="4400" dirty="0"/>
              <a:t>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AED0C-B355-B40C-258A-6C63E68671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8BD224-4551-5A24-9BF1-837AA5AFF0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836D79-6453-3C34-AFC9-7EF888A9B2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74406D7-349E-55C6-B23F-FB0E2BFEA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392299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DC39559-C294-301A-578D-EA51CC245888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1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CB9EF-9CBF-6E6A-2929-3F1E8957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1CAC4E6-1D2A-6E1E-FA7B-62DDF9DA3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4967421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1AD5EF2-7D3F-0686-0C94-4BAEEC91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Coverage &amp; Coverage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94AF20-0D4E-6680-C91A-39B054D2E4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CFE751-E941-22DA-BA3F-00EA096B3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1E2C2B-F0DA-09C6-24CE-3A8743DC32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AAA2326E-255B-CA08-7F2B-35FAEFCD18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4780754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17247F1-DA70-7741-35A9-C54C4DC63FFE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5D00AAF-C665-BE42-EF5D-06C1886B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E2C015AC-3883-BA65-3611-EC11441EF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2416665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0CF42B1-B9E5-A835-4C52-FACC12FAA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Scoreboard &amp; Scoreboard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58EFA-1542-5715-9861-4DAA3688A8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C58147-AB4E-EF4F-6E4A-FB389B2367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79CBE8-8BF0-153B-2C2B-F0AA5DB387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92CC61A-292B-6D16-2599-541619C885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2963261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8D40219-14CE-922B-F345-E419D9D4F884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0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BD0F55-2FC0-8422-890D-678EC24B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3789D62-9B98-8735-6985-38F6C96F57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1763471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95E3BC-FCE9-ED91-5625-2C7BB7FC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Predictor &amp; Predictor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7F5C1-D03F-E7E2-2CCE-FEF803A63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B1972-0131-6353-2834-672FD620C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978B3C-287C-845B-74E2-F33AFB24E8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E3F68928-4563-DBB0-3D11-90B09C6F3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2028848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EA7E272-0BC7-FC28-78D5-1D8FA630E410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51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4AA3E1-BDD5-88C3-D69F-9ABD7E82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793CA44-B09B-6C73-75DC-583E57B2F9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8648573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D5D0DE3-7AAA-2FF6-F24B-0D66184B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Comparator &amp; Comparator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2BB31-469F-7D60-F636-9B60412F86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BBF7E7-6453-A935-A4CC-BFA4969ED8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D145F8-84DD-FB43-515A-8EB4F2B9A0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ECFDD47-A270-26EC-8EC5-DA4296DCD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5261271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17FFA01-4B07-471F-5BCB-5306A2F749FB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03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323916-9D7B-6466-D220-06C0233E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2488A753-D04E-F073-CD4C-E501A651F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104442"/>
              </p:ext>
            </p:extLst>
          </p:nvPr>
        </p:nvGraphicFramePr>
        <p:xfrm>
          <a:off x="2639377" y="1042017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B570857-CA81-4BCD-9AB9-09F89205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Transaction &amp; Transaction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779FE-872E-8E64-2615-893D70524C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945C9D-C946-BA38-A526-9CC3CA2508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1E78BC-B1B2-096E-1BFC-5269D69CA9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6AB3688B-29E7-43EA-68F7-AE829449A4B2}"/>
              </a:ext>
            </a:extLst>
          </p:cNvPr>
          <p:cNvGraphicFramePr/>
          <p:nvPr/>
        </p:nvGraphicFramePr>
        <p:xfrm>
          <a:off x="5451605" y="3460095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A519B2D1-382A-FDBE-3509-47980DB8C2DE}"/>
              </a:ext>
            </a:extLst>
          </p:cNvPr>
          <p:cNvGraphicFramePr/>
          <p:nvPr/>
        </p:nvGraphicFramePr>
        <p:xfrm>
          <a:off x="-94858" y="3460098"/>
          <a:ext cx="6665988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DAAE53D-F1A3-8E17-4D0D-F5BE9FE7BBCE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F1DB37B-B48C-CC06-BAE7-04713E72E8CA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828903" y="3206680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83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  <p:bldGraphic spid="21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B3A2D3-98BB-8136-4D3E-FDD3B515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619A7F9-AE45-B915-94F2-663180211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585065"/>
              </p:ext>
            </p:extLst>
          </p:nvPr>
        </p:nvGraphicFramePr>
        <p:xfrm>
          <a:off x="3897321" y="783445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BA1BA90-D030-2C41-9D6E-D481B80299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855732"/>
              </p:ext>
            </p:extLst>
          </p:nvPr>
        </p:nvGraphicFramePr>
        <p:xfrm>
          <a:off x="-172653" y="783447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24D876B-EAAF-6669-20A7-FFA97467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58" y="13363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Generator &amp; Generator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7506D-0180-3401-A00E-B62EFC48779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C48428-FB18-E5EA-CA15-80E7D3A838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C2E9E0-F6FD-6A1D-F3EA-6F62703664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EEB162AF-1A90-69C8-AEAC-0E8C9B248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871449"/>
              </p:ext>
            </p:extLst>
          </p:nvPr>
        </p:nvGraphicFramePr>
        <p:xfrm>
          <a:off x="7898968" y="3782822"/>
          <a:ext cx="4185454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29937272-53AB-ED64-3CA7-738E88559E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6836712"/>
              </p:ext>
            </p:extLst>
          </p:nvPr>
        </p:nvGraphicFramePr>
        <p:xfrm>
          <a:off x="4402733" y="3716019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7A015B17-23CA-7CAD-DFAD-20F7A578F7C9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E142DAAB-B91E-EBD6-B3FF-36F99669197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828903" y="3206680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EF7F19-D706-768B-E8D3-DB0708966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073061"/>
              </p:ext>
            </p:extLst>
          </p:nvPr>
        </p:nvGraphicFramePr>
        <p:xfrm>
          <a:off x="879607" y="3707057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5DA7FF45-BB3D-6155-9009-982561810B51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28900" y="1888870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4849D2E8-BE22-F02E-8A79-552E2F07F37A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79796" y="333218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16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398E60-59E5-80FD-B634-5F4F0A80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9314A4A-4CB4-72B8-789B-5990A68D8DBF}"/>
              </a:ext>
            </a:extLst>
          </p:cNvPr>
          <p:cNvGraphicFramePr/>
          <p:nvPr/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1D4CB41-F28A-18FC-7515-106E0729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Comparator &amp; Comparator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6EA30-B3BD-E776-D201-FBB7116EDF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4D666-4514-F18D-F1C6-B1407D898C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B5F332-B628-8BF9-D6F6-9A160F502F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89E955DA-990C-801E-E90F-7CA189D3C675}"/>
              </a:ext>
            </a:extLst>
          </p:cNvPr>
          <p:cNvGraphicFramePr/>
          <p:nvPr/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81FFD3B3-BF8C-06B7-82D1-BA952BCE3932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2BDB5-7B79-64EC-840C-6521F930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04589C9-A140-F036-6C5F-F1280903F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8505974"/>
              </p:ext>
            </p:extLst>
          </p:nvPr>
        </p:nvGraphicFramePr>
        <p:xfrm>
          <a:off x="-175540" y="1042017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CAD3CAA-2769-6821-4841-106DF342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847" y="206003"/>
            <a:ext cx="9081247" cy="836014"/>
          </a:xfrm>
        </p:spPr>
        <p:txBody>
          <a:bodyPr>
            <a:noAutofit/>
          </a:bodyPr>
          <a:lstStyle/>
          <a:p>
            <a:r>
              <a:rPr lang="en-US" sz="4400" dirty="0"/>
              <a:t>Environment &amp; Environment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5F96A-024A-DA82-F875-1F7E4CFAA0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CDC841-7A01-FE06-F2C7-775271139F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25AD0-D7DB-DA70-9402-0507377E3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2ADAEA06-5BAE-FB75-B76A-D6DED7B706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705716"/>
              </p:ext>
            </p:extLst>
          </p:nvPr>
        </p:nvGraphicFramePr>
        <p:xfrm>
          <a:off x="3442447" y="3460095"/>
          <a:ext cx="867514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C5E55AA-1582-88CE-3F1B-1C941082DE8D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5221779" y="3525265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7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AsOne/>
      </p:bldGraphic>
      <p:bldGraphic spid="20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6F552DB-05C8-874C-E8F1-F724147F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70ED726-EF08-0482-4434-1E740013A9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7089435"/>
              </p:ext>
            </p:extLst>
          </p:nvPr>
        </p:nvGraphicFramePr>
        <p:xfrm>
          <a:off x="3897320" y="783445"/>
          <a:ext cx="5103245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08C1286-653B-02A1-FBDC-6495AF65A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80772"/>
              </p:ext>
            </p:extLst>
          </p:nvPr>
        </p:nvGraphicFramePr>
        <p:xfrm>
          <a:off x="-172653" y="783447"/>
          <a:ext cx="5006556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375C46A-CA1E-B803-034B-9A76F2ADE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377" y="133633"/>
            <a:ext cx="9081247" cy="836014"/>
          </a:xfrm>
        </p:spPr>
        <p:txBody>
          <a:bodyPr>
            <a:noAutofit/>
          </a:bodyPr>
          <a:lstStyle/>
          <a:p>
            <a:pPr algn="ctr"/>
            <a:r>
              <a:rPr lang="en-US" sz="4400" dirty="0"/>
              <a:t>Test &amp; Test 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B53628-ABDE-8192-2CE3-E152F56198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C67C6-A015-3674-7CD0-B50EBA756E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B8379A-4AE9-C80B-80A2-1BE6F263AA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1237" y="3424237"/>
            <a:ext cx="9525" cy="9525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123CB74C-E085-DC40-580B-CA539B2CA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56265"/>
              </p:ext>
            </p:extLst>
          </p:nvPr>
        </p:nvGraphicFramePr>
        <p:xfrm>
          <a:off x="7898968" y="3782822"/>
          <a:ext cx="4185454" cy="2932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31B7EC56-BB51-3DA1-BA30-5AC31FD1F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560652"/>
              </p:ext>
            </p:extLst>
          </p:nvPr>
        </p:nvGraphicFramePr>
        <p:xfrm>
          <a:off x="4402733" y="3716019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pic>
        <p:nvPicPr>
          <p:cNvPr id="31" name="Picture 30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86F1D90-231F-A6EE-0475-A0D0584AEAAC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7423749" y="3332188"/>
            <a:ext cx="1345595" cy="756897"/>
          </a:xfrm>
          <a:prstGeom prst="rect">
            <a:avLst/>
          </a:prstGeom>
        </p:spPr>
      </p:pic>
      <p:pic>
        <p:nvPicPr>
          <p:cNvPr id="3" name="Picture 2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366B50BA-877F-5E1A-A92E-18A6CFD49D78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3730288" y="3215645"/>
            <a:ext cx="1345595" cy="756897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2369800-9A92-C6B5-DC2A-FBAAAD1C9B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5411554"/>
              </p:ext>
            </p:extLst>
          </p:nvPr>
        </p:nvGraphicFramePr>
        <p:xfrm>
          <a:off x="879607" y="3707057"/>
          <a:ext cx="4049050" cy="3017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  <p:pic>
        <p:nvPicPr>
          <p:cNvPr id="8" name="Picture 7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2986EAB5-902B-A40D-7FF0-330AD77D2552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3062" y="1871281"/>
            <a:ext cx="1345595" cy="756897"/>
          </a:xfrm>
          <a:prstGeom prst="rect">
            <a:avLst/>
          </a:prstGeom>
        </p:spPr>
      </p:pic>
      <p:pic>
        <p:nvPicPr>
          <p:cNvPr id="9" name="Picture 8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A76FA953-EF3D-F216-B4C1-9AD570ED2C7D}"/>
              </a:ext>
            </a:extLst>
          </p:cNvPr>
          <p:cNvPicPr>
            <a:picLocks noChangeAspect="1"/>
          </p:cNvPicPr>
          <p:nvPr/>
        </p:nvPicPr>
        <p:blipFill>
          <a:blip r:embed="rId24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79796" y="3332184"/>
            <a:ext cx="1345595" cy="7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0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Graphic spid="16" grpId="0">
        <p:bldAsOne/>
      </p:bldGraphic>
      <p:bldGraphic spid="20" grpId="0">
        <p:bldAsOne/>
      </p:bldGraphic>
      <p:bldGraphic spid="21" grpId="0">
        <p:bldAsOne/>
      </p:bldGraphic>
      <p:bldGraphic spid="5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A57F-4F08-75A7-010C-7364566A3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COVERAGE?</a:t>
            </a:r>
            <a:br>
              <a:rPr lang="en-US" dirty="0"/>
            </a:br>
            <a:r>
              <a:rPr lang="en-US" dirty="0"/>
              <a:t>What? For What?</a:t>
            </a:r>
          </a:p>
        </p:txBody>
      </p:sp>
      <p:pic>
        <p:nvPicPr>
          <p:cNvPr id="5" name="Content Placeholder 4" descr="A person in a red and black jacket&#10;&#10;AI-generated content may be incorrect.">
            <a:extLst>
              <a:ext uri="{FF2B5EF4-FFF2-40B4-BE49-F238E27FC236}">
                <a16:creationId xmlns:a16="http://schemas.microsoft.com/office/drawing/2014/main" id="{06665F37-0E06-57AE-392B-50EBA38FD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808" y="4502658"/>
            <a:ext cx="4370831" cy="2463559"/>
          </a:xfrm>
        </p:spPr>
      </p:pic>
      <p:pic>
        <p:nvPicPr>
          <p:cNvPr id="7" name="Picture 6" descr="A person in a suit reading a book&#10;&#10;AI-generated content may be incorrect.">
            <a:extLst>
              <a:ext uri="{FF2B5EF4-FFF2-40B4-BE49-F238E27FC236}">
                <a16:creationId xmlns:a16="http://schemas.microsoft.com/office/drawing/2014/main" id="{D27F5088-2BAF-E2B8-3D86-E50A0F58B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990" y="638129"/>
            <a:ext cx="4708712" cy="3531534"/>
          </a:xfrm>
          <a:prstGeom prst="rect">
            <a:avLst/>
          </a:prstGeom>
        </p:spPr>
      </p:pic>
      <p:pic>
        <p:nvPicPr>
          <p:cNvPr id="9" name="Picture 8" descr="A person in a blue shirt&#10;&#10;AI-generated content may be incorrect.">
            <a:extLst>
              <a:ext uri="{FF2B5EF4-FFF2-40B4-BE49-F238E27FC236}">
                <a16:creationId xmlns:a16="http://schemas.microsoft.com/office/drawing/2014/main" id="{AEFF4452-2BB9-4447-4A63-D373A9C18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930" y="4169663"/>
            <a:ext cx="2095500" cy="209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1D67E2-05BD-55CB-066B-B1B521B205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47" y="3985707"/>
            <a:ext cx="3266403" cy="246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8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0A5B-3CC9-C444-9DBF-C4CE95CB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9160" y="95296"/>
            <a:ext cx="6047922" cy="75635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Coverage Examples</a:t>
            </a:r>
          </a:p>
        </p:txBody>
      </p:sp>
      <p:pic>
        <p:nvPicPr>
          <p:cNvPr id="16" name="Picture 15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B04F0DAF-C441-B7F7-4A23-A7BF1613B72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77684">
            <a:off x="6616867" y="1049034"/>
            <a:ext cx="1345595" cy="756897"/>
          </a:xfrm>
          <a:prstGeom prst="rect">
            <a:avLst/>
          </a:prstGeom>
        </p:spPr>
      </p:pic>
      <p:pic>
        <p:nvPicPr>
          <p:cNvPr id="17" name="Picture 16" descr="A black arrow pointing to the right&#10;&#10;AI-generated content may be incorrect.">
            <a:extLst>
              <a:ext uri="{FF2B5EF4-FFF2-40B4-BE49-F238E27FC236}">
                <a16:creationId xmlns:a16="http://schemas.microsoft.com/office/drawing/2014/main" id="{0A6E999C-7078-D651-D69C-33D0C224930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CFCFF"/>
              </a:clrFrom>
              <a:clrTo>
                <a:srgbClr val="FCFC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022316" flipH="1">
            <a:off x="4223292" y="1049033"/>
            <a:ext cx="1345595" cy="7568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8F692B-2C14-1147-4BCF-763FC3010B2E}"/>
              </a:ext>
            </a:extLst>
          </p:cNvPr>
          <p:cNvSpPr txBox="1"/>
          <p:nvPr/>
        </p:nvSpPr>
        <p:spPr>
          <a:xfrm>
            <a:off x="8301318" y="1427481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Instance – based coverage method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504216-DC9F-1619-B9BD-D0D8B89D43BC}"/>
              </a:ext>
            </a:extLst>
          </p:cNvPr>
          <p:cNvSpPr txBox="1"/>
          <p:nvPr/>
        </p:nvSpPr>
        <p:spPr>
          <a:xfrm>
            <a:off x="1039904" y="1445407"/>
            <a:ext cx="339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Fixed/Cross – based coverage</a:t>
            </a:r>
          </a:p>
          <a:p>
            <a:pPr algn="ctr"/>
            <a:r>
              <a:rPr lang="en-US" b="1" dirty="0"/>
              <a:t>method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4294D2-2D27-9A69-01C9-D6E9D29A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014" y="2175339"/>
            <a:ext cx="3084927" cy="125366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EC00245-F24C-6590-0FD6-80DA39B7A0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115" y="5166406"/>
            <a:ext cx="3987916" cy="144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CF0E38-C164-C7EA-FF5E-191C66A3E568}"/>
              </a:ext>
            </a:extLst>
          </p:cNvPr>
          <p:cNvSpPr txBox="1"/>
          <p:nvPr/>
        </p:nvSpPr>
        <p:spPr>
          <a:xfrm>
            <a:off x="5258140" y="3116874"/>
            <a:ext cx="1675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BODY</a:t>
            </a:r>
          </a:p>
        </p:txBody>
      </p:sp>
      <p:pic>
        <p:nvPicPr>
          <p:cNvPr id="28" name="Graphic 27" descr="Back with solid fill">
            <a:extLst>
              <a:ext uri="{FF2B5EF4-FFF2-40B4-BE49-F238E27FC236}">
                <a16:creationId xmlns:a16="http://schemas.microsoft.com/office/drawing/2014/main" id="{32243D55-F246-3A30-57BA-72CA833D20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037294" y="2344970"/>
            <a:ext cx="914400" cy="914400"/>
          </a:xfrm>
          <a:prstGeom prst="rect">
            <a:avLst/>
          </a:prstGeom>
        </p:spPr>
      </p:pic>
      <p:pic>
        <p:nvPicPr>
          <p:cNvPr id="29" name="Graphic 28" descr="Back with solid fill">
            <a:extLst>
              <a:ext uri="{FF2B5EF4-FFF2-40B4-BE49-F238E27FC236}">
                <a16:creationId xmlns:a16="http://schemas.microsoft.com/office/drawing/2014/main" id="{29A4C441-D462-7F49-9877-3BA52DABE6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7037294" y="3456597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A8DEE29-647E-9503-D7E4-70E44FC0D275}"/>
              </a:ext>
            </a:extLst>
          </p:cNvPr>
          <p:cNvSpPr txBox="1"/>
          <p:nvPr/>
        </p:nvSpPr>
        <p:spPr>
          <a:xfrm>
            <a:off x="4363740" y="47574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Construction</a:t>
            </a:r>
          </a:p>
        </p:txBody>
      </p:sp>
      <p:pic>
        <p:nvPicPr>
          <p:cNvPr id="31" name="Graphic 30" descr="Back with solid fill">
            <a:extLst>
              <a:ext uri="{FF2B5EF4-FFF2-40B4-BE49-F238E27FC236}">
                <a16:creationId xmlns:a16="http://schemas.microsoft.com/office/drawing/2014/main" id="{713207EC-0FEA-5892-16C8-E8C75D7CC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0655" y="2344969"/>
            <a:ext cx="914400" cy="914400"/>
          </a:xfrm>
          <a:prstGeom prst="rect">
            <a:avLst/>
          </a:prstGeom>
        </p:spPr>
      </p:pic>
      <p:pic>
        <p:nvPicPr>
          <p:cNvPr id="32" name="Graphic 31" descr="Back with solid fill">
            <a:extLst>
              <a:ext uri="{FF2B5EF4-FFF2-40B4-BE49-F238E27FC236}">
                <a16:creationId xmlns:a16="http://schemas.microsoft.com/office/drawing/2014/main" id="{037B7732-AE4D-00DE-1E75-C06D1CC7F4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4150655" y="3456596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4319124-FFEF-134D-2C92-49C392CAC0E0}"/>
              </a:ext>
            </a:extLst>
          </p:cNvPr>
          <p:cNvSpPr txBox="1"/>
          <p:nvPr/>
        </p:nvSpPr>
        <p:spPr>
          <a:xfrm>
            <a:off x="4363740" y="5671813"/>
            <a:ext cx="3464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Sampling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4134B4-5C4A-9160-9311-5FB32EA59A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115" y="5555203"/>
            <a:ext cx="4071514" cy="75749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10FCB9E-464C-D29A-4025-434E2442A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31" y="2225643"/>
            <a:ext cx="3888970" cy="109704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47426C8-A150-B7C8-831E-B9338EC986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931" y="3351755"/>
            <a:ext cx="3916724" cy="1059597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1D4D8E8-692D-243A-F5D2-FAF6798932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555" y="5091068"/>
            <a:ext cx="1162050" cy="2857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A83969A-39B4-C65A-F293-63952C33E7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1460" y="5091068"/>
            <a:ext cx="1295400" cy="29527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0387C51-9A04-E116-ED91-70178B9630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9343" y="5840018"/>
            <a:ext cx="1485900" cy="37147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942C809-7947-B4D4-C247-2ECA296A12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80407" y="3535405"/>
            <a:ext cx="3387643" cy="12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4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6" grpId="0"/>
      <p:bldP spid="30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AEEED-9477-D9EF-B1D4-2F1B1581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5" y="2140164"/>
            <a:ext cx="3906700" cy="43466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dirty="0">
                <a:solidFill>
                  <a:schemeClr val="tx2"/>
                </a:solidFill>
              </a:rPr>
              <a:t>Coverage Closure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A3C2729-BE57-3CD1-EE80-54B5EBB96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0496" y="657369"/>
            <a:ext cx="5642166" cy="564216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33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284B7-13A0-CE53-EDF7-9F144E79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00" y="1239124"/>
            <a:ext cx="7625921" cy="2651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6F5148-F156-F7EA-D350-5AB2BB64C2E4}"/>
              </a:ext>
            </a:extLst>
          </p:cNvPr>
          <p:cNvSpPr txBox="1"/>
          <p:nvPr/>
        </p:nvSpPr>
        <p:spPr>
          <a:xfrm>
            <a:off x="1792941" y="295835"/>
            <a:ext cx="860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valid Test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F010AD-D53F-066F-F5AF-A9FD86747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742" y="1101852"/>
            <a:ext cx="5067300" cy="504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BDF643-6C95-81C3-4832-AA8684B986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00" y="3863686"/>
            <a:ext cx="7975288" cy="29943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697519-828F-B804-939F-3A8A23F09012}"/>
              </a:ext>
            </a:extLst>
          </p:cNvPr>
          <p:cNvSpPr txBox="1"/>
          <p:nvPr/>
        </p:nvSpPr>
        <p:spPr>
          <a:xfrm>
            <a:off x="1795048" y="3735768"/>
            <a:ext cx="8606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Dashboard.txt for Error Injection Test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6415D2-D4D6-9E4E-DB68-268CE944F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1117" y="4625368"/>
            <a:ext cx="51149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3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3CA5-7D8C-019B-9413-364F1CA7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276" y="978408"/>
            <a:ext cx="10831448" cy="1298627"/>
          </a:xfrm>
        </p:spPr>
        <p:txBody>
          <a:bodyPr/>
          <a:lstStyle/>
          <a:p>
            <a:pPr algn="ctr"/>
            <a:r>
              <a:rPr lang="en-US" dirty="0"/>
              <a:t>Exclusions and .</a:t>
            </a:r>
            <a:r>
              <a:rPr lang="en-US" dirty="0" err="1"/>
              <a:t>el</a:t>
            </a:r>
            <a:r>
              <a:rPr lang="en-US" dirty="0"/>
              <a:t>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D645B-1939-C91F-D248-E47C8C66C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2110853"/>
            <a:ext cx="6242293" cy="3608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6B75AA-C746-1EEF-DE0B-69F000E9558C}"/>
              </a:ext>
            </a:extLst>
          </p:cNvPr>
          <p:cNvSpPr txBox="1"/>
          <p:nvPr/>
        </p:nvSpPr>
        <p:spPr>
          <a:xfrm>
            <a:off x="585216" y="2752344"/>
            <a:ext cx="4270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Exclusions can be done in the merge command line using –exclude but the naming of the branches, points, ..</a:t>
            </a:r>
            <a:r>
              <a:rPr lang="en-US" dirty="0" err="1"/>
              <a:t>etc</a:t>
            </a:r>
            <a:r>
              <a:rPr lang="en-US" dirty="0"/>
              <a:t> is often hard to make out and understand to just do it from the line, therefore using </a:t>
            </a:r>
            <a:r>
              <a:rPr lang="en-US" dirty="0" err="1"/>
              <a:t>dve</a:t>
            </a:r>
            <a:r>
              <a:rPr lang="en-US" dirty="0"/>
              <a:t> to make the .</a:t>
            </a:r>
            <a:r>
              <a:rPr lang="en-US" dirty="0" err="1"/>
              <a:t>el</a:t>
            </a:r>
            <a:r>
              <a:rPr lang="en-US" dirty="0"/>
              <a:t> file is much easier and thereafter including them in the report command.</a:t>
            </a:r>
          </a:p>
        </p:txBody>
      </p:sp>
    </p:spTree>
    <p:extLst>
      <p:ext uri="{BB962C8B-B14F-4D97-AF65-F5344CB8AC3E}">
        <p14:creationId xmlns:p14="http://schemas.microsoft.com/office/powerpoint/2010/main" val="385184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97C4-555A-C71C-D255-45AC0E916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076" y="431561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605CB2-569F-9198-C7DD-715A9A8E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63" y="1517635"/>
            <a:ext cx="11205348" cy="428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A17E95-3582-14FE-6C9D-96C89379A143}"/>
              </a:ext>
            </a:extLst>
          </p:cNvPr>
          <p:cNvSpPr txBox="1"/>
          <p:nvPr/>
        </p:nvSpPr>
        <p:spPr>
          <a:xfrm>
            <a:off x="7702834" y="1951672"/>
            <a:ext cx="3644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simple bash script to create ./output and ./</a:t>
            </a:r>
            <a:r>
              <a:rPr lang="en-US" dirty="0" err="1"/>
              <a:t>coverage_closure</a:t>
            </a:r>
            <a:r>
              <a:rPr lang="en-US" dirty="0"/>
              <a:t> directories, as well as running the make file</a:t>
            </a:r>
          </a:p>
        </p:txBody>
      </p:sp>
    </p:spTree>
    <p:extLst>
      <p:ext uri="{BB962C8B-B14F-4D97-AF65-F5344CB8AC3E}">
        <p14:creationId xmlns:p14="http://schemas.microsoft.com/office/powerpoint/2010/main" val="361079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33CFF35-3AAD-4F5E-77F4-18256630D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63" y="1218827"/>
            <a:ext cx="7209002" cy="4151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35B22E-DC06-4F3B-3D5F-1E8C662581C8}"/>
              </a:ext>
            </a:extLst>
          </p:cNvPr>
          <p:cNvSpPr txBox="1"/>
          <p:nvPr/>
        </p:nvSpPr>
        <p:spPr>
          <a:xfrm>
            <a:off x="6840071" y="1604682"/>
            <a:ext cx="4509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Makefile</a:t>
            </a:r>
            <a:r>
              <a:rPr lang="en-US" dirty="0"/>
              <a:t> to compile, run, check the simulation waveform using the .</a:t>
            </a:r>
            <a:r>
              <a:rPr lang="en-US" dirty="0" err="1"/>
              <a:t>vdp</a:t>
            </a:r>
            <a:r>
              <a:rPr lang="en-US" dirty="0"/>
              <a:t> files &amp; clean each time the clean task is called or when the run_all.sh is executed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1D3FD1-3D0A-6D31-014D-8A42FFEE9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70" y="296718"/>
            <a:ext cx="10221848" cy="805568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Scripting &amp; </a:t>
            </a:r>
            <a:r>
              <a:rPr lang="en-US" sz="4000" dirty="0" err="1"/>
              <a:t>Makefiles</a:t>
            </a:r>
            <a:endParaRPr lang="en-US" sz="4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2D4E7E-DEE0-03E5-5893-1ADB4883F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914" y="4370568"/>
            <a:ext cx="7999086" cy="19985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06F9BE-57DE-67BA-1AF6-1BD996BBCD0D}"/>
              </a:ext>
            </a:extLst>
          </p:cNvPr>
          <p:cNvSpPr txBox="1"/>
          <p:nvPr/>
        </p:nvSpPr>
        <p:spPr>
          <a:xfrm>
            <a:off x="7727575" y="2995295"/>
            <a:ext cx="3810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compile and simulation.log files so they can be searched for any errors using a script if I have the time to make one</a:t>
            </a:r>
          </a:p>
        </p:txBody>
      </p:sp>
    </p:spTree>
    <p:extLst>
      <p:ext uri="{BB962C8B-B14F-4D97-AF65-F5344CB8AC3E}">
        <p14:creationId xmlns:p14="http://schemas.microsoft.com/office/powerpoint/2010/main" val="1419080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</p:bldLst>
  </p:timing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6019</TotalTime>
  <Words>1419</Words>
  <Application>Microsoft Office PowerPoint</Application>
  <PresentationFormat>Widescreen</PresentationFormat>
  <Paragraphs>245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Bierstadt</vt:lpstr>
      <vt:lpstr>GestaltVTI</vt:lpstr>
      <vt:lpstr>Design &amp; Verification of an ALU using SystemVerilog &amp; SVA</vt:lpstr>
      <vt:lpstr>PowerPoint Presentation</vt:lpstr>
      <vt:lpstr>PowerPoint Presentation</vt:lpstr>
      <vt:lpstr>ALU DESIGN SPECIFICATIONS</vt:lpstr>
      <vt:lpstr>Verification Environment Classes</vt:lpstr>
      <vt:lpstr>PowerPoint Presentation</vt:lpstr>
      <vt:lpstr>Classes? What do they do?</vt:lpstr>
      <vt:lpstr>Driver &amp; Driver Base</vt:lpstr>
      <vt:lpstr>outputMonitor &amp; outputMonitor Base</vt:lpstr>
      <vt:lpstr>inputMonitor &amp; inputMonitor Base</vt:lpstr>
      <vt:lpstr>Coverage &amp; Coverage Base</vt:lpstr>
      <vt:lpstr>Scoreboard &amp; Scoreboard Base</vt:lpstr>
      <vt:lpstr>Predictor &amp; Predictor Base</vt:lpstr>
      <vt:lpstr>Comparator &amp; Comparator Base</vt:lpstr>
      <vt:lpstr>Transaction &amp; Transaction Base</vt:lpstr>
      <vt:lpstr>Generator &amp; Generator Base</vt:lpstr>
      <vt:lpstr>Comparator &amp; Comparator Base</vt:lpstr>
      <vt:lpstr>Environment &amp; Environment Base</vt:lpstr>
      <vt:lpstr>Test &amp; Test Base</vt:lpstr>
      <vt:lpstr>COVERAGE? What? For What?</vt:lpstr>
      <vt:lpstr>Coverage Examples</vt:lpstr>
      <vt:lpstr>Coverage Closure</vt:lpstr>
      <vt:lpstr>PowerPoint Presentation</vt:lpstr>
      <vt:lpstr>Exclusions and .el files</vt:lpstr>
      <vt:lpstr>Scripting &amp; Makefiles</vt:lpstr>
      <vt:lpstr>Scripting &amp; Makefiles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Yassien</dc:creator>
  <cp:lastModifiedBy>Abdelrahman Yassien</cp:lastModifiedBy>
  <cp:revision>2</cp:revision>
  <dcterms:created xsi:type="dcterms:W3CDTF">2025-02-16T17:37:03Z</dcterms:created>
  <dcterms:modified xsi:type="dcterms:W3CDTF">2025-02-20T21:56:46Z</dcterms:modified>
</cp:coreProperties>
</file>