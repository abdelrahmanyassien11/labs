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2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3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4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15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16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17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notesSlides/notesSlide18.xml" ContentType="application/vnd.openxmlformats-officedocument.presentationml.notesSlide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notesSlides/notesSlide19.xml" ContentType="application/vnd.openxmlformats-officedocument.presentationml.notesSlide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notesSlides/notesSlide20.xml" ContentType="application/vnd.openxmlformats-officedocument.presentationml.notesSlide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39"/>
  </p:notesMasterIdLst>
  <p:sldIdLst>
    <p:sldId id="256" r:id="rId2"/>
    <p:sldId id="272" r:id="rId3"/>
    <p:sldId id="301" r:id="rId4"/>
    <p:sldId id="275" r:id="rId5"/>
    <p:sldId id="276" r:id="rId6"/>
    <p:sldId id="274" r:id="rId7"/>
    <p:sldId id="306" r:id="rId8"/>
    <p:sldId id="313" r:id="rId9"/>
    <p:sldId id="312" r:id="rId10"/>
    <p:sldId id="314" r:id="rId11"/>
    <p:sldId id="315" r:id="rId12"/>
    <p:sldId id="316" r:id="rId13"/>
    <p:sldId id="294" r:id="rId14"/>
    <p:sldId id="309" r:id="rId15"/>
    <p:sldId id="318" r:id="rId16"/>
    <p:sldId id="317" r:id="rId17"/>
    <p:sldId id="319" r:id="rId18"/>
    <p:sldId id="321" r:id="rId19"/>
    <p:sldId id="322" r:id="rId20"/>
    <p:sldId id="320" r:id="rId21"/>
    <p:sldId id="293" r:id="rId22"/>
    <p:sldId id="300" r:id="rId23"/>
    <p:sldId id="292" r:id="rId24"/>
    <p:sldId id="291" r:id="rId25"/>
    <p:sldId id="290" r:id="rId26"/>
    <p:sldId id="287" r:id="rId27"/>
    <p:sldId id="289" r:id="rId28"/>
    <p:sldId id="297" r:id="rId29"/>
    <p:sldId id="298" r:id="rId30"/>
    <p:sldId id="296" r:id="rId31"/>
    <p:sldId id="307" r:id="rId32"/>
    <p:sldId id="260" r:id="rId33"/>
    <p:sldId id="303" r:id="rId34"/>
    <p:sldId id="302" r:id="rId35"/>
    <p:sldId id="304" r:id="rId36"/>
    <p:sldId id="299" r:id="rId37"/>
    <p:sldId id="305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A858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2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ata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ata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2.svg"/></Relationships>
</file>

<file path=ppt/diagrams/_rels/data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ata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ata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ata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ata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ata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ata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ata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ata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ata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ata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ata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rawing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2.svg"/></Relationships>
</file>

<file path=ppt/diagrams/_rels/drawing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rawing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rawing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rawing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rawing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rawing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rawing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rawing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rawing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rawing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rawing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rawing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ENV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Constructs the parent using </a:t>
          </a:r>
          <a:r>
            <a:rPr lang="en-US" sz="1000" b="1" dirty="0" err="1"/>
            <a:t>super.new</a:t>
          </a:r>
          <a:r>
            <a:rPr lang="en-US" sz="1000" b="1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Instantiates all the environment components (Agents, Virtual Sequencer..</a:t>
          </a:r>
          <a:r>
            <a:rPr lang="en-US" sz="1000" b="1" dirty="0" err="1"/>
            <a:t>etc</a:t>
          </a:r>
          <a:r>
            <a:rPr lang="en-US" sz="1000" b="1" dirty="0"/>
            <a:t>) and Creates them using </a:t>
          </a:r>
          <a:r>
            <a:rPr lang="en-US" sz="1000" b="1" dirty="0" err="1"/>
            <a:t>uvm_factory</a:t>
          </a:r>
          <a:endParaRPr lang="en-US" sz="1000" b="1" dirty="0"/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C51F59B8-45E9-4766-BE17-FF1384398AD2}">
      <dgm:prSet phldrT="[Text]" custT="1"/>
      <dgm:spPr/>
      <dgm:t>
        <a:bodyPr/>
        <a:lstStyle/>
        <a:p>
          <a:r>
            <a:rPr lang="en-US" sz="1000" b="1" dirty="0"/>
            <a:t>Connects the </a:t>
          </a:r>
          <a:r>
            <a:rPr lang="en-US" sz="1000" b="1" dirty="0" err="1"/>
            <a:t>rst_agent</a:t>
          </a:r>
          <a:r>
            <a:rPr lang="en-US" sz="1000" b="1" dirty="0"/>
            <a:t> </a:t>
          </a:r>
          <a:r>
            <a:rPr lang="en-US" sz="1000" b="1" dirty="0" err="1"/>
            <a:t>tlm</a:t>
          </a:r>
          <a:r>
            <a:rPr lang="en-US" sz="1000" b="1" dirty="0"/>
            <a:t> to the rest of the environment (Scoreboard, Subscriber, </a:t>
          </a:r>
          <a:r>
            <a:rPr lang="en-US" sz="1000" b="1" dirty="0" err="1"/>
            <a:t>alu_agent</a:t>
          </a:r>
          <a:r>
            <a:rPr lang="en-US" sz="1000" b="1" dirty="0"/>
            <a:t>).</a:t>
          </a:r>
          <a:br>
            <a:rPr lang="en-US" sz="1000" b="1" dirty="0"/>
          </a:br>
          <a:r>
            <a:rPr lang="en-US" sz="1000" b="1" dirty="0"/>
            <a:t>Also uses </a:t>
          </a:r>
          <a:r>
            <a:rPr lang="en-US" sz="1000" b="1" dirty="0" err="1"/>
            <a:t>get_provided_to</a:t>
          </a:r>
          <a:r>
            <a:rPr lang="en-US" sz="1000" b="1" dirty="0"/>
            <a:t> and </a:t>
          </a:r>
          <a:r>
            <a:rPr lang="en-US" sz="1000" b="1" dirty="0" err="1"/>
            <a:t>get_connected_to</a:t>
          </a:r>
          <a:r>
            <a:rPr lang="en-US" sz="1000" b="1" dirty="0"/>
            <a:t> to debug TLM connections.</a:t>
          </a:r>
        </a:p>
      </dgm:t>
    </dgm:pt>
    <dgm:pt modelId="{3C459894-43EB-4737-867F-E57F3A446E34}" type="parTrans" cxnId="{3366F3D5-098F-44F0-8B30-2C7AFB150236}">
      <dgm:prSet/>
      <dgm:spPr/>
      <dgm:t>
        <a:bodyPr/>
        <a:lstStyle/>
        <a:p>
          <a:endParaRPr lang="en-US"/>
        </a:p>
      </dgm:t>
    </dgm:pt>
    <dgm:pt modelId="{5891A201-88CA-4D6A-8CEC-C4C3A4377612}" type="sibTrans" cxnId="{3366F3D5-098F-44F0-8B30-2C7AFB150236}">
      <dgm:prSet/>
      <dgm:spPr/>
      <dgm:t>
        <a:bodyPr/>
        <a:lstStyle/>
        <a:p>
          <a:endParaRPr lang="en-US"/>
        </a:p>
      </dgm:t>
    </dgm:pt>
    <dgm:pt modelId="{2D5A47E1-7189-4D9A-9CC6-92AAE239B0A6}">
      <dgm:prSet phldrT="[Text]" custT="1"/>
      <dgm:spPr/>
      <dgm:t>
        <a:bodyPr/>
        <a:lstStyle/>
        <a:p>
          <a:r>
            <a:rPr lang="en-US" sz="1000" b="1" dirty="0"/>
            <a:t>Initializes both </a:t>
          </a:r>
          <a:r>
            <a:rPr lang="en-US" sz="1000" b="1" dirty="0" err="1"/>
            <a:t>rst_agent</a:t>
          </a:r>
          <a:r>
            <a:rPr lang="en-US" sz="1000" b="1" dirty="0"/>
            <a:t> &amp; </a:t>
          </a:r>
          <a:r>
            <a:rPr lang="en-US" sz="1000" b="1" dirty="0" err="1"/>
            <a:t>alu_agent</a:t>
          </a:r>
          <a:r>
            <a:rPr lang="en-US" sz="1000" b="1" dirty="0"/>
            <a:t> configs and sets them to their </a:t>
          </a:r>
          <a:r>
            <a:rPr lang="en-US" sz="1000" b="1" dirty="0" err="1"/>
            <a:t>prespective</a:t>
          </a:r>
          <a:r>
            <a:rPr lang="en-US" sz="1000" b="1" dirty="0"/>
            <a:t> agents</a:t>
          </a:r>
        </a:p>
      </dgm:t>
    </dgm:pt>
    <dgm:pt modelId="{11175ABE-7D31-4248-9615-9734EE083089}" type="parTrans" cxnId="{7BFD0D92-9425-4AFA-9336-D7A92AE6DCC9}">
      <dgm:prSet/>
      <dgm:spPr/>
      <dgm:t>
        <a:bodyPr/>
        <a:lstStyle/>
        <a:p>
          <a:endParaRPr lang="en-US"/>
        </a:p>
      </dgm:t>
    </dgm:pt>
    <dgm:pt modelId="{6FCD3FA7-8F31-4CFD-A902-0C2FBB2E31D9}" type="sibTrans" cxnId="{7BFD0D92-9425-4AFA-9336-D7A92AE6DCC9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37692" custLinFactNeighborX="7435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151616" custLinFactNeighborX="29566">
        <dgm:presLayoutVars>
          <dgm:chMax val="0"/>
          <dgm:chPref val="0"/>
          <dgm:bulletEnabled val="1"/>
        </dgm:presLayoutVars>
      </dgm:prSet>
      <dgm:spPr/>
    </dgm:pt>
    <dgm:pt modelId="{531D321B-7FD4-4D09-97CE-9B25979A9E76}" type="pres">
      <dgm:prSet presAssocID="{C51F59B8-45E9-4766-BE17-FF1384398AD2}" presName="Image3" presStyleCnt="0"/>
      <dgm:spPr/>
    </dgm:pt>
    <dgm:pt modelId="{1888B180-630D-493D-B458-703C3ADE6517}" type="pres">
      <dgm:prSet presAssocID="{C51F59B8-45E9-4766-BE17-FF1384398AD2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AFEBF651-2D0E-4A1E-A8AE-B88DF1889FB5}" type="pres">
      <dgm:prSet presAssocID="{C51F59B8-45E9-4766-BE17-FF1384398AD2}" presName="Child3" presStyleLbl="revTx" presStyleIdx="2" presStyleCnt="4" custScaleX="185419" custLinFactNeighborX="42894" custLinFactNeighborY="-648">
        <dgm:presLayoutVars>
          <dgm:chMax val="0"/>
          <dgm:chPref val="0"/>
          <dgm:bulletEnabled val="1"/>
        </dgm:presLayoutVars>
      </dgm:prSet>
      <dgm:spPr/>
    </dgm:pt>
    <dgm:pt modelId="{37315B0A-3A04-4D29-AB5D-D5DC8333A56F}" type="pres">
      <dgm:prSet presAssocID="{2D5A47E1-7189-4D9A-9CC6-92AAE239B0A6}" presName="Image4" presStyleCnt="0"/>
      <dgm:spPr/>
    </dgm:pt>
    <dgm:pt modelId="{0DE70F0E-DC0D-4E20-A645-0E5DE2F4810D}" type="pres">
      <dgm:prSet presAssocID="{2D5A47E1-7189-4D9A-9CC6-92AAE239B0A6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4E3D4652-09BF-4FA6-B7F5-A481BAE0D3E5}" type="pres">
      <dgm:prSet presAssocID="{2D5A47E1-7189-4D9A-9CC6-92AAE239B0A6}" presName="Child4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FABD9D74-6F29-4625-9505-94580BB1A13D}" type="presOf" srcId="{2D5A47E1-7189-4D9A-9CC6-92AAE239B0A6}" destId="{4E3D4652-09BF-4FA6-B7F5-A481BAE0D3E5}" srcOrd="0" destOrd="0" presId="urn:microsoft.com/office/officeart/2011/layout/RadialPictureList"/>
    <dgm:cxn modelId="{7BFD0D92-9425-4AFA-9336-D7A92AE6DCC9}" srcId="{6AFA46F5-CB29-4CFA-B940-0F77E508C6FB}" destId="{2D5A47E1-7189-4D9A-9CC6-92AAE239B0A6}" srcOrd="3" destOrd="0" parTransId="{11175ABE-7D31-4248-9615-9734EE083089}" sibTransId="{6FCD3FA7-8F31-4CFD-A902-0C2FBB2E31D9}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C81BEBC7-CA92-46F0-84D3-992589C53161}" type="presOf" srcId="{C51F59B8-45E9-4766-BE17-FF1384398AD2}" destId="{AFEBF651-2D0E-4A1E-A8AE-B88DF1889FB5}" srcOrd="0" destOrd="0" presId="urn:microsoft.com/office/officeart/2011/layout/RadialPictureList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3366F3D5-098F-44F0-8B30-2C7AFB150236}" srcId="{6AFA46F5-CB29-4CFA-B940-0F77E508C6FB}" destId="{C51F59B8-45E9-4766-BE17-FF1384398AD2}" srcOrd="2" destOrd="0" parTransId="{3C459894-43EB-4737-867F-E57F3A446E34}" sibTransId="{5891A201-88CA-4D6A-8CEC-C4C3A4377612}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28EAFACB-4FC1-4488-95A3-B702C1254ABD}" type="presParOf" srcId="{99DDB345-EF8A-4603-AC40-B9476611FDB4}" destId="{531D321B-7FD4-4D09-97CE-9B25979A9E76}" srcOrd="6" destOrd="0" presId="urn:microsoft.com/office/officeart/2011/layout/RadialPictureList"/>
    <dgm:cxn modelId="{BD09DC3F-F00E-4FD0-81B7-609D1C3B9779}" type="presParOf" srcId="{531D321B-7FD4-4D09-97CE-9B25979A9E76}" destId="{1888B180-630D-493D-B458-703C3ADE6517}" srcOrd="0" destOrd="0" presId="urn:microsoft.com/office/officeart/2011/layout/RadialPictureList"/>
    <dgm:cxn modelId="{834D4873-A900-482E-9054-BB64400AEDE8}" type="presParOf" srcId="{99DDB345-EF8A-4603-AC40-B9476611FDB4}" destId="{AFEBF651-2D0E-4A1E-A8AE-B88DF1889FB5}" srcOrd="7" destOrd="0" presId="urn:microsoft.com/office/officeart/2011/layout/RadialPictureList"/>
    <dgm:cxn modelId="{7EB5230A-F868-44CB-8396-E74A9029E379}" type="presParOf" srcId="{99DDB345-EF8A-4603-AC40-B9476611FDB4}" destId="{37315B0A-3A04-4D29-AB5D-D5DC8333A56F}" srcOrd="8" destOrd="0" presId="urn:microsoft.com/office/officeart/2011/layout/RadialPictureList"/>
    <dgm:cxn modelId="{39ED9422-6510-4A32-9AD7-A99683D9420A}" type="presParOf" srcId="{37315B0A-3A04-4D29-AB5D-D5DC8333A56F}" destId="{0DE70F0E-DC0D-4E20-A645-0E5DE2F4810D}" srcOrd="0" destOrd="0" presId="urn:microsoft.com/office/officeart/2011/layout/RadialPictureList"/>
    <dgm:cxn modelId="{B98668D6-83E3-43DC-91BB-D71E2E8F33FA}" type="presParOf" srcId="{99DDB345-EF8A-4603-AC40-B9476611FDB4}" destId="{4E3D4652-09BF-4FA6-B7F5-A481BAE0D3E5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ALU AGENT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Constructs the parent using </a:t>
          </a:r>
          <a:r>
            <a:rPr lang="en-US" sz="1000" b="1" dirty="0" err="1"/>
            <a:t>super.new</a:t>
          </a:r>
          <a:r>
            <a:rPr lang="en-US" sz="1000" b="1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Receives Configuration from </a:t>
          </a:r>
          <a:r>
            <a:rPr lang="en-US" sz="1000" b="1" dirty="0" err="1"/>
            <a:t>alu_agnt</a:t>
          </a:r>
          <a:r>
            <a:rPr lang="en-US" sz="1000" b="1" dirty="0"/>
            <a:t> config file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47B37035-06DB-410D-ACF3-E1916FA4C914}">
      <dgm:prSet phldrT="[Text]" custT="1"/>
      <dgm:spPr/>
      <dgm:t>
        <a:bodyPr/>
        <a:lstStyle/>
        <a:p>
          <a:r>
            <a:rPr lang="en-US" sz="1000" b="1" dirty="0" err="1"/>
            <a:t>Inestantiates</a:t>
          </a:r>
          <a:r>
            <a:rPr lang="en-US" sz="1000" b="1" dirty="0"/>
            <a:t> </a:t>
          </a:r>
          <a:r>
            <a:rPr lang="en-US" sz="1000" b="1" dirty="0" err="1"/>
            <a:t>Input_Monitor</a:t>
          </a:r>
          <a:r>
            <a:rPr lang="en-US" sz="1000" b="1" dirty="0"/>
            <a:t>, Driver &amp; Sequencer </a:t>
          </a:r>
        </a:p>
      </dgm:t>
    </dgm:pt>
    <dgm:pt modelId="{68C086D9-4D5B-4FA6-BAB6-0D3286181996}" type="sibTrans" cxnId="{5BFEE30B-95F6-4C94-9C00-5BBD805BDC69}">
      <dgm:prSet/>
      <dgm:spPr/>
      <dgm:t>
        <a:bodyPr/>
        <a:lstStyle/>
        <a:p>
          <a:endParaRPr lang="en-US"/>
        </a:p>
      </dgm:t>
    </dgm:pt>
    <dgm:pt modelId="{6C7A005E-6CA3-4AFA-B804-1F5FC580EFF2}" type="parTrans" cxnId="{5BFEE30B-95F6-4C94-9C00-5BBD805BDC69}">
      <dgm:prSet/>
      <dgm:spPr/>
      <dgm:t>
        <a:bodyPr/>
        <a:lstStyle/>
        <a:p>
          <a:endParaRPr lang="en-US"/>
        </a:p>
      </dgm:t>
    </dgm:pt>
    <dgm:pt modelId="{37BA303C-7E3B-4785-8769-B39EFEB1C956}">
      <dgm:prSet phldrT="[Text]" custT="1"/>
      <dgm:spPr/>
      <dgm:t>
        <a:bodyPr/>
        <a:lstStyle/>
        <a:p>
          <a:r>
            <a:rPr lang="en-US" sz="1000" b="1" dirty="0"/>
            <a:t>Is fully reset aware</a:t>
          </a:r>
        </a:p>
      </dgm:t>
    </dgm:pt>
    <dgm:pt modelId="{066DD54A-927E-44C1-9448-C954CA6021E2}" type="parTrans" cxnId="{830EE0CF-F325-4C19-9243-5DB8EB1E60C0}">
      <dgm:prSet/>
      <dgm:spPr/>
      <dgm:t>
        <a:bodyPr/>
        <a:lstStyle/>
        <a:p>
          <a:endParaRPr lang="en-US"/>
        </a:p>
      </dgm:t>
    </dgm:pt>
    <dgm:pt modelId="{070492AF-4457-4A61-9B12-E894724F2787}" type="sibTrans" cxnId="{830EE0CF-F325-4C19-9243-5DB8EB1E60C0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37692" custLinFactNeighborX="7435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151616" custLinFactNeighborX="29566">
        <dgm:presLayoutVars>
          <dgm:chMax val="0"/>
          <dgm:chPref val="0"/>
          <dgm:bulletEnabled val="1"/>
        </dgm:presLayoutVars>
      </dgm:prSet>
      <dgm:spPr/>
    </dgm:pt>
    <dgm:pt modelId="{5D848144-0380-4822-BB81-A39CA61C8397}" type="pres">
      <dgm:prSet presAssocID="{47B37035-06DB-410D-ACF3-E1916FA4C914}" presName="Image3" presStyleCnt="0"/>
      <dgm:spPr/>
    </dgm:pt>
    <dgm:pt modelId="{84026C8C-C04E-4584-8D4D-11D81B1A18FA}" type="pres">
      <dgm:prSet presAssocID="{47B37035-06DB-410D-ACF3-E1916FA4C914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54BC90FD-BD6A-4D29-AF4F-35CA8102A8D7}" type="pres">
      <dgm:prSet presAssocID="{47B37035-06DB-410D-ACF3-E1916FA4C914}" presName="Child3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DEE5DCF6-D400-406D-8416-CC8AC866A92E}" type="pres">
      <dgm:prSet presAssocID="{37BA303C-7E3B-4785-8769-B39EFEB1C956}" presName="Image4" presStyleCnt="0"/>
      <dgm:spPr/>
    </dgm:pt>
    <dgm:pt modelId="{D1FE00CD-6A29-4BBF-B251-703377742265}" type="pres">
      <dgm:prSet presAssocID="{37BA303C-7E3B-4785-8769-B39EFEB1C956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F77F8C09-F827-4AF3-81CC-5E095F20C058}" type="pres">
      <dgm:prSet presAssocID="{37BA303C-7E3B-4785-8769-B39EFEB1C956}" presName="Child4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5BFEE30B-95F6-4C94-9C00-5BBD805BDC69}" srcId="{6AFA46F5-CB29-4CFA-B940-0F77E508C6FB}" destId="{47B37035-06DB-410D-ACF3-E1916FA4C914}" srcOrd="2" destOrd="0" parTransId="{6C7A005E-6CA3-4AFA-B804-1F5FC580EFF2}" sibTransId="{68C086D9-4D5B-4FA6-BAB6-0D3286181996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1022FB78-D5F8-487E-887A-3F7AB49C2B3F}" type="presOf" srcId="{37BA303C-7E3B-4785-8769-B39EFEB1C956}" destId="{F77F8C09-F827-4AF3-81CC-5E095F20C058}" srcOrd="0" destOrd="0" presId="urn:microsoft.com/office/officeart/2011/layout/RadialPictureList"/>
    <dgm:cxn modelId="{5AB3287E-7F82-4195-ACCA-33040343CD0C}" type="presOf" srcId="{47B37035-06DB-410D-ACF3-E1916FA4C914}" destId="{54BC90FD-BD6A-4D29-AF4F-35CA8102A8D7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830EE0CF-F325-4C19-9243-5DB8EB1E60C0}" srcId="{6AFA46F5-CB29-4CFA-B940-0F77E508C6FB}" destId="{37BA303C-7E3B-4785-8769-B39EFEB1C956}" srcOrd="3" destOrd="0" parTransId="{066DD54A-927E-44C1-9448-C954CA6021E2}" sibTransId="{070492AF-4457-4A61-9B12-E894724F2787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CB982FA8-CB51-4C5B-B8FE-82698AC63A87}" type="presParOf" srcId="{99DDB345-EF8A-4603-AC40-B9476611FDB4}" destId="{5D848144-0380-4822-BB81-A39CA61C8397}" srcOrd="6" destOrd="0" presId="urn:microsoft.com/office/officeart/2011/layout/RadialPictureList"/>
    <dgm:cxn modelId="{28E07DC9-24D6-4EED-BCC6-4C0A5590DA2A}" type="presParOf" srcId="{5D848144-0380-4822-BB81-A39CA61C8397}" destId="{84026C8C-C04E-4584-8D4D-11D81B1A18FA}" srcOrd="0" destOrd="0" presId="urn:microsoft.com/office/officeart/2011/layout/RadialPictureList"/>
    <dgm:cxn modelId="{74007B17-BF2E-4D05-8069-B15648386DEC}" type="presParOf" srcId="{99DDB345-EF8A-4603-AC40-B9476611FDB4}" destId="{54BC90FD-BD6A-4D29-AF4F-35CA8102A8D7}" srcOrd="7" destOrd="0" presId="urn:microsoft.com/office/officeart/2011/layout/RadialPictureList"/>
    <dgm:cxn modelId="{7487D74B-951D-4CC0-A843-04DFDFA75009}" type="presParOf" srcId="{99DDB345-EF8A-4603-AC40-B9476611FDB4}" destId="{DEE5DCF6-D400-406D-8416-CC8AC866A92E}" srcOrd="8" destOrd="0" presId="urn:microsoft.com/office/officeart/2011/layout/RadialPictureList"/>
    <dgm:cxn modelId="{5D3664FD-5951-4943-A31F-64D8AFB2198A}" type="presParOf" srcId="{DEE5DCF6-D400-406D-8416-CC8AC866A92E}" destId="{D1FE00CD-6A29-4BBF-B251-703377742265}" srcOrd="0" destOrd="0" presId="urn:microsoft.com/office/officeart/2011/layout/RadialPictureList"/>
    <dgm:cxn modelId="{690F4573-1D77-476D-9CE3-5F0A07EC4C80}" type="presParOf" srcId="{99DDB345-EF8A-4603-AC40-B9476611FDB4}" destId="{F77F8C09-F827-4AF3-81CC-5E095F20C058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DRIVER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Constructs the parent using </a:t>
          </a:r>
          <a:r>
            <a:rPr lang="en-US" sz="1000" b="1" dirty="0" err="1"/>
            <a:t>super.new</a:t>
          </a:r>
          <a:r>
            <a:rPr lang="en-US" sz="1000" b="1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Translates the transaction level items to pin level ones.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F9A85001-F0D2-40ED-B26E-716CD864CA73}">
      <dgm:prSet phldrT="[Text]" custT="1"/>
      <dgm:spPr/>
      <dgm:t>
        <a:bodyPr/>
        <a:lstStyle/>
        <a:p>
          <a:r>
            <a:rPr lang="en-US" sz="1000" b="1" dirty="0"/>
            <a:t>Receives the transactions from the sequences through </a:t>
          </a:r>
          <a:r>
            <a:rPr lang="en-US" sz="1000" b="1" dirty="0" err="1"/>
            <a:t>seq_item_pull_port</a:t>
          </a:r>
          <a:r>
            <a:rPr lang="en-US" sz="1000" b="1" dirty="0"/>
            <a:t> by the sequencer</a:t>
          </a:r>
        </a:p>
      </dgm:t>
    </dgm:pt>
    <dgm:pt modelId="{8ECC7002-261C-4132-A5F1-AFB3EC495308}" type="parTrans" cxnId="{B172610B-C41E-436A-85BD-F4178F3C01F5}">
      <dgm:prSet/>
      <dgm:spPr/>
      <dgm:t>
        <a:bodyPr/>
        <a:lstStyle/>
        <a:p>
          <a:endParaRPr lang="en-US"/>
        </a:p>
      </dgm:t>
    </dgm:pt>
    <dgm:pt modelId="{8D734098-1089-4087-A736-EFD6364237DC}" type="sibTrans" cxnId="{B172610B-C41E-436A-85BD-F4178F3C01F5}">
      <dgm:prSet/>
      <dgm:spPr/>
      <dgm:t>
        <a:bodyPr/>
        <a:lstStyle/>
        <a:p>
          <a:endParaRPr lang="en-US"/>
        </a:p>
      </dgm:t>
    </dgm:pt>
    <dgm:pt modelId="{DD235475-A57F-4F5F-8015-320129231A56}">
      <dgm:prSet phldrT="[Text]" custT="1"/>
      <dgm:spPr/>
      <dgm:t>
        <a:bodyPr/>
        <a:lstStyle/>
        <a:p>
          <a:r>
            <a:rPr lang="en-US" sz="1000" b="1" dirty="0"/>
            <a:t>Sends the stimulus to the </a:t>
          </a:r>
          <a:r>
            <a:rPr lang="en-US" sz="1000" b="1" dirty="0" err="1"/>
            <a:t>dut</a:t>
          </a:r>
          <a:r>
            <a:rPr lang="en-US" sz="1000" b="1" dirty="0"/>
            <a:t> &amp; terminates operation if a </a:t>
          </a:r>
          <a:r>
            <a:rPr lang="en-US" sz="1000" b="1" dirty="0" err="1"/>
            <a:t>rst</a:t>
          </a:r>
          <a:r>
            <a:rPr lang="en-US" sz="1000" b="1" dirty="0"/>
            <a:t> is detected by the </a:t>
          </a:r>
          <a:r>
            <a:rPr lang="en-US" sz="1000" b="1" dirty="0" err="1"/>
            <a:t>rst_agnt</a:t>
          </a:r>
          <a:endParaRPr lang="en-US" sz="1000" b="1" dirty="0"/>
        </a:p>
      </dgm:t>
    </dgm:pt>
    <dgm:pt modelId="{178A0234-4EC1-490C-A532-42EF6B645454}" type="parTrans" cxnId="{8A7AB873-5B3D-4DA5-8760-1609A4DA29C2}">
      <dgm:prSet/>
      <dgm:spPr/>
      <dgm:t>
        <a:bodyPr/>
        <a:lstStyle/>
        <a:p>
          <a:endParaRPr lang="en-US"/>
        </a:p>
      </dgm:t>
    </dgm:pt>
    <dgm:pt modelId="{7508681D-FA63-4D17-BC9C-426A7212F4B5}" type="sibTrans" cxnId="{8A7AB873-5B3D-4DA5-8760-1609A4DA29C2}">
      <dgm:prSet/>
      <dgm:spPr/>
      <dgm:t>
        <a:bodyPr/>
        <a:lstStyle/>
        <a:p>
          <a:endParaRPr lang="en-US"/>
        </a:p>
      </dgm:t>
    </dgm:pt>
    <dgm:pt modelId="{1AA88EE2-7F47-4784-8CD5-04A8A43E9BB7}">
      <dgm:prSet phldrT="[Text]" custT="1"/>
      <dgm:spPr/>
      <dgm:t>
        <a:bodyPr/>
        <a:lstStyle/>
        <a:p>
          <a:endParaRPr lang="en-US" sz="1000" dirty="0"/>
        </a:p>
      </dgm:t>
    </dgm:pt>
    <dgm:pt modelId="{B54F16CE-FE64-46B4-A0F5-6CF3C196AA3A}" type="parTrans" cxnId="{3A2A50C9-6EA4-4968-866C-0ED13C96139D}">
      <dgm:prSet/>
      <dgm:spPr/>
      <dgm:t>
        <a:bodyPr/>
        <a:lstStyle/>
        <a:p>
          <a:endParaRPr lang="en-US"/>
        </a:p>
      </dgm:t>
    </dgm:pt>
    <dgm:pt modelId="{AD2E97A4-D6B5-4D92-B13E-563C4FF3AB0F}" type="sibTrans" cxnId="{3A2A50C9-6EA4-4968-866C-0ED13C96139D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37692" custLinFactNeighborX="7435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151616" custLinFactNeighborX="29566">
        <dgm:presLayoutVars>
          <dgm:chMax val="0"/>
          <dgm:chPref val="0"/>
          <dgm:bulletEnabled val="1"/>
        </dgm:presLayoutVars>
      </dgm:prSet>
      <dgm:spPr/>
    </dgm:pt>
    <dgm:pt modelId="{E03AA714-639F-43D7-8C0E-E602856A8189}" type="pres">
      <dgm:prSet presAssocID="{F9A85001-F0D2-40ED-B26E-716CD864CA73}" presName="Image3" presStyleCnt="0"/>
      <dgm:spPr/>
    </dgm:pt>
    <dgm:pt modelId="{0BCCA6CD-3F3E-46F1-BB55-245038E59F6D}" type="pres">
      <dgm:prSet presAssocID="{F9A85001-F0D2-40ED-B26E-716CD864CA73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1DF2C99D-ECE4-4240-890C-783D33FD7E46}" type="pres">
      <dgm:prSet presAssocID="{F9A85001-F0D2-40ED-B26E-716CD864CA73}" presName="Child3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BB677E0B-32DF-4CE4-8318-4B919BA837BB}" type="pres">
      <dgm:prSet presAssocID="{DD235475-A57F-4F5F-8015-320129231A56}" presName="Image4" presStyleCnt="0"/>
      <dgm:spPr/>
    </dgm:pt>
    <dgm:pt modelId="{AA43BAE0-E96D-44A2-8408-45A5169CA0FD}" type="pres">
      <dgm:prSet presAssocID="{DD235475-A57F-4F5F-8015-320129231A56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63480FC6-A4D4-4351-968D-45AFF44C86F3}" type="pres">
      <dgm:prSet presAssocID="{DD235475-A57F-4F5F-8015-320129231A56}" presName="Child4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172610B-C41E-436A-85BD-F4178F3C01F5}" srcId="{6AFA46F5-CB29-4CFA-B940-0F77E508C6FB}" destId="{F9A85001-F0D2-40ED-B26E-716CD864CA73}" srcOrd="2" destOrd="0" parTransId="{8ECC7002-261C-4132-A5F1-AFB3EC495308}" sibTransId="{8D734098-1089-4087-A736-EFD6364237DC}"/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5B36DF37-F32D-4F44-B7A5-E1BE22A8AFDE}" type="presOf" srcId="{F9A85001-F0D2-40ED-B26E-716CD864CA73}" destId="{1DF2C99D-ECE4-4240-890C-783D33FD7E46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E3AAB85B-492F-4269-940F-20EE2F369899}" type="presOf" srcId="{DD235475-A57F-4F5F-8015-320129231A56}" destId="{63480FC6-A4D4-4351-968D-45AFF44C86F3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8A7AB873-5B3D-4DA5-8760-1609A4DA29C2}" srcId="{6AFA46F5-CB29-4CFA-B940-0F77E508C6FB}" destId="{DD235475-A57F-4F5F-8015-320129231A56}" srcOrd="3" destOrd="0" parTransId="{178A0234-4EC1-490C-A532-42EF6B645454}" sibTransId="{7508681D-FA63-4D17-BC9C-426A7212F4B5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3A2A50C9-6EA4-4968-866C-0ED13C96139D}" srcId="{6AFA46F5-CB29-4CFA-B940-0F77E508C6FB}" destId="{1AA88EE2-7F47-4784-8CD5-04A8A43E9BB7}" srcOrd="4" destOrd="0" parTransId="{B54F16CE-FE64-46B4-A0F5-6CF3C196AA3A}" sibTransId="{AD2E97A4-D6B5-4D92-B13E-563C4FF3AB0F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04245B94-FB42-4E49-9367-39E0D3BC4433}" type="presParOf" srcId="{99DDB345-EF8A-4603-AC40-B9476611FDB4}" destId="{E03AA714-639F-43D7-8C0E-E602856A8189}" srcOrd="6" destOrd="0" presId="urn:microsoft.com/office/officeart/2011/layout/RadialPictureList"/>
    <dgm:cxn modelId="{2B7D6C4F-DF57-4222-AD6D-A607C395BB64}" type="presParOf" srcId="{E03AA714-639F-43D7-8C0E-E602856A8189}" destId="{0BCCA6CD-3F3E-46F1-BB55-245038E59F6D}" srcOrd="0" destOrd="0" presId="urn:microsoft.com/office/officeart/2011/layout/RadialPictureList"/>
    <dgm:cxn modelId="{E3760274-8357-4D23-AEE6-188B4B110255}" type="presParOf" srcId="{99DDB345-EF8A-4603-AC40-B9476611FDB4}" destId="{1DF2C99D-ECE4-4240-890C-783D33FD7E46}" srcOrd="7" destOrd="0" presId="urn:microsoft.com/office/officeart/2011/layout/RadialPictureList"/>
    <dgm:cxn modelId="{29AD6EE4-1C64-4E3F-8906-8E61D0F44896}" type="presParOf" srcId="{99DDB345-EF8A-4603-AC40-B9476611FDB4}" destId="{BB677E0B-32DF-4CE4-8318-4B919BA837BB}" srcOrd="8" destOrd="0" presId="urn:microsoft.com/office/officeart/2011/layout/RadialPictureList"/>
    <dgm:cxn modelId="{A49C6739-568E-441F-91FD-944693ED55E8}" type="presParOf" srcId="{BB677E0B-32DF-4CE4-8318-4B919BA837BB}" destId="{AA43BAE0-E96D-44A2-8408-45A5169CA0FD}" srcOrd="0" destOrd="0" presId="urn:microsoft.com/office/officeart/2011/layout/RadialPictureList"/>
    <dgm:cxn modelId="{7DCEB69D-13A8-4EC4-ABC5-F45209884A9F}" type="presParOf" srcId="{99DDB345-EF8A-4603-AC40-B9476611FDB4}" destId="{63480FC6-A4D4-4351-968D-45AFF44C86F3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INPUT MONITOR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Constructs the parent using </a:t>
          </a:r>
          <a:r>
            <a:rPr lang="en-US" sz="1000" b="1" dirty="0" err="1"/>
            <a:t>super.new</a:t>
          </a:r>
          <a:r>
            <a:rPr lang="en-US" sz="1000" b="1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Translates the pin level items to transaction level ones.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F9A85001-F0D2-40ED-B26E-716CD864CA73}">
      <dgm:prSet phldrT="[Text]" custT="1"/>
      <dgm:spPr/>
      <dgm:t>
        <a:bodyPr/>
        <a:lstStyle/>
        <a:p>
          <a:r>
            <a:rPr lang="en-US" sz="1000" b="1" dirty="0"/>
            <a:t>Constantly monitors the </a:t>
          </a:r>
          <a:r>
            <a:rPr lang="en-US" sz="1000" b="1" dirty="0" err="1"/>
            <a:t>dut</a:t>
          </a:r>
          <a:r>
            <a:rPr lang="en-US" sz="1000" b="1" dirty="0"/>
            <a:t> to observe its behavior to driven stimulus</a:t>
          </a:r>
        </a:p>
      </dgm:t>
    </dgm:pt>
    <dgm:pt modelId="{8ECC7002-261C-4132-A5F1-AFB3EC495308}" type="parTrans" cxnId="{B172610B-C41E-436A-85BD-F4178F3C01F5}">
      <dgm:prSet/>
      <dgm:spPr/>
      <dgm:t>
        <a:bodyPr/>
        <a:lstStyle/>
        <a:p>
          <a:endParaRPr lang="en-US"/>
        </a:p>
      </dgm:t>
    </dgm:pt>
    <dgm:pt modelId="{8D734098-1089-4087-A736-EFD6364237DC}" type="sibTrans" cxnId="{B172610B-C41E-436A-85BD-F4178F3C01F5}">
      <dgm:prSet/>
      <dgm:spPr/>
      <dgm:t>
        <a:bodyPr/>
        <a:lstStyle/>
        <a:p>
          <a:endParaRPr lang="en-US"/>
        </a:p>
      </dgm:t>
    </dgm:pt>
    <dgm:pt modelId="{DD235475-A57F-4F5F-8015-320129231A56}">
      <dgm:prSet phldrT="[Text]" custT="1"/>
      <dgm:spPr/>
      <dgm:t>
        <a:bodyPr/>
        <a:lstStyle/>
        <a:p>
          <a:r>
            <a:rPr lang="en-US" sz="1000" b="1" dirty="0"/>
            <a:t>Terminates the monitoring operation if a </a:t>
          </a:r>
          <a:r>
            <a:rPr lang="en-US" sz="1000" b="1" dirty="0" err="1"/>
            <a:t>rst</a:t>
          </a:r>
          <a:r>
            <a:rPr lang="en-US" sz="1000" b="1" dirty="0"/>
            <a:t> is detected by the </a:t>
          </a:r>
          <a:r>
            <a:rPr lang="en-US" sz="1000" b="1" dirty="0" err="1"/>
            <a:t>rst_agnt</a:t>
          </a:r>
          <a:endParaRPr lang="en-US" sz="1000" b="1" dirty="0"/>
        </a:p>
      </dgm:t>
    </dgm:pt>
    <dgm:pt modelId="{178A0234-4EC1-490C-A532-42EF6B645454}" type="parTrans" cxnId="{8A7AB873-5B3D-4DA5-8760-1609A4DA29C2}">
      <dgm:prSet/>
      <dgm:spPr/>
      <dgm:t>
        <a:bodyPr/>
        <a:lstStyle/>
        <a:p>
          <a:endParaRPr lang="en-US"/>
        </a:p>
      </dgm:t>
    </dgm:pt>
    <dgm:pt modelId="{7508681D-FA63-4D17-BC9C-426A7212F4B5}" type="sibTrans" cxnId="{8A7AB873-5B3D-4DA5-8760-1609A4DA29C2}">
      <dgm:prSet/>
      <dgm:spPr/>
      <dgm:t>
        <a:bodyPr/>
        <a:lstStyle/>
        <a:p>
          <a:endParaRPr lang="en-US"/>
        </a:p>
      </dgm:t>
    </dgm:pt>
    <dgm:pt modelId="{1AA88EE2-7F47-4784-8CD5-04A8A43E9BB7}">
      <dgm:prSet phldrT="[Text]" custT="1"/>
      <dgm:spPr/>
      <dgm:t>
        <a:bodyPr/>
        <a:lstStyle/>
        <a:p>
          <a:endParaRPr lang="en-US" sz="1000" dirty="0"/>
        </a:p>
      </dgm:t>
    </dgm:pt>
    <dgm:pt modelId="{B54F16CE-FE64-46B4-A0F5-6CF3C196AA3A}" type="parTrans" cxnId="{3A2A50C9-6EA4-4968-866C-0ED13C96139D}">
      <dgm:prSet/>
      <dgm:spPr/>
      <dgm:t>
        <a:bodyPr/>
        <a:lstStyle/>
        <a:p>
          <a:endParaRPr lang="en-US"/>
        </a:p>
      </dgm:t>
    </dgm:pt>
    <dgm:pt modelId="{AD2E97A4-D6B5-4D92-B13E-563C4FF3AB0F}" type="sibTrans" cxnId="{3A2A50C9-6EA4-4968-866C-0ED13C96139D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37692" custLinFactNeighborX="7435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151616" custLinFactNeighborX="29566">
        <dgm:presLayoutVars>
          <dgm:chMax val="0"/>
          <dgm:chPref val="0"/>
          <dgm:bulletEnabled val="1"/>
        </dgm:presLayoutVars>
      </dgm:prSet>
      <dgm:spPr/>
    </dgm:pt>
    <dgm:pt modelId="{E03AA714-639F-43D7-8C0E-E602856A8189}" type="pres">
      <dgm:prSet presAssocID="{F9A85001-F0D2-40ED-B26E-716CD864CA73}" presName="Image3" presStyleCnt="0"/>
      <dgm:spPr/>
    </dgm:pt>
    <dgm:pt modelId="{0BCCA6CD-3F3E-46F1-BB55-245038E59F6D}" type="pres">
      <dgm:prSet presAssocID="{F9A85001-F0D2-40ED-B26E-716CD864CA73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1DF2C99D-ECE4-4240-890C-783D33FD7E46}" type="pres">
      <dgm:prSet presAssocID="{F9A85001-F0D2-40ED-B26E-716CD864CA73}" presName="Child3" presStyleLbl="revTx" presStyleIdx="2" presStyleCnt="4" custScaleX="154855" custLinFactNeighborX="27580">
        <dgm:presLayoutVars>
          <dgm:chMax val="0"/>
          <dgm:chPref val="0"/>
          <dgm:bulletEnabled val="1"/>
        </dgm:presLayoutVars>
      </dgm:prSet>
      <dgm:spPr/>
    </dgm:pt>
    <dgm:pt modelId="{BB677E0B-32DF-4CE4-8318-4B919BA837BB}" type="pres">
      <dgm:prSet presAssocID="{DD235475-A57F-4F5F-8015-320129231A56}" presName="Image4" presStyleCnt="0"/>
      <dgm:spPr/>
    </dgm:pt>
    <dgm:pt modelId="{AA43BAE0-E96D-44A2-8408-45A5169CA0FD}" type="pres">
      <dgm:prSet presAssocID="{DD235475-A57F-4F5F-8015-320129231A56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63480FC6-A4D4-4351-968D-45AFF44C86F3}" type="pres">
      <dgm:prSet presAssocID="{DD235475-A57F-4F5F-8015-320129231A56}" presName="Child4" presStyleLbl="revTx" presStyleIdx="3" presStyleCnt="4" custScaleX="169013" custLinFactNeighborX="34622" custLinFactNeighborY="-812">
        <dgm:presLayoutVars>
          <dgm:chMax val="0"/>
          <dgm:chPref val="0"/>
          <dgm:bulletEnabled val="1"/>
        </dgm:presLayoutVars>
      </dgm:prSet>
      <dgm:spPr/>
    </dgm:pt>
  </dgm:ptLst>
  <dgm:cxnLst>
    <dgm:cxn modelId="{B172610B-C41E-436A-85BD-F4178F3C01F5}" srcId="{6AFA46F5-CB29-4CFA-B940-0F77E508C6FB}" destId="{F9A85001-F0D2-40ED-B26E-716CD864CA73}" srcOrd="2" destOrd="0" parTransId="{8ECC7002-261C-4132-A5F1-AFB3EC495308}" sibTransId="{8D734098-1089-4087-A736-EFD6364237DC}"/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5B36DF37-F32D-4F44-B7A5-E1BE22A8AFDE}" type="presOf" srcId="{F9A85001-F0D2-40ED-B26E-716CD864CA73}" destId="{1DF2C99D-ECE4-4240-890C-783D33FD7E46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E3AAB85B-492F-4269-940F-20EE2F369899}" type="presOf" srcId="{DD235475-A57F-4F5F-8015-320129231A56}" destId="{63480FC6-A4D4-4351-968D-45AFF44C86F3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8A7AB873-5B3D-4DA5-8760-1609A4DA29C2}" srcId="{6AFA46F5-CB29-4CFA-B940-0F77E508C6FB}" destId="{DD235475-A57F-4F5F-8015-320129231A56}" srcOrd="3" destOrd="0" parTransId="{178A0234-4EC1-490C-A532-42EF6B645454}" sibTransId="{7508681D-FA63-4D17-BC9C-426A7212F4B5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3A2A50C9-6EA4-4968-866C-0ED13C96139D}" srcId="{6AFA46F5-CB29-4CFA-B940-0F77E508C6FB}" destId="{1AA88EE2-7F47-4784-8CD5-04A8A43E9BB7}" srcOrd="4" destOrd="0" parTransId="{B54F16CE-FE64-46B4-A0F5-6CF3C196AA3A}" sibTransId="{AD2E97A4-D6B5-4D92-B13E-563C4FF3AB0F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04245B94-FB42-4E49-9367-39E0D3BC4433}" type="presParOf" srcId="{99DDB345-EF8A-4603-AC40-B9476611FDB4}" destId="{E03AA714-639F-43D7-8C0E-E602856A8189}" srcOrd="6" destOrd="0" presId="urn:microsoft.com/office/officeart/2011/layout/RadialPictureList"/>
    <dgm:cxn modelId="{2B7D6C4F-DF57-4222-AD6D-A607C395BB64}" type="presParOf" srcId="{E03AA714-639F-43D7-8C0E-E602856A8189}" destId="{0BCCA6CD-3F3E-46F1-BB55-245038E59F6D}" srcOrd="0" destOrd="0" presId="urn:microsoft.com/office/officeart/2011/layout/RadialPictureList"/>
    <dgm:cxn modelId="{E3760274-8357-4D23-AEE6-188B4B110255}" type="presParOf" srcId="{99DDB345-EF8A-4603-AC40-B9476611FDB4}" destId="{1DF2C99D-ECE4-4240-890C-783D33FD7E46}" srcOrd="7" destOrd="0" presId="urn:microsoft.com/office/officeart/2011/layout/RadialPictureList"/>
    <dgm:cxn modelId="{29AD6EE4-1C64-4E3F-8906-8E61D0F44896}" type="presParOf" srcId="{99DDB345-EF8A-4603-AC40-B9476611FDB4}" destId="{BB677E0B-32DF-4CE4-8318-4B919BA837BB}" srcOrd="8" destOrd="0" presId="urn:microsoft.com/office/officeart/2011/layout/RadialPictureList"/>
    <dgm:cxn modelId="{A49C6739-568E-441F-91FD-944693ED55E8}" type="presParOf" srcId="{BB677E0B-32DF-4CE4-8318-4B919BA837BB}" destId="{AA43BAE0-E96D-44A2-8408-45A5169CA0FD}" srcOrd="0" destOrd="0" presId="urn:microsoft.com/office/officeart/2011/layout/RadialPictureList"/>
    <dgm:cxn modelId="{7DCEB69D-13A8-4EC4-ABC5-F45209884A9F}" type="presParOf" srcId="{99DDB345-EF8A-4603-AC40-B9476611FDB4}" destId="{63480FC6-A4D4-4351-968D-45AFF44C86F3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OUTPUT MONITOR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Constructs the parent using </a:t>
          </a:r>
          <a:r>
            <a:rPr lang="en-US" sz="1000" b="1" dirty="0" err="1"/>
            <a:t>super.new</a:t>
          </a:r>
          <a:r>
            <a:rPr lang="en-US" sz="1000" b="1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Translates the pin level items to transaction level ones.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F9A85001-F0D2-40ED-B26E-716CD864CA73}">
      <dgm:prSet phldrT="[Text]" custT="1"/>
      <dgm:spPr/>
      <dgm:t>
        <a:bodyPr/>
        <a:lstStyle/>
        <a:p>
          <a:r>
            <a:rPr lang="en-US" sz="1000" b="1" dirty="0"/>
            <a:t>Constantly monitors the </a:t>
          </a:r>
          <a:r>
            <a:rPr lang="en-US" sz="1000" b="1" dirty="0" err="1"/>
            <a:t>dut</a:t>
          </a:r>
          <a:r>
            <a:rPr lang="en-US" sz="1000" b="1" dirty="0"/>
            <a:t> to observe its behavior to driven stimulus</a:t>
          </a:r>
        </a:p>
      </dgm:t>
    </dgm:pt>
    <dgm:pt modelId="{8ECC7002-261C-4132-A5F1-AFB3EC495308}" type="parTrans" cxnId="{B172610B-C41E-436A-85BD-F4178F3C01F5}">
      <dgm:prSet/>
      <dgm:spPr/>
      <dgm:t>
        <a:bodyPr/>
        <a:lstStyle/>
        <a:p>
          <a:endParaRPr lang="en-US"/>
        </a:p>
      </dgm:t>
    </dgm:pt>
    <dgm:pt modelId="{8D734098-1089-4087-A736-EFD6364237DC}" type="sibTrans" cxnId="{B172610B-C41E-436A-85BD-F4178F3C01F5}">
      <dgm:prSet/>
      <dgm:spPr/>
      <dgm:t>
        <a:bodyPr/>
        <a:lstStyle/>
        <a:p>
          <a:endParaRPr lang="en-US"/>
        </a:p>
      </dgm:t>
    </dgm:pt>
    <dgm:pt modelId="{DD235475-A57F-4F5F-8015-320129231A56}">
      <dgm:prSet phldrT="[Text]" custT="1"/>
      <dgm:spPr/>
      <dgm:t>
        <a:bodyPr/>
        <a:lstStyle/>
        <a:p>
          <a:r>
            <a:rPr lang="en-US" sz="1000" b="1" dirty="0"/>
            <a:t>Terminates the monitoring operation if a </a:t>
          </a:r>
          <a:r>
            <a:rPr lang="en-US" sz="1000" b="1" dirty="0" err="1"/>
            <a:t>rst</a:t>
          </a:r>
          <a:r>
            <a:rPr lang="en-US" sz="1000" b="1" dirty="0"/>
            <a:t> is detected by the </a:t>
          </a:r>
          <a:r>
            <a:rPr lang="en-US" sz="1000" b="1" dirty="0" err="1"/>
            <a:t>rst_agnt</a:t>
          </a:r>
          <a:endParaRPr lang="en-US" sz="1000" b="1" dirty="0"/>
        </a:p>
      </dgm:t>
    </dgm:pt>
    <dgm:pt modelId="{178A0234-4EC1-490C-A532-42EF6B645454}" type="parTrans" cxnId="{8A7AB873-5B3D-4DA5-8760-1609A4DA29C2}">
      <dgm:prSet/>
      <dgm:spPr/>
      <dgm:t>
        <a:bodyPr/>
        <a:lstStyle/>
        <a:p>
          <a:endParaRPr lang="en-US"/>
        </a:p>
      </dgm:t>
    </dgm:pt>
    <dgm:pt modelId="{7508681D-FA63-4D17-BC9C-426A7212F4B5}" type="sibTrans" cxnId="{8A7AB873-5B3D-4DA5-8760-1609A4DA29C2}">
      <dgm:prSet/>
      <dgm:spPr/>
      <dgm:t>
        <a:bodyPr/>
        <a:lstStyle/>
        <a:p>
          <a:endParaRPr lang="en-US"/>
        </a:p>
      </dgm:t>
    </dgm:pt>
    <dgm:pt modelId="{1AA88EE2-7F47-4784-8CD5-04A8A43E9BB7}">
      <dgm:prSet phldrT="[Text]" custT="1"/>
      <dgm:spPr/>
      <dgm:t>
        <a:bodyPr/>
        <a:lstStyle/>
        <a:p>
          <a:endParaRPr lang="en-US" sz="1000" dirty="0"/>
        </a:p>
      </dgm:t>
    </dgm:pt>
    <dgm:pt modelId="{B54F16CE-FE64-46B4-A0F5-6CF3C196AA3A}" type="parTrans" cxnId="{3A2A50C9-6EA4-4968-866C-0ED13C96139D}">
      <dgm:prSet/>
      <dgm:spPr/>
      <dgm:t>
        <a:bodyPr/>
        <a:lstStyle/>
        <a:p>
          <a:endParaRPr lang="en-US"/>
        </a:p>
      </dgm:t>
    </dgm:pt>
    <dgm:pt modelId="{AD2E97A4-D6B5-4D92-B13E-563C4FF3AB0F}" type="sibTrans" cxnId="{3A2A50C9-6EA4-4968-866C-0ED13C96139D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37692" custLinFactNeighborX="7435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151616" custLinFactNeighborX="29566">
        <dgm:presLayoutVars>
          <dgm:chMax val="0"/>
          <dgm:chPref val="0"/>
          <dgm:bulletEnabled val="1"/>
        </dgm:presLayoutVars>
      </dgm:prSet>
      <dgm:spPr/>
    </dgm:pt>
    <dgm:pt modelId="{E03AA714-639F-43D7-8C0E-E602856A8189}" type="pres">
      <dgm:prSet presAssocID="{F9A85001-F0D2-40ED-B26E-716CD864CA73}" presName="Image3" presStyleCnt="0"/>
      <dgm:spPr/>
    </dgm:pt>
    <dgm:pt modelId="{0BCCA6CD-3F3E-46F1-BB55-245038E59F6D}" type="pres">
      <dgm:prSet presAssocID="{F9A85001-F0D2-40ED-B26E-716CD864CA73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1DF2C99D-ECE4-4240-890C-783D33FD7E46}" type="pres">
      <dgm:prSet presAssocID="{F9A85001-F0D2-40ED-B26E-716CD864CA73}" presName="Child3" presStyleLbl="revTx" presStyleIdx="2" presStyleCnt="4" custScaleX="154855" custLinFactNeighborX="27580">
        <dgm:presLayoutVars>
          <dgm:chMax val="0"/>
          <dgm:chPref val="0"/>
          <dgm:bulletEnabled val="1"/>
        </dgm:presLayoutVars>
      </dgm:prSet>
      <dgm:spPr/>
    </dgm:pt>
    <dgm:pt modelId="{BB677E0B-32DF-4CE4-8318-4B919BA837BB}" type="pres">
      <dgm:prSet presAssocID="{DD235475-A57F-4F5F-8015-320129231A56}" presName="Image4" presStyleCnt="0"/>
      <dgm:spPr/>
    </dgm:pt>
    <dgm:pt modelId="{AA43BAE0-E96D-44A2-8408-45A5169CA0FD}" type="pres">
      <dgm:prSet presAssocID="{DD235475-A57F-4F5F-8015-320129231A56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63480FC6-A4D4-4351-968D-45AFF44C86F3}" type="pres">
      <dgm:prSet presAssocID="{DD235475-A57F-4F5F-8015-320129231A56}" presName="Child4" presStyleLbl="revTx" presStyleIdx="3" presStyleCnt="4" custScaleX="169013" custLinFactNeighborX="34622" custLinFactNeighborY="-812">
        <dgm:presLayoutVars>
          <dgm:chMax val="0"/>
          <dgm:chPref val="0"/>
          <dgm:bulletEnabled val="1"/>
        </dgm:presLayoutVars>
      </dgm:prSet>
      <dgm:spPr/>
    </dgm:pt>
  </dgm:ptLst>
  <dgm:cxnLst>
    <dgm:cxn modelId="{B172610B-C41E-436A-85BD-F4178F3C01F5}" srcId="{6AFA46F5-CB29-4CFA-B940-0F77E508C6FB}" destId="{F9A85001-F0D2-40ED-B26E-716CD864CA73}" srcOrd="2" destOrd="0" parTransId="{8ECC7002-261C-4132-A5F1-AFB3EC495308}" sibTransId="{8D734098-1089-4087-A736-EFD6364237DC}"/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5B36DF37-F32D-4F44-B7A5-E1BE22A8AFDE}" type="presOf" srcId="{F9A85001-F0D2-40ED-B26E-716CD864CA73}" destId="{1DF2C99D-ECE4-4240-890C-783D33FD7E46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E3AAB85B-492F-4269-940F-20EE2F369899}" type="presOf" srcId="{DD235475-A57F-4F5F-8015-320129231A56}" destId="{63480FC6-A4D4-4351-968D-45AFF44C86F3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8A7AB873-5B3D-4DA5-8760-1609A4DA29C2}" srcId="{6AFA46F5-CB29-4CFA-B940-0F77E508C6FB}" destId="{DD235475-A57F-4F5F-8015-320129231A56}" srcOrd="3" destOrd="0" parTransId="{178A0234-4EC1-490C-A532-42EF6B645454}" sibTransId="{7508681D-FA63-4D17-BC9C-426A7212F4B5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3A2A50C9-6EA4-4968-866C-0ED13C96139D}" srcId="{6AFA46F5-CB29-4CFA-B940-0F77E508C6FB}" destId="{1AA88EE2-7F47-4784-8CD5-04A8A43E9BB7}" srcOrd="4" destOrd="0" parTransId="{B54F16CE-FE64-46B4-A0F5-6CF3C196AA3A}" sibTransId="{AD2E97A4-D6B5-4D92-B13E-563C4FF3AB0F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04245B94-FB42-4E49-9367-39E0D3BC4433}" type="presParOf" srcId="{99DDB345-EF8A-4603-AC40-B9476611FDB4}" destId="{E03AA714-639F-43D7-8C0E-E602856A8189}" srcOrd="6" destOrd="0" presId="urn:microsoft.com/office/officeart/2011/layout/RadialPictureList"/>
    <dgm:cxn modelId="{2B7D6C4F-DF57-4222-AD6D-A607C395BB64}" type="presParOf" srcId="{E03AA714-639F-43D7-8C0E-E602856A8189}" destId="{0BCCA6CD-3F3E-46F1-BB55-245038E59F6D}" srcOrd="0" destOrd="0" presId="urn:microsoft.com/office/officeart/2011/layout/RadialPictureList"/>
    <dgm:cxn modelId="{E3760274-8357-4D23-AEE6-188B4B110255}" type="presParOf" srcId="{99DDB345-EF8A-4603-AC40-B9476611FDB4}" destId="{1DF2C99D-ECE4-4240-890C-783D33FD7E46}" srcOrd="7" destOrd="0" presId="urn:microsoft.com/office/officeart/2011/layout/RadialPictureList"/>
    <dgm:cxn modelId="{29AD6EE4-1C64-4E3F-8906-8E61D0F44896}" type="presParOf" srcId="{99DDB345-EF8A-4603-AC40-B9476611FDB4}" destId="{BB677E0B-32DF-4CE4-8318-4B919BA837BB}" srcOrd="8" destOrd="0" presId="urn:microsoft.com/office/officeart/2011/layout/RadialPictureList"/>
    <dgm:cxn modelId="{A49C6739-568E-441F-91FD-944693ED55E8}" type="presParOf" srcId="{BB677E0B-32DF-4CE4-8318-4B919BA837BB}" destId="{AA43BAE0-E96D-44A2-8408-45A5169CA0FD}" srcOrd="0" destOrd="0" presId="urn:microsoft.com/office/officeart/2011/layout/RadialPictureList"/>
    <dgm:cxn modelId="{7DCEB69D-13A8-4EC4-ABC5-F45209884A9F}" type="presParOf" srcId="{99DDB345-EF8A-4603-AC40-B9476611FDB4}" destId="{63480FC6-A4D4-4351-968D-45AFF44C86F3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SEQUENCER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Constructs the parent using </a:t>
          </a:r>
          <a:r>
            <a:rPr lang="en-US" sz="1000" b="1" dirty="0" err="1"/>
            <a:t>super.new</a:t>
          </a:r>
          <a:r>
            <a:rPr lang="en-US" sz="1000" b="1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Transmits </a:t>
          </a:r>
          <a:r>
            <a:rPr lang="en-US" sz="1000" b="1" dirty="0" err="1"/>
            <a:t>sequence_items</a:t>
          </a:r>
          <a:r>
            <a:rPr lang="en-US" sz="1000" b="1" dirty="0"/>
            <a:t> from alu sequences to </a:t>
          </a:r>
          <a:r>
            <a:rPr lang="en-US" sz="1000" b="1" dirty="0" err="1"/>
            <a:t>alu_driver</a:t>
          </a:r>
          <a:endParaRPr lang="en-US" sz="1000" b="1" dirty="0"/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F9A85001-F0D2-40ED-B26E-716CD864CA73}">
      <dgm:prSet phldrT="[Text]" custT="1"/>
      <dgm:spPr/>
      <dgm:t>
        <a:bodyPr/>
        <a:lstStyle/>
        <a:p>
          <a:r>
            <a:rPr lang="en-US" sz="1000" b="1" dirty="0"/>
            <a:t>Is connected to the </a:t>
          </a:r>
          <a:r>
            <a:rPr lang="en-US" sz="1000" b="1" dirty="0" err="1"/>
            <a:t>alu_driver</a:t>
          </a:r>
          <a:r>
            <a:rPr lang="en-US" sz="1000" b="1" dirty="0"/>
            <a:t> in the </a:t>
          </a:r>
          <a:r>
            <a:rPr lang="en-US" sz="1000" b="1" dirty="0" err="1"/>
            <a:t>alu_agent</a:t>
          </a:r>
          <a:r>
            <a:rPr lang="en-US" sz="1000" b="1" dirty="0"/>
            <a:t> using </a:t>
          </a:r>
          <a:r>
            <a:rPr lang="en-US" sz="1000" b="1" dirty="0" err="1"/>
            <a:t>seq_item_pull_export</a:t>
          </a:r>
          <a:endParaRPr lang="en-US" sz="1000" b="1" dirty="0"/>
        </a:p>
      </dgm:t>
    </dgm:pt>
    <dgm:pt modelId="{8ECC7002-261C-4132-A5F1-AFB3EC495308}" type="parTrans" cxnId="{B172610B-C41E-436A-85BD-F4178F3C01F5}">
      <dgm:prSet/>
      <dgm:spPr/>
      <dgm:t>
        <a:bodyPr/>
        <a:lstStyle/>
        <a:p>
          <a:endParaRPr lang="en-US"/>
        </a:p>
      </dgm:t>
    </dgm:pt>
    <dgm:pt modelId="{8D734098-1089-4087-A736-EFD6364237DC}" type="sibTrans" cxnId="{B172610B-C41E-436A-85BD-F4178F3C01F5}">
      <dgm:prSet/>
      <dgm:spPr/>
      <dgm:t>
        <a:bodyPr/>
        <a:lstStyle/>
        <a:p>
          <a:endParaRPr lang="en-US"/>
        </a:p>
      </dgm:t>
    </dgm:pt>
    <dgm:pt modelId="{DD235475-A57F-4F5F-8015-320129231A56}">
      <dgm:prSet phldrT="[Text]" custT="1"/>
      <dgm:spPr/>
      <dgm:t>
        <a:bodyPr/>
        <a:lstStyle/>
        <a:p>
          <a:r>
            <a:rPr lang="en-US" sz="1000" b="1" dirty="0"/>
            <a:t>Calls </a:t>
          </a:r>
          <a:r>
            <a:rPr lang="en-US" sz="1000" b="1" dirty="0" err="1"/>
            <a:t>Stop_sequences</a:t>
          </a:r>
          <a:r>
            <a:rPr lang="en-US" sz="1000" b="1" dirty="0"/>
            <a:t>(); if a </a:t>
          </a:r>
          <a:r>
            <a:rPr lang="en-US" sz="1000" b="1" dirty="0" err="1"/>
            <a:t>rst</a:t>
          </a:r>
          <a:r>
            <a:rPr lang="en-US" sz="1000" b="1" dirty="0"/>
            <a:t> assertion is written by the </a:t>
          </a:r>
          <a:r>
            <a:rPr lang="en-US" sz="1000" b="1" dirty="0" err="1"/>
            <a:t>rst_agent</a:t>
          </a:r>
          <a:endParaRPr lang="en-US" sz="1000" b="1" dirty="0"/>
        </a:p>
      </dgm:t>
    </dgm:pt>
    <dgm:pt modelId="{178A0234-4EC1-490C-A532-42EF6B645454}" type="parTrans" cxnId="{8A7AB873-5B3D-4DA5-8760-1609A4DA29C2}">
      <dgm:prSet/>
      <dgm:spPr/>
      <dgm:t>
        <a:bodyPr/>
        <a:lstStyle/>
        <a:p>
          <a:endParaRPr lang="en-US"/>
        </a:p>
      </dgm:t>
    </dgm:pt>
    <dgm:pt modelId="{7508681D-FA63-4D17-BC9C-426A7212F4B5}" type="sibTrans" cxnId="{8A7AB873-5B3D-4DA5-8760-1609A4DA29C2}">
      <dgm:prSet/>
      <dgm:spPr/>
      <dgm:t>
        <a:bodyPr/>
        <a:lstStyle/>
        <a:p>
          <a:endParaRPr lang="en-US"/>
        </a:p>
      </dgm:t>
    </dgm:pt>
    <dgm:pt modelId="{1AA88EE2-7F47-4784-8CD5-04A8A43E9BB7}">
      <dgm:prSet phldrT="[Text]" custT="1"/>
      <dgm:spPr/>
      <dgm:t>
        <a:bodyPr/>
        <a:lstStyle/>
        <a:p>
          <a:endParaRPr lang="en-US" sz="1000" dirty="0"/>
        </a:p>
      </dgm:t>
    </dgm:pt>
    <dgm:pt modelId="{B54F16CE-FE64-46B4-A0F5-6CF3C196AA3A}" type="parTrans" cxnId="{3A2A50C9-6EA4-4968-866C-0ED13C96139D}">
      <dgm:prSet/>
      <dgm:spPr/>
      <dgm:t>
        <a:bodyPr/>
        <a:lstStyle/>
        <a:p>
          <a:endParaRPr lang="en-US"/>
        </a:p>
      </dgm:t>
    </dgm:pt>
    <dgm:pt modelId="{AD2E97A4-D6B5-4D92-B13E-563C4FF3AB0F}" type="sibTrans" cxnId="{3A2A50C9-6EA4-4968-866C-0ED13C96139D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37692" custLinFactNeighborX="7435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151616" custLinFactNeighborX="29566">
        <dgm:presLayoutVars>
          <dgm:chMax val="0"/>
          <dgm:chPref val="0"/>
          <dgm:bulletEnabled val="1"/>
        </dgm:presLayoutVars>
      </dgm:prSet>
      <dgm:spPr/>
    </dgm:pt>
    <dgm:pt modelId="{E03AA714-639F-43D7-8C0E-E602856A8189}" type="pres">
      <dgm:prSet presAssocID="{F9A85001-F0D2-40ED-B26E-716CD864CA73}" presName="Image3" presStyleCnt="0"/>
      <dgm:spPr/>
    </dgm:pt>
    <dgm:pt modelId="{0BCCA6CD-3F3E-46F1-BB55-245038E59F6D}" type="pres">
      <dgm:prSet presAssocID="{F9A85001-F0D2-40ED-B26E-716CD864CA73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1DF2C99D-ECE4-4240-890C-783D33FD7E46}" type="pres">
      <dgm:prSet presAssocID="{F9A85001-F0D2-40ED-B26E-716CD864CA73}" presName="Child3" presStyleLbl="revTx" presStyleIdx="2" presStyleCnt="4" custScaleX="154855" custLinFactNeighborX="27580">
        <dgm:presLayoutVars>
          <dgm:chMax val="0"/>
          <dgm:chPref val="0"/>
          <dgm:bulletEnabled val="1"/>
        </dgm:presLayoutVars>
      </dgm:prSet>
      <dgm:spPr/>
    </dgm:pt>
    <dgm:pt modelId="{BB677E0B-32DF-4CE4-8318-4B919BA837BB}" type="pres">
      <dgm:prSet presAssocID="{DD235475-A57F-4F5F-8015-320129231A56}" presName="Image4" presStyleCnt="0"/>
      <dgm:spPr/>
    </dgm:pt>
    <dgm:pt modelId="{AA43BAE0-E96D-44A2-8408-45A5169CA0FD}" type="pres">
      <dgm:prSet presAssocID="{DD235475-A57F-4F5F-8015-320129231A56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63480FC6-A4D4-4351-968D-45AFF44C86F3}" type="pres">
      <dgm:prSet presAssocID="{DD235475-A57F-4F5F-8015-320129231A56}" presName="Child4" presStyleLbl="revTx" presStyleIdx="3" presStyleCnt="4" custScaleX="169013" custLinFactNeighborX="34622" custLinFactNeighborY="-812">
        <dgm:presLayoutVars>
          <dgm:chMax val="0"/>
          <dgm:chPref val="0"/>
          <dgm:bulletEnabled val="1"/>
        </dgm:presLayoutVars>
      </dgm:prSet>
      <dgm:spPr/>
    </dgm:pt>
  </dgm:ptLst>
  <dgm:cxnLst>
    <dgm:cxn modelId="{B172610B-C41E-436A-85BD-F4178F3C01F5}" srcId="{6AFA46F5-CB29-4CFA-B940-0F77E508C6FB}" destId="{F9A85001-F0D2-40ED-B26E-716CD864CA73}" srcOrd="2" destOrd="0" parTransId="{8ECC7002-261C-4132-A5F1-AFB3EC495308}" sibTransId="{8D734098-1089-4087-A736-EFD6364237DC}"/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5B36DF37-F32D-4F44-B7A5-E1BE22A8AFDE}" type="presOf" srcId="{F9A85001-F0D2-40ED-B26E-716CD864CA73}" destId="{1DF2C99D-ECE4-4240-890C-783D33FD7E46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E3AAB85B-492F-4269-940F-20EE2F369899}" type="presOf" srcId="{DD235475-A57F-4F5F-8015-320129231A56}" destId="{63480FC6-A4D4-4351-968D-45AFF44C86F3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8A7AB873-5B3D-4DA5-8760-1609A4DA29C2}" srcId="{6AFA46F5-CB29-4CFA-B940-0F77E508C6FB}" destId="{DD235475-A57F-4F5F-8015-320129231A56}" srcOrd="3" destOrd="0" parTransId="{178A0234-4EC1-490C-A532-42EF6B645454}" sibTransId="{7508681D-FA63-4D17-BC9C-426A7212F4B5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3A2A50C9-6EA4-4968-866C-0ED13C96139D}" srcId="{6AFA46F5-CB29-4CFA-B940-0F77E508C6FB}" destId="{1AA88EE2-7F47-4784-8CD5-04A8A43E9BB7}" srcOrd="4" destOrd="0" parTransId="{B54F16CE-FE64-46B4-A0F5-6CF3C196AA3A}" sibTransId="{AD2E97A4-D6B5-4D92-B13E-563C4FF3AB0F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04245B94-FB42-4E49-9367-39E0D3BC4433}" type="presParOf" srcId="{99DDB345-EF8A-4603-AC40-B9476611FDB4}" destId="{E03AA714-639F-43D7-8C0E-E602856A8189}" srcOrd="6" destOrd="0" presId="urn:microsoft.com/office/officeart/2011/layout/RadialPictureList"/>
    <dgm:cxn modelId="{2B7D6C4F-DF57-4222-AD6D-A607C395BB64}" type="presParOf" srcId="{E03AA714-639F-43D7-8C0E-E602856A8189}" destId="{0BCCA6CD-3F3E-46F1-BB55-245038E59F6D}" srcOrd="0" destOrd="0" presId="urn:microsoft.com/office/officeart/2011/layout/RadialPictureList"/>
    <dgm:cxn modelId="{E3760274-8357-4D23-AEE6-188B4B110255}" type="presParOf" srcId="{99DDB345-EF8A-4603-AC40-B9476611FDB4}" destId="{1DF2C99D-ECE4-4240-890C-783D33FD7E46}" srcOrd="7" destOrd="0" presId="urn:microsoft.com/office/officeart/2011/layout/RadialPictureList"/>
    <dgm:cxn modelId="{29AD6EE4-1C64-4E3F-8906-8E61D0F44896}" type="presParOf" srcId="{99DDB345-EF8A-4603-AC40-B9476611FDB4}" destId="{BB677E0B-32DF-4CE4-8318-4B919BA837BB}" srcOrd="8" destOrd="0" presId="urn:microsoft.com/office/officeart/2011/layout/RadialPictureList"/>
    <dgm:cxn modelId="{A49C6739-568E-441F-91FD-944693ED55E8}" type="presParOf" srcId="{BB677E0B-32DF-4CE4-8318-4B919BA837BB}" destId="{AA43BAE0-E96D-44A2-8408-45A5169CA0FD}" srcOrd="0" destOrd="0" presId="urn:microsoft.com/office/officeart/2011/layout/RadialPictureList"/>
    <dgm:cxn modelId="{7DCEB69D-13A8-4EC4-ABC5-F45209884A9F}" type="presParOf" srcId="{99DDB345-EF8A-4603-AC40-B9476611FDB4}" destId="{63480FC6-A4D4-4351-968D-45AFF44C86F3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RST AGENT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Constructs the parent using </a:t>
          </a:r>
          <a:r>
            <a:rPr lang="en-US" sz="1000" b="1" dirty="0" err="1"/>
            <a:t>super.new</a:t>
          </a:r>
          <a:r>
            <a:rPr lang="en-US" sz="1000" b="1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Receives Configuration from </a:t>
          </a:r>
          <a:r>
            <a:rPr lang="en-US" sz="1000" b="1" dirty="0" err="1"/>
            <a:t>rst_agnt</a:t>
          </a:r>
          <a:r>
            <a:rPr lang="en-US" sz="1000" b="1" dirty="0"/>
            <a:t> config file which is initialized by the environment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47B37035-06DB-410D-ACF3-E1916FA4C914}">
      <dgm:prSet phldrT="[Text]" custT="1"/>
      <dgm:spPr/>
      <dgm:t>
        <a:bodyPr/>
        <a:lstStyle/>
        <a:p>
          <a:r>
            <a:rPr lang="en-US" sz="1000" b="1" dirty="0" err="1"/>
            <a:t>Inestantiates</a:t>
          </a:r>
          <a:r>
            <a:rPr lang="en-US" sz="1000" b="1" dirty="0"/>
            <a:t> RST Monitor, Driver &amp; Sequencer </a:t>
          </a:r>
        </a:p>
      </dgm:t>
    </dgm:pt>
    <dgm:pt modelId="{68C086D9-4D5B-4FA6-BAB6-0D3286181996}" type="sibTrans" cxnId="{5BFEE30B-95F6-4C94-9C00-5BBD805BDC69}">
      <dgm:prSet/>
      <dgm:spPr/>
      <dgm:t>
        <a:bodyPr/>
        <a:lstStyle/>
        <a:p>
          <a:endParaRPr lang="en-US"/>
        </a:p>
      </dgm:t>
    </dgm:pt>
    <dgm:pt modelId="{6C7A005E-6CA3-4AFA-B804-1F5FC580EFF2}" type="parTrans" cxnId="{5BFEE30B-95F6-4C94-9C00-5BBD805BDC69}">
      <dgm:prSet/>
      <dgm:spPr/>
      <dgm:t>
        <a:bodyPr/>
        <a:lstStyle/>
        <a:p>
          <a:endParaRPr lang="en-US"/>
        </a:p>
      </dgm:t>
    </dgm:pt>
    <dgm:pt modelId="{37BA303C-7E3B-4785-8769-B39EFEB1C956}">
      <dgm:prSet phldrT="[Text]" custT="1"/>
      <dgm:spPr/>
      <dgm:t>
        <a:bodyPr/>
        <a:lstStyle/>
        <a:p>
          <a:r>
            <a:rPr lang="en-US" sz="1000" b="1" dirty="0"/>
            <a:t>Drives &amp; Monitors the reset </a:t>
          </a:r>
          <a:r>
            <a:rPr lang="en-US" sz="1000" b="1" dirty="0">
              <a:sym typeface="Wingdings" panose="05000000000000000000" pitchFamily="2" charset="2"/>
            </a:rPr>
            <a:t></a:t>
          </a:r>
          <a:endParaRPr lang="en-US" sz="1000" b="1" dirty="0"/>
        </a:p>
      </dgm:t>
    </dgm:pt>
    <dgm:pt modelId="{066DD54A-927E-44C1-9448-C954CA6021E2}" type="parTrans" cxnId="{830EE0CF-F325-4C19-9243-5DB8EB1E60C0}">
      <dgm:prSet/>
      <dgm:spPr/>
      <dgm:t>
        <a:bodyPr/>
        <a:lstStyle/>
        <a:p>
          <a:endParaRPr lang="en-US"/>
        </a:p>
      </dgm:t>
    </dgm:pt>
    <dgm:pt modelId="{070492AF-4457-4A61-9B12-E894724F2787}" type="sibTrans" cxnId="{830EE0CF-F325-4C19-9243-5DB8EB1E60C0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37692" custLinFactNeighborX="7435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151616" custLinFactNeighborX="29566">
        <dgm:presLayoutVars>
          <dgm:chMax val="0"/>
          <dgm:chPref val="0"/>
          <dgm:bulletEnabled val="1"/>
        </dgm:presLayoutVars>
      </dgm:prSet>
      <dgm:spPr/>
    </dgm:pt>
    <dgm:pt modelId="{5D848144-0380-4822-BB81-A39CA61C8397}" type="pres">
      <dgm:prSet presAssocID="{47B37035-06DB-410D-ACF3-E1916FA4C914}" presName="Image3" presStyleCnt="0"/>
      <dgm:spPr/>
    </dgm:pt>
    <dgm:pt modelId="{84026C8C-C04E-4584-8D4D-11D81B1A18FA}" type="pres">
      <dgm:prSet presAssocID="{47B37035-06DB-410D-ACF3-E1916FA4C914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54BC90FD-BD6A-4D29-AF4F-35CA8102A8D7}" type="pres">
      <dgm:prSet presAssocID="{47B37035-06DB-410D-ACF3-E1916FA4C914}" presName="Child3" presStyleLbl="revTx" presStyleIdx="2" presStyleCnt="4" custScaleX="139995" custLinFactNeighborX="20876" custLinFactNeighborY="-760">
        <dgm:presLayoutVars>
          <dgm:chMax val="0"/>
          <dgm:chPref val="0"/>
          <dgm:bulletEnabled val="1"/>
        </dgm:presLayoutVars>
      </dgm:prSet>
      <dgm:spPr/>
    </dgm:pt>
    <dgm:pt modelId="{DEE5DCF6-D400-406D-8416-CC8AC866A92E}" type="pres">
      <dgm:prSet presAssocID="{37BA303C-7E3B-4785-8769-B39EFEB1C956}" presName="Image4" presStyleCnt="0"/>
      <dgm:spPr/>
    </dgm:pt>
    <dgm:pt modelId="{D1FE00CD-6A29-4BBF-B251-703377742265}" type="pres">
      <dgm:prSet presAssocID="{37BA303C-7E3B-4785-8769-B39EFEB1C956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F77F8C09-F827-4AF3-81CC-5E095F20C058}" type="pres">
      <dgm:prSet presAssocID="{37BA303C-7E3B-4785-8769-B39EFEB1C956}" presName="Child4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5BFEE30B-95F6-4C94-9C00-5BBD805BDC69}" srcId="{6AFA46F5-CB29-4CFA-B940-0F77E508C6FB}" destId="{47B37035-06DB-410D-ACF3-E1916FA4C914}" srcOrd="2" destOrd="0" parTransId="{6C7A005E-6CA3-4AFA-B804-1F5FC580EFF2}" sibTransId="{68C086D9-4D5B-4FA6-BAB6-0D3286181996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1022FB78-D5F8-487E-887A-3F7AB49C2B3F}" type="presOf" srcId="{37BA303C-7E3B-4785-8769-B39EFEB1C956}" destId="{F77F8C09-F827-4AF3-81CC-5E095F20C058}" srcOrd="0" destOrd="0" presId="urn:microsoft.com/office/officeart/2011/layout/RadialPictureList"/>
    <dgm:cxn modelId="{5AB3287E-7F82-4195-ACCA-33040343CD0C}" type="presOf" srcId="{47B37035-06DB-410D-ACF3-E1916FA4C914}" destId="{54BC90FD-BD6A-4D29-AF4F-35CA8102A8D7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830EE0CF-F325-4C19-9243-5DB8EB1E60C0}" srcId="{6AFA46F5-CB29-4CFA-B940-0F77E508C6FB}" destId="{37BA303C-7E3B-4785-8769-B39EFEB1C956}" srcOrd="3" destOrd="0" parTransId="{066DD54A-927E-44C1-9448-C954CA6021E2}" sibTransId="{070492AF-4457-4A61-9B12-E894724F2787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CB982FA8-CB51-4C5B-B8FE-82698AC63A87}" type="presParOf" srcId="{99DDB345-EF8A-4603-AC40-B9476611FDB4}" destId="{5D848144-0380-4822-BB81-A39CA61C8397}" srcOrd="6" destOrd="0" presId="urn:microsoft.com/office/officeart/2011/layout/RadialPictureList"/>
    <dgm:cxn modelId="{28E07DC9-24D6-4EED-BCC6-4C0A5590DA2A}" type="presParOf" srcId="{5D848144-0380-4822-BB81-A39CA61C8397}" destId="{84026C8C-C04E-4584-8D4D-11D81B1A18FA}" srcOrd="0" destOrd="0" presId="urn:microsoft.com/office/officeart/2011/layout/RadialPictureList"/>
    <dgm:cxn modelId="{74007B17-BF2E-4D05-8069-B15648386DEC}" type="presParOf" srcId="{99DDB345-EF8A-4603-AC40-B9476611FDB4}" destId="{54BC90FD-BD6A-4D29-AF4F-35CA8102A8D7}" srcOrd="7" destOrd="0" presId="urn:microsoft.com/office/officeart/2011/layout/RadialPictureList"/>
    <dgm:cxn modelId="{7487D74B-951D-4CC0-A843-04DFDFA75009}" type="presParOf" srcId="{99DDB345-EF8A-4603-AC40-B9476611FDB4}" destId="{DEE5DCF6-D400-406D-8416-CC8AC866A92E}" srcOrd="8" destOrd="0" presId="urn:microsoft.com/office/officeart/2011/layout/RadialPictureList"/>
    <dgm:cxn modelId="{5D3664FD-5951-4943-A31F-64D8AFB2198A}" type="presParOf" srcId="{DEE5DCF6-D400-406D-8416-CC8AC866A92E}" destId="{D1FE00CD-6A29-4BBF-B251-703377742265}" srcOrd="0" destOrd="0" presId="urn:microsoft.com/office/officeart/2011/layout/RadialPictureList"/>
    <dgm:cxn modelId="{690F4573-1D77-476D-9CE3-5F0A07EC4C80}" type="presParOf" srcId="{99DDB345-EF8A-4603-AC40-B9476611FDB4}" destId="{F77F8C09-F827-4AF3-81CC-5E095F20C058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DRIVER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Constructs the parent using </a:t>
          </a:r>
          <a:r>
            <a:rPr lang="en-US" sz="1000" b="1" dirty="0" err="1"/>
            <a:t>super.new</a:t>
          </a:r>
          <a:r>
            <a:rPr lang="en-US" sz="1000" b="1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Translates the transaction level items to pin level ones.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F9A85001-F0D2-40ED-B26E-716CD864CA73}">
      <dgm:prSet phldrT="[Text]" custT="1"/>
      <dgm:spPr/>
      <dgm:t>
        <a:bodyPr/>
        <a:lstStyle/>
        <a:p>
          <a:r>
            <a:rPr lang="en-US" sz="1000" b="1" dirty="0"/>
            <a:t>Receives the transactions from the sequences through </a:t>
          </a:r>
          <a:r>
            <a:rPr lang="en-US" sz="1000" b="1" dirty="0" err="1"/>
            <a:t>seq_item_pull_port</a:t>
          </a:r>
          <a:r>
            <a:rPr lang="en-US" sz="1000" b="1" dirty="0"/>
            <a:t> by the RST sequencer</a:t>
          </a:r>
        </a:p>
      </dgm:t>
    </dgm:pt>
    <dgm:pt modelId="{8ECC7002-261C-4132-A5F1-AFB3EC495308}" type="parTrans" cxnId="{B172610B-C41E-436A-85BD-F4178F3C01F5}">
      <dgm:prSet/>
      <dgm:spPr/>
      <dgm:t>
        <a:bodyPr/>
        <a:lstStyle/>
        <a:p>
          <a:endParaRPr lang="en-US"/>
        </a:p>
      </dgm:t>
    </dgm:pt>
    <dgm:pt modelId="{8D734098-1089-4087-A736-EFD6364237DC}" type="sibTrans" cxnId="{B172610B-C41E-436A-85BD-F4178F3C01F5}">
      <dgm:prSet/>
      <dgm:spPr/>
      <dgm:t>
        <a:bodyPr/>
        <a:lstStyle/>
        <a:p>
          <a:endParaRPr lang="en-US"/>
        </a:p>
      </dgm:t>
    </dgm:pt>
    <dgm:pt modelId="{DD235475-A57F-4F5F-8015-320129231A56}">
      <dgm:prSet phldrT="[Text]" custT="1"/>
      <dgm:spPr/>
      <dgm:t>
        <a:bodyPr/>
        <a:lstStyle/>
        <a:p>
          <a:r>
            <a:rPr lang="en-US" sz="1000" b="1" dirty="0"/>
            <a:t>Sends the RST ASSERTION to the </a:t>
          </a:r>
          <a:r>
            <a:rPr lang="en-US" sz="1000" b="1"/>
            <a:t>dut</a:t>
          </a:r>
          <a:endParaRPr lang="en-US" sz="1000" b="1" dirty="0"/>
        </a:p>
      </dgm:t>
    </dgm:pt>
    <dgm:pt modelId="{178A0234-4EC1-490C-A532-42EF6B645454}" type="parTrans" cxnId="{8A7AB873-5B3D-4DA5-8760-1609A4DA29C2}">
      <dgm:prSet/>
      <dgm:spPr/>
      <dgm:t>
        <a:bodyPr/>
        <a:lstStyle/>
        <a:p>
          <a:endParaRPr lang="en-US"/>
        </a:p>
      </dgm:t>
    </dgm:pt>
    <dgm:pt modelId="{7508681D-FA63-4D17-BC9C-426A7212F4B5}" type="sibTrans" cxnId="{8A7AB873-5B3D-4DA5-8760-1609A4DA29C2}">
      <dgm:prSet/>
      <dgm:spPr/>
      <dgm:t>
        <a:bodyPr/>
        <a:lstStyle/>
        <a:p>
          <a:endParaRPr lang="en-US"/>
        </a:p>
      </dgm:t>
    </dgm:pt>
    <dgm:pt modelId="{1AA88EE2-7F47-4784-8CD5-04A8A43E9BB7}">
      <dgm:prSet phldrT="[Text]" custT="1"/>
      <dgm:spPr/>
      <dgm:t>
        <a:bodyPr/>
        <a:lstStyle/>
        <a:p>
          <a:endParaRPr lang="en-US" sz="1000" dirty="0"/>
        </a:p>
      </dgm:t>
    </dgm:pt>
    <dgm:pt modelId="{B54F16CE-FE64-46B4-A0F5-6CF3C196AA3A}" type="parTrans" cxnId="{3A2A50C9-6EA4-4968-866C-0ED13C96139D}">
      <dgm:prSet/>
      <dgm:spPr/>
      <dgm:t>
        <a:bodyPr/>
        <a:lstStyle/>
        <a:p>
          <a:endParaRPr lang="en-US"/>
        </a:p>
      </dgm:t>
    </dgm:pt>
    <dgm:pt modelId="{AD2E97A4-D6B5-4D92-B13E-563C4FF3AB0F}" type="sibTrans" cxnId="{3A2A50C9-6EA4-4968-866C-0ED13C96139D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37692" custLinFactNeighborX="7435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151616" custLinFactNeighborX="29566">
        <dgm:presLayoutVars>
          <dgm:chMax val="0"/>
          <dgm:chPref val="0"/>
          <dgm:bulletEnabled val="1"/>
        </dgm:presLayoutVars>
      </dgm:prSet>
      <dgm:spPr/>
    </dgm:pt>
    <dgm:pt modelId="{E03AA714-639F-43D7-8C0E-E602856A8189}" type="pres">
      <dgm:prSet presAssocID="{F9A85001-F0D2-40ED-B26E-716CD864CA73}" presName="Image3" presStyleCnt="0"/>
      <dgm:spPr/>
    </dgm:pt>
    <dgm:pt modelId="{0BCCA6CD-3F3E-46F1-BB55-245038E59F6D}" type="pres">
      <dgm:prSet presAssocID="{F9A85001-F0D2-40ED-B26E-716CD864CA73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1DF2C99D-ECE4-4240-890C-783D33FD7E46}" type="pres">
      <dgm:prSet presAssocID="{F9A85001-F0D2-40ED-B26E-716CD864CA73}" presName="Child3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BB677E0B-32DF-4CE4-8318-4B919BA837BB}" type="pres">
      <dgm:prSet presAssocID="{DD235475-A57F-4F5F-8015-320129231A56}" presName="Image4" presStyleCnt="0"/>
      <dgm:spPr/>
    </dgm:pt>
    <dgm:pt modelId="{AA43BAE0-E96D-44A2-8408-45A5169CA0FD}" type="pres">
      <dgm:prSet presAssocID="{DD235475-A57F-4F5F-8015-320129231A56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63480FC6-A4D4-4351-968D-45AFF44C86F3}" type="pres">
      <dgm:prSet presAssocID="{DD235475-A57F-4F5F-8015-320129231A56}" presName="Child4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172610B-C41E-436A-85BD-F4178F3C01F5}" srcId="{6AFA46F5-CB29-4CFA-B940-0F77E508C6FB}" destId="{F9A85001-F0D2-40ED-B26E-716CD864CA73}" srcOrd="2" destOrd="0" parTransId="{8ECC7002-261C-4132-A5F1-AFB3EC495308}" sibTransId="{8D734098-1089-4087-A736-EFD6364237DC}"/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5B36DF37-F32D-4F44-B7A5-E1BE22A8AFDE}" type="presOf" srcId="{F9A85001-F0D2-40ED-B26E-716CD864CA73}" destId="{1DF2C99D-ECE4-4240-890C-783D33FD7E46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E3AAB85B-492F-4269-940F-20EE2F369899}" type="presOf" srcId="{DD235475-A57F-4F5F-8015-320129231A56}" destId="{63480FC6-A4D4-4351-968D-45AFF44C86F3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8A7AB873-5B3D-4DA5-8760-1609A4DA29C2}" srcId="{6AFA46F5-CB29-4CFA-B940-0F77E508C6FB}" destId="{DD235475-A57F-4F5F-8015-320129231A56}" srcOrd="3" destOrd="0" parTransId="{178A0234-4EC1-490C-A532-42EF6B645454}" sibTransId="{7508681D-FA63-4D17-BC9C-426A7212F4B5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3A2A50C9-6EA4-4968-866C-0ED13C96139D}" srcId="{6AFA46F5-CB29-4CFA-B940-0F77E508C6FB}" destId="{1AA88EE2-7F47-4784-8CD5-04A8A43E9BB7}" srcOrd="4" destOrd="0" parTransId="{B54F16CE-FE64-46B4-A0F5-6CF3C196AA3A}" sibTransId="{AD2E97A4-D6B5-4D92-B13E-563C4FF3AB0F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04245B94-FB42-4E49-9367-39E0D3BC4433}" type="presParOf" srcId="{99DDB345-EF8A-4603-AC40-B9476611FDB4}" destId="{E03AA714-639F-43D7-8C0E-E602856A8189}" srcOrd="6" destOrd="0" presId="urn:microsoft.com/office/officeart/2011/layout/RadialPictureList"/>
    <dgm:cxn modelId="{2B7D6C4F-DF57-4222-AD6D-A607C395BB64}" type="presParOf" srcId="{E03AA714-639F-43D7-8C0E-E602856A8189}" destId="{0BCCA6CD-3F3E-46F1-BB55-245038E59F6D}" srcOrd="0" destOrd="0" presId="urn:microsoft.com/office/officeart/2011/layout/RadialPictureList"/>
    <dgm:cxn modelId="{E3760274-8357-4D23-AEE6-188B4B110255}" type="presParOf" srcId="{99DDB345-EF8A-4603-AC40-B9476611FDB4}" destId="{1DF2C99D-ECE4-4240-890C-783D33FD7E46}" srcOrd="7" destOrd="0" presId="urn:microsoft.com/office/officeart/2011/layout/RadialPictureList"/>
    <dgm:cxn modelId="{29AD6EE4-1C64-4E3F-8906-8E61D0F44896}" type="presParOf" srcId="{99DDB345-EF8A-4603-AC40-B9476611FDB4}" destId="{BB677E0B-32DF-4CE4-8318-4B919BA837BB}" srcOrd="8" destOrd="0" presId="urn:microsoft.com/office/officeart/2011/layout/RadialPictureList"/>
    <dgm:cxn modelId="{A49C6739-568E-441F-91FD-944693ED55E8}" type="presParOf" srcId="{BB677E0B-32DF-4CE4-8318-4B919BA837BB}" destId="{AA43BAE0-E96D-44A2-8408-45A5169CA0FD}" srcOrd="0" destOrd="0" presId="urn:microsoft.com/office/officeart/2011/layout/RadialPictureList"/>
    <dgm:cxn modelId="{7DCEB69D-13A8-4EC4-ABC5-F45209884A9F}" type="presParOf" srcId="{99DDB345-EF8A-4603-AC40-B9476611FDB4}" destId="{63480FC6-A4D4-4351-968D-45AFF44C86F3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RST AGENT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b="1" dirty="0"/>
            <a:t>Constructs the parent using </a:t>
          </a:r>
          <a:r>
            <a:rPr lang="en-US" sz="1000" b="1" dirty="0" err="1"/>
            <a:t>super.new</a:t>
          </a:r>
          <a:r>
            <a:rPr lang="en-US" sz="1000" b="1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b="1" dirty="0"/>
            <a:t>Transmits </a:t>
          </a:r>
          <a:r>
            <a:rPr lang="en-US" sz="1000" b="1" dirty="0" err="1"/>
            <a:t>sequence_items</a:t>
          </a:r>
          <a:r>
            <a:rPr lang="en-US" sz="1000" b="1" dirty="0"/>
            <a:t> from alu sequences to </a:t>
          </a:r>
          <a:r>
            <a:rPr lang="en-US" sz="1000" b="1" dirty="0" err="1"/>
            <a:t>alu_driver</a:t>
          </a:r>
          <a:endParaRPr lang="en-US" sz="1000" b="1" dirty="0"/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F9A85001-F0D2-40ED-B26E-716CD864CA73}">
      <dgm:prSet phldrT="[Text]" custT="1"/>
      <dgm:spPr/>
      <dgm:t>
        <a:bodyPr/>
        <a:lstStyle/>
        <a:p>
          <a:r>
            <a:rPr lang="en-US" sz="1000" b="1" dirty="0"/>
            <a:t>Is connected to the </a:t>
          </a:r>
          <a:r>
            <a:rPr lang="en-US" sz="1000" b="1" dirty="0" err="1"/>
            <a:t>alu_driver</a:t>
          </a:r>
          <a:r>
            <a:rPr lang="en-US" sz="1000" b="1" dirty="0"/>
            <a:t> in the </a:t>
          </a:r>
          <a:r>
            <a:rPr lang="en-US" sz="1000" b="1" dirty="0" err="1"/>
            <a:t>alu_agent</a:t>
          </a:r>
          <a:r>
            <a:rPr lang="en-US" sz="1000" b="1" dirty="0"/>
            <a:t> using </a:t>
          </a:r>
          <a:r>
            <a:rPr lang="en-US" sz="1000" b="1" dirty="0" err="1"/>
            <a:t>seq_item_pull_export</a:t>
          </a:r>
          <a:endParaRPr lang="en-US" sz="1000" b="1" dirty="0"/>
        </a:p>
      </dgm:t>
    </dgm:pt>
    <dgm:pt modelId="{8ECC7002-261C-4132-A5F1-AFB3EC495308}" type="parTrans" cxnId="{B172610B-C41E-436A-85BD-F4178F3C01F5}">
      <dgm:prSet/>
      <dgm:spPr/>
      <dgm:t>
        <a:bodyPr/>
        <a:lstStyle/>
        <a:p>
          <a:endParaRPr lang="en-US"/>
        </a:p>
      </dgm:t>
    </dgm:pt>
    <dgm:pt modelId="{8D734098-1089-4087-A736-EFD6364237DC}" type="sibTrans" cxnId="{B172610B-C41E-436A-85BD-F4178F3C01F5}">
      <dgm:prSet/>
      <dgm:spPr/>
      <dgm:t>
        <a:bodyPr/>
        <a:lstStyle/>
        <a:p>
          <a:endParaRPr lang="en-US"/>
        </a:p>
      </dgm:t>
    </dgm:pt>
    <dgm:pt modelId="{DD235475-A57F-4F5F-8015-320129231A56}">
      <dgm:prSet phldrT="[Text]" custT="1"/>
      <dgm:spPr/>
      <dgm:t>
        <a:bodyPr/>
        <a:lstStyle/>
        <a:p>
          <a:r>
            <a:rPr lang="en-US" sz="1000" b="1" dirty="0"/>
            <a:t>Calls </a:t>
          </a:r>
          <a:r>
            <a:rPr lang="en-US" sz="1000" b="1" dirty="0" err="1"/>
            <a:t>Stop_sequences</a:t>
          </a:r>
          <a:r>
            <a:rPr lang="en-US" sz="1000" b="1" dirty="0"/>
            <a:t>(); if a </a:t>
          </a:r>
          <a:r>
            <a:rPr lang="en-US" sz="1000" b="1" dirty="0" err="1"/>
            <a:t>rst</a:t>
          </a:r>
          <a:r>
            <a:rPr lang="en-US" sz="1000" b="1" dirty="0"/>
            <a:t> assertion is written by the </a:t>
          </a:r>
          <a:r>
            <a:rPr lang="en-US" sz="1000" b="1" dirty="0" err="1"/>
            <a:t>rst_agent</a:t>
          </a:r>
          <a:endParaRPr lang="en-US" sz="1000" b="1" dirty="0"/>
        </a:p>
      </dgm:t>
    </dgm:pt>
    <dgm:pt modelId="{178A0234-4EC1-490C-A532-42EF6B645454}" type="parTrans" cxnId="{8A7AB873-5B3D-4DA5-8760-1609A4DA29C2}">
      <dgm:prSet/>
      <dgm:spPr/>
      <dgm:t>
        <a:bodyPr/>
        <a:lstStyle/>
        <a:p>
          <a:endParaRPr lang="en-US"/>
        </a:p>
      </dgm:t>
    </dgm:pt>
    <dgm:pt modelId="{7508681D-FA63-4D17-BC9C-426A7212F4B5}" type="sibTrans" cxnId="{8A7AB873-5B3D-4DA5-8760-1609A4DA29C2}">
      <dgm:prSet/>
      <dgm:spPr/>
      <dgm:t>
        <a:bodyPr/>
        <a:lstStyle/>
        <a:p>
          <a:endParaRPr lang="en-US"/>
        </a:p>
      </dgm:t>
    </dgm:pt>
    <dgm:pt modelId="{1AA88EE2-7F47-4784-8CD5-04A8A43E9BB7}">
      <dgm:prSet phldrT="[Text]" custT="1"/>
      <dgm:spPr/>
      <dgm:t>
        <a:bodyPr/>
        <a:lstStyle/>
        <a:p>
          <a:endParaRPr lang="en-US" sz="1000" dirty="0"/>
        </a:p>
      </dgm:t>
    </dgm:pt>
    <dgm:pt modelId="{B54F16CE-FE64-46B4-A0F5-6CF3C196AA3A}" type="parTrans" cxnId="{3A2A50C9-6EA4-4968-866C-0ED13C96139D}">
      <dgm:prSet/>
      <dgm:spPr/>
      <dgm:t>
        <a:bodyPr/>
        <a:lstStyle/>
        <a:p>
          <a:endParaRPr lang="en-US"/>
        </a:p>
      </dgm:t>
    </dgm:pt>
    <dgm:pt modelId="{AD2E97A4-D6B5-4D92-B13E-563C4FF3AB0F}" type="sibTrans" cxnId="{3A2A50C9-6EA4-4968-866C-0ED13C96139D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37692" custLinFactNeighborX="7435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151616" custLinFactNeighborX="29566">
        <dgm:presLayoutVars>
          <dgm:chMax val="0"/>
          <dgm:chPref val="0"/>
          <dgm:bulletEnabled val="1"/>
        </dgm:presLayoutVars>
      </dgm:prSet>
      <dgm:spPr/>
    </dgm:pt>
    <dgm:pt modelId="{E03AA714-639F-43D7-8C0E-E602856A8189}" type="pres">
      <dgm:prSet presAssocID="{F9A85001-F0D2-40ED-B26E-716CD864CA73}" presName="Image3" presStyleCnt="0"/>
      <dgm:spPr/>
    </dgm:pt>
    <dgm:pt modelId="{0BCCA6CD-3F3E-46F1-BB55-245038E59F6D}" type="pres">
      <dgm:prSet presAssocID="{F9A85001-F0D2-40ED-B26E-716CD864CA73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1DF2C99D-ECE4-4240-890C-783D33FD7E46}" type="pres">
      <dgm:prSet presAssocID="{F9A85001-F0D2-40ED-B26E-716CD864CA73}" presName="Child3" presStyleLbl="revTx" presStyleIdx="2" presStyleCnt="4" custScaleX="154855" custLinFactNeighborX="27580">
        <dgm:presLayoutVars>
          <dgm:chMax val="0"/>
          <dgm:chPref val="0"/>
          <dgm:bulletEnabled val="1"/>
        </dgm:presLayoutVars>
      </dgm:prSet>
      <dgm:spPr/>
    </dgm:pt>
    <dgm:pt modelId="{BB677E0B-32DF-4CE4-8318-4B919BA837BB}" type="pres">
      <dgm:prSet presAssocID="{DD235475-A57F-4F5F-8015-320129231A56}" presName="Image4" presStyleCnt="0"/>
      <dgm:spPr/>
    </dgm:pt>
    <dgm:pt modelId="{AA43BAE0-E96D-44A2-8408-45A5169CA0FD}" type="pres">
      <dgm:prSet presAssocID="{DD235475-A57F-4F5F-8015-320129231A56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63480FC6-A4D4-4351-968D-45AFF44C86F3}" type="pres">
      <dgm:prSet presAssocID="{DD235475-A57F-4F5F-8015-320129231A56}" presName="Child4" presStyleLbl="revTx" presStyleIdx="3" presStyleCnt="4" custScaleX="169013" custLinFactNeighborX="34622" custLinFactNeighborY="-812">
        <dgm:presLayoutVars>
          <dgm:chMax val="0"/>
          <dgm:chPref val="0"/>
          <dgm:bulletEnabled val="1"/>
        </dgm:presLayoutVars>
      </dgm:prSet>
      <dgm:spPr/>
    </dgm:pt>
  </dgm:ptLst>
  <dgm:cxnLst>
    <dgm:cxn modelId="{B172610B-C41E-436A-85BD-F4178F3C01F5}" srcId="{6AFA46F5-CB29-4CFA-B940-0F77E508C6FB}" destId="{F9A85001-F0D2-40ED-B26E-716CD864CA73}" srcOrd="2" destOrd="0" parTransId="{8ECC7002-261C-4132-A5F1-AFB3EC495308}" sibTransId="{8D734098-1089-4087-A736-EFD6364237DC}"/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5B36DF37-F32D-4F44-B7A5-E1BE22A8AFDE}" type="presOf" srcId="{F9A85001-F0D2-40ED-B26E-716CD864CA73}" destId="{1DF2C99D-ECE4-4240-890C-783D33FD7E46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E3AAB85B-492F-4269-940F-20EE2F369899}" type="presOf" srcId="{DD235475-A57F-4F5F-8015-320129231A56}" destId="{63480FC6-A4D4-4351-968D-45AFF44C86F3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8A7AB873-5B3D-4DA5-8760-1609A4DA29C2}" srcId="{6AFA46F5-CB29-4CFA-B940-0F77E508C6FB}" destId="{DD235475-A57F-4F5F-8015-320129231A56}" srcOrd="3" destOrd="0" parTransId="{178A0234-4EC1-490C-A532-42EF6B645454}" sibTransId="{7508681D-FA63-4D17-BC9C-426A7212F4B5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3A2A50C9-6EA4-4968-866C-0ED13C96139D}" srcId="{6AFA46F5-CB29-4CFA-B940-0F77E508C6FB}" destId="{1AA88EE2-7F47-4784-8CD5-04A8A43E9BB7}" srcOrd="4" destOrd="0" parTransId="{B54F16CE-FE64-46B4-A0F5-6CF3C196AA3A}" sibTransId="{AD2E97A4-D6B5-4D92-B13E-563C4FF3AB0F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04245B94-FB42-4E49-9367-39E0D3BC4433}" type="presParOf" srcId="{99DDB345-EF8A-4603-AC40-B9476611FDB4}" destId="{E03AA714-639F-43D7-8C0E-E602856A8189}" srcOrd="6" destOrd="0" presId="urn:microsoft.com/office/officeart/2011/layout/RadialPictureList"/>
    <dgm:cxn modelId="{2B7D6C4F-DF57-4222-AD6D-A607C395BB64}" type="presParOf" srcId="{E03AA714-639F-43D7-8C0E-E602856A8189}" destId="{0BCCA6CD-3F3E-46F1-BB55-245038E59F6D}" srcOrd="0" destOrd="0" presId="urn:microsoft.com/office/officeart/2011/layout/RadialPictureList"/>
    <dgm:cxn modelId="{E3760274-8357-4D23-AEE6-188B4B110255}" type="presParOf" srcId="{99DDB345-EF8A-4603-AC40-B9476611FDB4}" destId="{1DF2C99D-ECE4-4240-890C-783D33FD7E46}" srcOrd="7" destOrd="0" presId="urn:microsoft.com/office/officeart/2011/layout/RadialPictureList"/>
    <dgm:cxn modelId="{29AD6EE4-1C64-4E3F-8906-8E61D0F44896}" type="presParOf" srcId="{99DDB345-EF8A-4603-AC40-B9476611FDB4}" destId="{BB677E0B-32DF-4CE4-8318-4B919BA837BB}" srcOrd="8" destOrd="0" presId="urn:microsoft.com/office/officeart/2011/layout/RadialPictureList"/>
    <dgm:cxn modelId="{A49C6739-568E-441F-91FD-944693ED55E8}" type="presParOf" srcId="{BB677E0B-32DF-4CE4-8318-4B919BA837BB}" destId="{AA43BAE0-E96D-44A2-8408-45A5169CA0FD}" srcOrd="0" destOrd="0" presId="urn:microsoft.com/office/officeart/2011/layout/RadialPictureList"/>
    <dgm:cxn modelId="{7DCEB69D-13A8-4EC4-ABC5-F45209884A9F}" type="presParOf" srcId="{99DDB345-EF8A-4603-AC40-B9476611FDB4}" destId="{63480FC6-A4D4-4351-968D-45AFF44C86F3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inputMonitor_Base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Defines the mailboxes &amp; Virtual Interface necessary for communication.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Pre-defines pure virtual execute task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/>
      <dgm:t>
        <a:bodyPr/>
        <a:lstStyle/>
        <a:p>
          <a:r>
            <a:rPr lang="en-US" dirty="0" err="1"/>
            <a:t>inputMonitor</a:t>
          </a:r>
          <a:endParaRPr lang="en-US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Sends the sampled inputs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6B3B7C3D-3769-4F98-A97E-6F7D0961B430}">
      <dgm:prSet phldrT="[Text]" custT="1"/>
      <dgm:spPr/>
      <dgm:t>
        <a:bodyPr/>
        <a:lstStyle/>
        <a:p>
          <a:r>
            <a:rPr lang="en-US" sz="1000" dirty="0"/>
            <a:t>Translates the sampled inputs from pin level to transaction  level</a:t>
          </a:r>
        </a:p>
      </dgm:t>
    </dgm:pt>
    <dgm:pt modelId="{8AF32A7D-F967-442E-B4D9-14C218613FF2}" type="parTrans" cxnId="{6842C1C5-24A4-44FF-8B7F-2567FA7EE1FE}">
      <dgm:prSet/>
      <dgm:spPr/>
      <dgm:t>
        <a:bodyPr/>
        <a:lstStyle/>
        <a:p>
          <a:endParaRPr lang="en-US"/>
        </a:p>
      </dgm:t>
    </dgm:pt>
    <dgm:pt modelId="{9E39DC66-3170-49BE-92F7-A1AFE6C6EC37}" type="sibTrans" cxnId="{6842C1C5-24A4-44FF-8B7F-2567FA7EE1FE}">
      <dgm:prSet/>
      <dgm:spPr/>
      <dgm:t>
        <a:bodyPr/>
        <a:lstStyle/>
        <a:p>
          <a:endParaRPr lang="en-US"/>
        </a:p>
      </dgm:t>
    </dgm:pt>
    <dgm:pt modelId="{AEEA20E7-FF3A-41F9-A7D0-A2B57F2B7444}">
      <dgm:prSet phldrT="[Text]" custT="1"/>
      <dgm:spPr/>
      <dgm:t>
        <a:bodyPr/>
        <a:lstStyle/>
        <a:p>
          <a:r>
            <a:rPr lang="en-US" sz="1000" dirty="0"/>
            <a:t>Sends the sampled transaction level item to the Scoreboard/Predictor</a:t>
          </a:r>
        </a:p>
      </dgm:t>
    </dgm:pt>
    <dgm:pt modelId="{CCFDB3CC-04F5-4BD0-B654-E5B085C944D6}" type="parTrans" cxnId="{E6955E79-01B8-4DED-A586-521A911FA9B6}">
      <dgm:prSet/>
      <dgm:spPr/>
      <dgm:t>
        <a:bodyPr/>
        <a:lstStyle/>
        <a:p>
          <a:endParaRPr lang="en-US"/>
        </a:p>
      </dgm:t>
    </dgm:pt>
    <dgm:pt modelId="{640588D7-C39E-4477-9717-A4D1A4AC88D6}" type="sibTrans" cxnId="{E6955E79-01B8-4DED-A586-521A911FA9B6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11129" custLinFactNeighborX="56473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247400" custLinFactNeighborX="73457" custLinFactNeighborY="-3706">
        <dgm:presLayoutVars>
          <dgm:chMax val="0"/>
          <dgm:chPref val="0"/>
          <dgm:bulletEnabled val="1"/>
        </dgm:presLayoutVars>
      </dgm:prSet>
      <dgm:spPr/>
    </dgm:pt>
    <dgm:pt modelId="{BA2924F8-CC50-4C38-A774-5D450D43E14E}" type="pres">
      <dgm:prSet presAssocID="{6B3B7C3D-3769-4F98-A97E-6F7D0961B430}" presName="Image3" presStyleCnt="0"/>
      <dgm:spPr/>
    </dgm:pt>
    <dgm:pt modelId="{D6F6FC17-20B3-46E6-82FF-46C37F4B4423}" type="pres">
      <dgm:prSet presAssocID="{6B3B7C3D-3769-4F98-A97E-6F7D0961B430}" presName="Image" presStyleLbl="fgImgPlace1" presStyleIdx="2" presStyleCnt="4"/>
      <dgm:spPr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52DE6D73-3DC4-479B-B104-D4D5B94D7688}" type="pres">
      <dgm:prSet presAssocID="{6B3B7C3D-3769-4F98-A97E-6F7D0961B430}" presName="Child3" presStyleLbl="revTx" presStyleIdx="2" presStyleCnt="4" custScaleX="320691" custLinFactX="15829" custLinFactNeighborX="100000">
        <dgm:presLayoutVars>
          <dgm:chMax val="0"/>
          <dgm:chPref val="0"/>
          <dgm:bulletEnabled val="1"/>
        </dgm:presLayoutVars>
      </dgm:prSet>
      <dgm:spPr/>
    </dgm:pt>
    <dgm:pt modelId="{D4040B0C-B9ED-46D2-9D81-D497B3B91DA3}" type="pres">
      <dgm:prSet presAssocID="{AEEA20E7-FF3A-41F9-A7D0-A2B57F2B7444}" presName="Image4" presStyleCnt="0"/>
      <dgm:spPr/>
    </dgm:pt>
    <dgm:pt modelId="{FEE30AA5-757E-4947-926F-05DF8704EBF3}" type="pres">
      <dgm:prSet presAssocID="{AEEA20E7-FF3A-41F9-A7D0-A2B57F2B7444}" presName="Image" presStyleLbl="fgImgPlace1" presStyleIdx="3" presStyleCnt="4"/>
      <dgm:spPr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E18E4002-8B38-4C7B-8383-F90062B4F9F7}" type="pres">
      <dgm:prSet presAssocID="{AEEA20E7-FF3A-41F9-A7D0-A2B57F2B7444}" presName="Child4" presStyleLbl="revTx" presStyleIdx="3" presStyleCnt="4" custScaleX="318228" custLinFactX="14887" custLinFactNeighborX="100000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E6955E79-01B8-4DED-A586-521A911FA9B6}" srcId="{6AFA46F5-CB29-4CFA-B940-0F77E508C6FB}" destId="{AEEA20E7-FF3A-41F9-A7D0-A2B57F2B7444}" srcOrd="3" destOrd="0" parTransId="{CCFDB3CC-04F5-4BD0-B654-E5B085C944D6}" sibTransId="{640588D7-C39E-4477-9717-A4D1A4AC88D6}"/>
    <dgm:cxn modelId="{2B859C81-8308-42D8-AD9E-6C4F8D8AB6EC}" type="presOf" srcId="{6B3B7C3D-3769-4F98-A97E-6F7D0961B430}" destId="{52DE6D73-3DC4-479B-B104-D4D5B94D7688}" srcOrd="0" destOrd="0" presId="urn:microsoft.com/office/officeart/2011/layout/RadialPictureList"/>
    <dgm:cxn modelId="{3BE19FA8-11B3-4923-8BCF-5AB6E1A4166A}" type="presOf" srcId="{AEEA20E7-FF3A-41F9-A7D0-A2B57F2B7444}" destId="{E18E4002-8B38-4C7B-8383-F90062B4F9F7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6842C1C5-24A4-44FF-8B7F-2567FA7EE1FE}" srcId="{6AFA46F5-CB29-4CFA-B940-0F77E508C6FB}" destId="{6B3B7C3D-3769-4F98-A97E-6F7D0961B430}" srcOrd="2" destOrd="0" parTransId="{8AF32A7D-F967-442E-B4D9-14C218613FF2}" sibTransId="{9E39DC66-3170-49BE-92F7-A1AFE6C6EC37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1D41DF6C-C5DE-4884-8447-2F83F01ABDBC}" type="presParOf" srcId="{99DDB345-EF8A-4603-AC40-B9476611FDB4}" destId="{BA2924F8-CC50-4C38-A774-5D450D43E14E}" srcOrd="6" destOrd="0" presId="urn:microsoft.com/office/officeart/2011/layout/RadialPictureList"/>
    <dgm:cxn modelId="{4B6CA8A2-D9AB-434E-A735-54207C63CC4F}" type="presParOf" srcId="{BA2924F8-CC50-4C38-A774-5D450D43E14E}" destId="{D6F6FC17-20B3-46E6-82FF-46C37F4B4423}" srcOrd="0" destOrd="0" presId="urn:microsoft.com/office/officeart/2011/layout/RadialPictureList"/>
    <dgm:cxn modelId="{62E059B6-1CDF-4D35-8E6D-0595AC6D91CD}" type="presParOf" srcId="{99DDB345-EF8A-4603-AC40-B9476611FDB4}" destId="{52DE6D73-3DC4-479B-B104-D4D5B94D7688}" srcOrd="7" destOrd="0" presId="urn:microsoft.com/office/officeart/2011/layout/RadialPictureList"/>
    <dgm:cxn modelId="{3F5A3623-75FA-41A4-AF10-E54B09E0AD7A}" type="presParOf" srcId="{99DDB345-EF8A-4603-AC40-B9476611FDB4}" destId="{D4040B0C-B9ED-46D2-9D81-D497B3B91DA3}" srcOrd="8" destOrd="0" presId="urn:microsoft.com/office/officeart/2011/layout/RadialPictureList"/>
    <dgm:cxn modelId="{55A67D35-4EB4-4797-B1C5-C97CEA2A5C1E}" type="presParOf" srcId="{D4040B0C-B9ED-46D2-9D81-D497B3B91DA3}" destId="{FEE30AA5-757E-4947-926F-05DF8704EBF3}" srcOrd="0" destOrd="0" presId="urn:microsoft.com/office/officeart/2011/layout/RadialPictureList"/>
    <dgm:cxn modelId="{6878BB07-F54F-4FC1-B073-43BA3317EDCF}" type="presParOf" srcId="{99DDB345-EF8A-4603-AC40-B9476611FDB4}" destId="{E18E4002-8B38-4C7B-8383-F90062B4F9F7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Coverage_Base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Defines the mailboxes &amp; Virtual Interface necessary for communication by the entire test structure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Pre-defines pure virtual execute task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 custScaleX="189146" custLinFactNeighborX="43068" custLinFactNeighborY="-3463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 custScaleX="169391" custLinFactNeighborX="32164" custLinFactNeighborY="3067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/>
      <dgm:t>
        <a:bodyPr/>
        <a:lstStyle/>
        <a:p>
          <a:r>
            <a:rPr lang="en-US" dirty="0"/>
            <a:t>Coverage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200" dirty="0"/>
            <a:t>Constructs </a:t>
          </a:r>
          <a:r>
            <a:rPr lang="en-US" sz="1000" dirty="0"/>
            <a:t>the</a:t>
          </a:r>
          <a:r>
            <a:rPr lang="en-US" sz="1200" dirty="0"/>
            <a:t> parent using </a:t>
          </a:r>
          <a:r>
            <a:rPr lang="en-US" sz="1200" dirty="0" err="1"/>
            <a:t>super.new</a:t>
          </a:r>
          <a:r>
            <a:rPr lang="en-US" sz="12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Receives the input stimulus and sampled outputs from the input/</a:t>
          </a:r>
          <a:r>
            <a:rPr lang="en-US" sz="1000" dirty="0" err="1"/>
            <a:t>outputMonitor</a:t>
          </a:r>
          <a:r>
            <a:rPr lang="en-US" sz="1000" dirty="0"/>
            <a:t> and samples them through the coverage groups accordingly.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 custScaleX="247400" custLinFactNeighborX="73457" custLinFactNeighborY="-3706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Scoreboard_Base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Defines the mailboxes &amp; Virtual Interface necessary for communication between the predictor &amp; comparator.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Pre-defines pure virtual execute task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 custScaleX="150811" custLinFactNeighborX="29716" custLinFactNeighborY="1491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/>
      <dgm:t>
        <a:bodyPr/>
        <a:lstStyle/>
        <a:p>
          <a:r>
            <a:rPr lang="en-US" dirty="0"/>
            <a:t>Scoreboard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Receives the input stimulus &amp; the outputs of the DUT from both the </a:t>
          </a:r>
          <a:r>
            <a:rPr lang="en-US" sz="1000" dirty="0" err="1"/>
            <a:t>InputMonitor</a:t>
          </a:r>
          <a:r>
            <a:rPr lang="en-US" sz="1000" dirty="0"/>
            <a:t> &amp; the </a:t>
          </a:r>
          <a:r>
            <a:rPr lang="en-US" sz="1000" dirty="0" err="1"/>
            <a:t>OutputMonitor</a:t>
          </a:r>
          <a:r>
            <a:rPr lang="en-US" sz="1000" dirty="0"/>
            <a:t>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FD81B7D8-D9DE-4A10-B001-2347DD7AC5A9}">
      <dgm:prSet phldrT="[Text]" custScaleX="247400" custScaleY="73333" custLinFactNeighborX="73457" custLinFactNeighborY="-3706"/>
      <dgm:spPr/>
    </dgm:pt>
    <dgm:pt modelId="{3ECEF1A3-F387-4E42-96ED-274655A41362}" type="parTrans" cxnId="{BAC40388-08F7-4F38-AC1D-62679B18329A}">
      <dgm:prSet/>
      <dgm:spPr/>
      <dgm:t>
        <a:bodyPr/>
        <a:lstStyle/>
        <a:p>
          <a:endParaRPr lang="en-US"/>
        </a:p>
      </dgm:t>
    </dgm:pt>
    <dgm:pt modelId="{87EDBCBE-0CD5-49EB-B819-5F81F8A76E77}" type="sibTrans" cxnId="{BAC40388-08F7-4F38-AC1D-62679B18329A}">
      <dgm:prSet/>
      <dgm:spPr/>
      <dgm:t>
        <a:bodyPr/>
        <a:lstStyle/>
        <a:p>
          <a:endParaRPr lang="en-US"/>
        </a:p>
      </dgm:t>
    </dgm:pt>
    <dgm:pt modelId="{E1EB2E52-F8F0-4990-A4BE-B0EB1D73D897}">
      <dgm:prSet phldrT="[Text]" custT="1"/>
      <dgm:spPr/>
      <dgm:t>
        <a:bodyPr/>
        <a:lstStyle/>
        <a:p>
          <a:r>
            <a:rPr lang="en-US" sz="1000" dirty="0"/>
            <a:t>Is the bridge of communication between the predictor &amp; comparator</a:t>
          </a:r>
        </a:p>
      </dgm:t>
    </dgm:pt>
    <dgm:pt modelId="{F36681BA-B855-4622-95AF-3C1C04327C9F}" type="parTrans" cxnId="{034D68A1-0B55-4FD6-83A2-8E443880800F}">
      <dgm:prSet/>
      <dgm:spPr/>
      <dgm:t>
        <a:bodyPr/>
        <a:lstStyle/>
        <a:p>
          <a:endParaRPr lang="en-US"/>
        </a:p>
      </dgm:t>
    </dgm:pt>
    <dgm:pt modelId="{FCF3B0CF-60E7-41B0-BE73-A68984FF9E67}" type="sibTrans" cxnId="{034D68A1-0B55-4FD6-83A2-8E443880800F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3" custScaleX="247400" custScaleY="73333" custLinFactNeighborX="73457" custLinFactNeighborY="-3706">
        <dgm:presLayoutVars>
          <dgm:chMax val="0"/>
          <dgm:chPref val="0"/>
          <dgm:bulletEnabled val="1"/>
        </dgm:presLayoutVars>
      </dgm:prSet>
      <dgm:spPr/>
    </dgm:pt>
    <dgm:pt modelId="{C938802D-F22E-4D50-A5A5-DD0284A5F377}" type="pres">
      <dgm:prSet presAssocID="{E1EB2E52-F8F0-4990-A4BE-B0EB1D73D897}" presName="Image3" presStyleCnt="0"/>
      <dgm:spPr/>
    </dgm:pt>
    <dgm:pt modelId="{D1551EC0-5BDC-4B87-A33B-E6DE7DD35E43}" type="pres">
      <dgm:prSet presAssocID="{E1EB2E52-F8F0-4990-A4BE-B0EB1D73D897}" presName="Image" presStyleLbl="fgImgPlace1" presStyleIdx="2" presStyleCnt="3"/>
      <dgm:spPr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3BA0318B-346C-405E-AE06-092BC9562861}" type="pres">
      <dgm:prSet presAssocID="{E1EB2E52-F8F0-4990-A4BE-B0EB1D73D897}" presName="Child3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BAC40388-08F7-4F38-AC1D-62679B18329A}" srcId="{9B44EDE2-31CC-4C41-BC73-FB8FD33D4028}" destId="{FD81B7D8-D9DE-4A10-B001-2347DD7AC5A9}" srcOrd="1" destOrd="0" parTransId="{3ECEF1A3-F387-4E42-96ED-274655A41362}" sibTransId="{87EDBCBE-0CD5-49EB-B819-5F81F8A76E77}"/>
    <dgm:cxn modelId="{234C7EA0-33F3-4257-8D0B-757F3D0C6EE7}" type="presOf" srcId="{E1EB2E52-F8F0-4990-A4BE-B0EB1D73D897}" destId="{3BA0318B-346C-405E-AE06-092BC9562861}" srcOrd="0" destOrd="0" presId="urn:microsoft.com/office/officeart/2011/layout/RadialPictureList"/>
    <dgm:cxn modelId="{034D68A1-0B55-4FD6-83A2-8E443880800F}" srcId="{6AFA46F5-CB29-4CFA-B940-0F77E508C6FB}" destId="{E1EB2E52-F8F0-4990-A4BE-B0EB1D73D897}" srcOrd="2" destOrd="0" parTransId="{F36681BA-B855-4622-95AF-3C1C04327C9F}" sibTransId="{FCF3B0CF-60E7-41B0-BE73-A68984FF9E67}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AD014E54-F357-464E-B11D-38DECA417AB4}" type="presParOf" srcId="{99DDB345-EF8A-4603-AC40-B9476611FDB4}" destId="{C938802D-F22E-4D50-A5A5-DD0284A5F377}" srcOrd="6" destOrd="0" presId="urn:microsoft.com/office/officeart/2011/layout/RadialPictureList"/>
    <dgm:cxn modelId="{C6B24240-26B5-4D49-AC94-39C4E0B74ACC}" type="presParOf" srcId="{C938802D-F22E-4D50-A5A5-DD0284A5F377}" destId="{D1551EC0-5BDC-4B87-A33B-E6DE7DD35E43}" srcOrd="0" destOrd="0" presId="urn:microsoft.com/office/officeart/2011/layout/RadialPictureList"/>
    <dgm:cxn modelId="{EEB5A992-C83D-469E-8DB7-3B785E419801}" type="presParOf" srcId="{99DDB345-EF8A-4603-AC40-B9476611FDB4}" destId="{3BA0318B-346C-405E-AE06-092BC9562861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Predictor_Base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Defines the mailboxes &amp; Virtual Interface necessary for communication.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Pre-defines pure virtual execute task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/>
      <dgm:t>
        <a:bodyPr/>
        <a:lstStyle/>
        <a:p>
          <a:r>
            <a:rPr lang="en-US" dirty="0"/>
            <a:t>Predictor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Receives sampled input items from the scoreboard/</a:t>
          </a:r>
          <a:r>
            <a:rPr lang="en-US" sz="1000" dirty="0" err="1"/>
            <a:t>inputMonitor</a:t>
          </a:r>
          <a:r>
            <a:rPr lang="en-US" sz="1000" dirty="0"/>
            <a:t> and calculates the supposed expected output and sends it to the comparator through the scoreboard.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 custScaleX="247400" custLinFactNeighborX="73457" custLinFactNeighborY="-3706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Comparator_Base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Defines the mailboxes &amp; Virtual Interface necessary for communication.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Pre-defines pure virtual execute task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/>
      <dgm:t>
        <a:bodyPr/>
        <a:lstStyle/>
        <a:p>
          <a:r>
            <a:rPr lang="en-US" dirty="0"/>
            <a:t>Comparator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200" dirty="0"/>
            <a:t>Constructs </a:t>
          </a:r>
          <a:r>
            <a:rPr lang="en-US" sz="1000" dirty="0"/>
            <a:t>the</a:t>
          </a:r>
          <a:r>
            <a:rPr lang="en-US" sz="1200" dirty="0"/>
            <a:t> parent using </a:t>
          </a:r>
          <a:r>
            <a:rPr lang="en-US" sz="1200" dirty="0" err="1"/>
            <a:t>super.new</a:t>
          </a:r>
          <a:r>
            <a:rPr lang="en-US" sz="12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Receives sampled output items from the scoreboard/</a:t>
          </a:r>
          <a:r>
            <a:rPr lang="en-US" sz="1000" dirty="0" err="1"/>
            <a:t>outpuMonitor</a:t>
          </a:r>
          <a:r>
            <a:rPr lang="en-US" sz="1000" dirty="0"/>
            <a:t> and compares it to the previously sampled input items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 custScaleX="247400" custLinFactNeighborX="73457" custLinFactNeighborY="-3706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Transaction_Base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Rand properties of the ALU, the inputs defined as rand.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Void </a:t>
          </a:r>
          <a:r>
            <a:rPr lang="en-US" dirty="0" err="1"/>
            <a:t>Do_copy</a:t>
          </a:r>
          <a:r>
            <a:rPr lang="en-US" dirty="0"/>
            <a:t>(); functions that copies all the fields and assigns it to another item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A344FA3F-7C78-4280-9B85-F1D658E827C6}">
      <dgm:prSet phldrT="[Text]"/>
      <dgm:spPr/>
      <dgm:t>
        <a:bodyPr/>
        <a:lstStyle/>
        <a:p>
          <a:r>
            <a:rPr lang="en-US" dirty="0"/>
            <a:t>String functions for better debugging i.e. input2string, output2string, item2string</a:t>
          </a:r>
        </a:p>
      </dgm:t>
    </dgm:pt>
    <dgm:pt modelId="{6D01D7D4-CCE7-4B4D-B0A8-E59C93A98C0F}" type="parTrans" cxnId="{9607D8BB-B618-4CD4-826A-886CE287C07E}">
      <dgm:prSet/>
      <dgm:spPr/>
      <dgm:t>
        <a:bodyPr/>
        <a:lstStyle/>
        <a:p>
          <a:endParaRPr lang="en-US"/>
        </a:p>
      </dgm:t>
    </dgm:pt>
    <dgm:pt modelId="{A7858954-BEB2-4DBC-94BD-E8939468F004}" type="sibTrans" cxnId="{9607D8BB-B618-4CD4-826A-886CE287C07E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F861761A-163E-460E-B5D4-D1D8E824C0A2}" type="pres">
      <dgm:prSet presAssocID="{A344FA3F-7C78-4280-9B85-F1D658E827C6}" presName="Image3" presStyleCnt="0"/>
      <dgm:spPr/>
    </dgm:pt>
    <dgm:pt modelId="{505ABB21-91CF-43FB-B8BE-622A99AC091A}" type="pres">
      <dgm:prSet presAssocID="{A344FA3F-7C78-4280-9B85-F1D658E827C6}" presName="Image" presStyleLbl="fgImgPlace1" presStyleIdx="2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5261361A-2996-47AA-A1E0-91A736A9CE13}" type="pres">
      <dgm:prSet presAssocID="{A344FA3F-7C78-4280-9B85-F1D658E827C6}" presName="Child3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9607D8BB-B618-4CD4-826A-886CE287C07E}" srcId="{6AFA46F5-CB29-4CFA-B940-0F77E508C6FB}" destId="{A344FA3F-7C78-4280-9B85-F1D658E827C6}" srcOrd="2" destOrd="0" parTransId="{6D01D7D4-CCE7-4B4D-B0A8-E59C93A98C0F}" sibTransId="{A7858954-BEB2-4DBC-94BD-E8939468F004}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AF1D9ED7-D1AA-43B4-8A6E-C2B0FA3C5643}" type="presOf" srcId="{A344FA3F-7C78-4280-9B85-F1D658E827C6}" destId="{5261361A-2996-47AA-A1E0-91A736A9CE13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9E8EDB09-C784-4DFB-88F5-9812B737AFF3}" type="presParOf" srcId="{99DDB345-EF8A-4603-AC40-B9476611FDB4}" destId="{F861761A-163E-460E-B5D4-D1D8E824C0A2}" srcOrd="6" destOrd="0" presId="urn:microsoft.com/office/officeart/2011/layout/RadialPictureList"/>
    <dgm:cxn modelId="{F72826A2-93CB-4785-A86E-7BA68B16BEC0}" type="presParOf" srcId="{F861761A-163E-460E-B5D4-D1D8E824C0A2}" destId="{505ABB21-91CF-43FB-B8BE-622A99AC091A}" srcOrd="0" destOrd="0" presId="urn:microsoft.com/office/officeart/2011/layout/RadialPictureList"/>
    <dgm:cxn modelId="{D905D97E-3ACE-4E24-99B0-6E703723A44E}" type="presParOf" srcId="{99DDB345-EF8A-4603-AC40-B9476611FDB4}" destId="{5261361A-2996-47AA-A1E0-91A736A9CE13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/>
      <dgm:t>
        <a:bodyPr/>
        <a:lstStyle/>
        <a:p>
          <a:r>
            <a:rPr lang="en-US"/>
            <a:t>Transaction</a:t>
          </a:r>
          <a:endParaRPr lang="en-US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Constructs the parent using </a:t>
          </a:r>
          <a:r>
            <a:rPr lang="en-US" dirty="0" err="1"/>
            <a:t>super.new</a:t>
          </a:r>
          <a:r>
            <a:rPr lang="en-US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Defining the needed constraints &amp; transaction item number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/>
      <dgm:t>
        <a:bodyPr/>
        <a:lstStyle/>
        <a:p>
          <a:r>
            <a:rPr lang="en-US"/>
            <a:t>Transactionx</a:t>
          </a:r>
          <a:endParaRPr lang="en-US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Constructs the parent using </a:t>
          </a:r>
          <a:r>
            <a:rPr lang="en-US" dirty="0" err="1"/>
            <a:t>super.new</a:t>
          </a:r>
          <a:r>
            <a:rPr lang="en-US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Defining different constraints &amp; transaction item number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Reset_Generator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Generates a Reset Transaction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Constructs the parent using </a:t>
          </a:r>
          <a:r>
            <a:rPr lang="en-US" dirty="0" err="1"/>
            <a:t>super.new</a:t>
          </a:r>
          <a:r>
            <a:rPr lang="en-US" dirty="0"/>
            <a:t>();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 custLinFactNeighborX="-64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 custScaleX="119593" custLinFactNeighborX="9436" custLinFactNeighborY="-2198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Generator_Base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Defines the mailboxes &amp; Virtual Interface necessary for communication.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Pre-defines pure virtual execute task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 custLinFactNeighborX="-64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 custScaleX="119593" custLinFactNeighborX="9436" custLinFactNeighborY="-2198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/>
      <dgm:t>
        <a:bodyPr/>
        <a:lstStyle/>
        <a:p>
          <a:r>
            <a:rPr lang="en-US" sz="900" dirty="0" err="1"/>
            <a:t>Random_Error_Injection_Generator</a:t>
          </a:r>
          <a:endParaRPr lang="en-US" sz="900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Removes all the design spec constraints &amp; drives randomized items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/>
      <dgm:t>
        <a:bodyPr/>
        <a:lstStyle/>
        <a:p>
          <a:r>
            <a:rPr lang="en-US" sz="900" dirty="0" err="1"/>
            <a:t>Random_Generator</a:t>
          </a:r>
          <a:endParaRPr lang="en-US" sz="900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Generates randomized items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/>
      <dgm:t>
        <a:bodyPr/>
        <a:lstStyle/>
        <a:p>
          <a:r>
            <a:rPr lang="en-US" sz="900" dirty="0" err="1"/>
            <a:t>Random_Reset_Thrice_Generator</a:t>
          </a:r>
          <a:endParaRPr lang="en-US" sz="900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Randomly generates randomized items &amp; 3 reset transactions every now and then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29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Comparator_Base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Defines the mailboxes &amp; Virtual Interface necessary for communication.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Pre-defines pure virtual execute task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/>
      <dgm:t>
        <a:bodyPr/>
        <a:lstStyle/>
        <a:p>
          <a:r>
            <a:rPr lang="en-US" dirty="0"/>
            <a:t>Comparator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200" dirty="0"/>
            <a:t>Constructs </a:t>
          </a:r>
          <a:r>
            <a:rPr lang="en-US" sz="1000" dirty="0"/>
            <a:t>the</a:t>
          </a:r>
          <a:r>
            <a:rPr lang="en-US" sz="1200" dirty="0"/>
            <a:t> parent using </a:t>
          </a:r>
          <a:r>
            <a:rPr lang="en-US" sz="1200" dirty="0" err="1"/>
            <a:t>super.new</a:t>
          </a:r>
          <a:r>
            <a:rPr lang="en-US" sz="12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Receives sampled output items from the scoreboard/</a:t>
          </a:r>
          <a:r>
            <a:rPr lang="en-US" sz="1000" dirty="0" err="1"/>
            <a:t>outpuMonitor</a:t>
          </a:r>
          <a:r>
            <a:rPr lang="en-US" sz="1000" dirty="0"/>
            <a:t> and compares it to the previously sampled input items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 custScaleX="247400" custLinFactNeighborX="73457" custLinFactNeighborY="-3706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Enviornment_Base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Defines the mailboxes &amp; Virtual Interface necessary for communication by the entire test structure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Pre-defines pure virtual execute task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/>
      <dgm:t>
        <a:bodyPr/>
        <a:lstStyle/>
        <a:p>
          <a:r>
            <a:rPr lang="en-US" dirty="0"/>
            <a:t>Environment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200" dirty="0"/>
            <a:t>Constructs </a:t>
          </a:r>
          <a:r>
            <a:rPr lang="en-US" sz="1000" dirty="0"/>
            <a:t>the</a:t>
          </a:r>
          <a:r>
            <a:rPr lang="en-US" sz="1200" dirty="0"/>
            <a:t> parent using </a:t>
          </a:r>
          <a:r>
            <a:rPr lang="en-US" sz="1200" dirty="0" err="1"/>
            <a:t>super.new</a:t>
          </a:r>
          <a:r>
            <a:rPr lang="en-US" sz="12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 err="1"/>
            <a:t>Inestsantiates</a:t>
          </a:r>
          <a:r>
            <a:rPr lang="en-US" sz="1000" dirty="0"/>
            <a:t> the entire testbench structure  that is under the test.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 custScaleX="247400" custLinFactNeighborX="73457" custLinFactNeighborY="-3706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Reset_Test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 err="1"/>
            <a:t>Inestantiates</a:t>
          </a:r>
          <a:r>
            <a:rPr lang="en-US" sz="1000" dirty="0"/>
            <a:t> the </a:t>
          </a:r>
          <a:r>
            <a:rPr lang="en-US" sz="1000" dirty="0" err="1"/>
            <a:t>reset_generator</a:t>
          </a:r>
          <a:r>
            <a:rPr lang="en-US" sz="1000" dirty="0"/>
            <a:t> and runs the item generated by it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 custLinFactNeighborX="-64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 custScaleX="172757" custLinFactNeighborX="36232" custLinFactNeighborY="-2198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 custScaleX="153404" custLinFactNeighborX="34041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Test_Base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Defines the mailboxes &amp; Virtual Interface necessary for communication.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Pre-defines pure virtual execute task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 custLinFactNeighborX="-64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 custScaleX="119593" custLinFactNeighborX="9436" custLinFactNeighborY="-2198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/>
      <dgm:t>
        <a:bodyPr/>
        <a:lstStyle/>
        <a:p>
          <a:r>
            <a:rPr lang="en-US" sz="900" dirty="0" err="1"/>
            <a:t>Random_Error_Injection_test</a:t>
          </a:r>
          <a:endParaRPr lang="en-US" sz="900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 err="1"/>
            <a:t>Inestantiates</a:t>
          </a:r>
          <a:r>
            <a:rPr lang="en-US" sz="1000" dirty="0"/>
            <a:t> the </a:t>
          </a:r>
          <a:r>
            <a:rPr lang="en-US" sz="1000" dirty="0" err="1"/>
            <a:t>random_error_injection_generator</a:t>
          </a:r>
          <a:r>
            <a:rPr lang="en-US" sz="1000" dirty="0"/>
            <a:t> and runs the item generated by it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/>
      <dgm:t>
        <a:bodyPr/>
        <a:lstStyle/>
        <a:p>
          <a:r>
            <a:rPr lang="en-US" sz="900" dirty="0" err="1"/>
            <a:t>Random_test</a:t>
          </a:r>
          <a:endParaRPr lang="en-US" sz="900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 err="1"/>
            <a:t>Inestantiates</a:t>
          </a:r>
          <a:r>
            <a:rPr lang="en-US" sz="1000" dirty="0"/>
            <a:t> the </a:t>
          </a:r>
          <a:r>
            <a:rPr lang="en-US" sz="1000" dirty="0" err="1"/>
            <a:t>random_generator</a:t>
          </a:r>
          <a:r>
            <a:rPr lang="en-US" sz="1000" dirty="0"/>
            <a:t> and runs the item generated by it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/>
      <dgm:t>
        <a:bodyPr/>
        <a:lstStyle/>
        <a:p>
          <a:r>
            <a:rPr lang="en-US" sz="900" dirty="0" err="1"/>
            <a:t>Random_Reset_Thrice_test</a:t>
          </a:r>
          <a:endParaRPr lang="en-US" sz="900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 err="1"/>
            <a:t>Inestantiates</a:t>
          </a:r>
          <a:r>
            <a:rPr lang="en-US" sz="1000" dirty="0"/>
            <a:t> the </a:t>
          </a:r>
          <a:r>
            <a:rPr lang="en-US" sz="1000" dirty="0" err="1"/>
            <a:t>random_reset_thrice_generator</a:t>
          </a:r>
          <a:r>
            <a:rPr lang="en-US" sz="1000" dirty="0"/>
            <a:t> and runs the item generated by it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2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347699" y="1567989"/>
          <a:ext cx="2455707" cy="2455488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bg1"/>
              </a:solidFill>
            </a:rPr>
            <a:t>ENV</a:t>
          </a:r>
        </a:p>
      </dsp:txBody>
      <dsp:txXfrm>
        <a:off x="3707329" y="1927587"/>
        <a:ext cx="1736447" cy="1736292"/>
      </dsp:txXfrm>
    </dsp:sp>
    <dsp:sp modelId="{67E10470-8429-4313-A979-E4661E041BF7}">
      <dsp:nvSpPr>
        <dsp:cNvPr id="0" name=""/>
        <dsp:cNvSpPr/>
      </dsp:nvSpPr>
      <dsp:spPr>
        <a:xfrm>
          <a:off x="2081632" y="202520"/>
          <a:ext cx="4949628" cy="5159498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145860" y="0"/>
          <a:ext cx="1315815" cy="1315540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658875" y="16829"/>
          <a:ext cx="4186682" cy="1273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Constructs the parent using </a:t>
          </a:r>
          <a:r>
            <a:rPr lang="en-US" sz="1000" b="1" kern="1200" dirty="0" err="1"/>
            <a:t>super.new</a:t>
          </a:r>
          <a:r>
            <a:rPr lang="en-US" sz="1000" b="1" kern="1200" dirty="0"/>
            <a:t>();</a:t>
          </a:r>
        </a:p>
      </dsp:txBody>
      <dsp:txXfrm>
        <a:off x="6658875" y="16829"/>
        <a:ext cx="4186682" cy="1273465"/>
      </dsp:txXfrm>
    </dsp:sp>
    <dsp:sp modelId="{1E8D6046-8D12-4E78-8B15-F5764271BE66}">
      <dsp:nvSpPr>
        <dsp:cNvPr id="0" name=""/>
        <dsp:cNvSpPr/>
      </dsp:nvSpPr>
      <dsp:spPr>
        <a:xfrm>
          <a:off x="6117760" y="1225219"/>
          <a:ext cx="1315815" cy="131554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7596382" y="1248220"/>
          <a:ext cx="2670548" cy="1273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Instantiates all the environment components (Agents, Virtual Sequencer..</a:t>
          </a:r>
          <a:r>
            <a:rPr lang="en-US" sz="1000" b="1" kern="1200" dirty="0" err="1"/>
            <a:t>etc</a:t>
          </a:r>
          <a:r>
            <a:rPr lang="en-US" sz="1000" b="1" kern="1200" dirty="0"/>
            <a:t>) and Creates them using </a:t>
          </a:r>
          <a:r>
            <a:rPr lang="en-US" sz="1000" b="1" kern="1200" dirty="0" err="1"/>
            <a:t>uvm_factory</a:t>
          </a:r>
          <a:endParaRPr lang="en-US" sz="1000" b="1" kern="1200" dirty="0"/>
        </a:p>
      </dsp:txBody>
      <dsp:txXfrm>
        <a:off x="7596382" y="1248220"/>
        <a:ext cx="2670548" cy="1273465"/>
      </dsp:txXfrm>
    </dsp:sp>
    <dsp:sp modelId="{1888B180-630D-493D-B458-703C3ADE6517}">
      <dsp:nvSpPr>
        <dsp:cNvPr id="0" name=""/>
        <dsp:cNvSpPr/>
      </dsp:nvSpPr>
      <dsp:spPr>
        <a:xfrm>
          <a:off x="6112713" y="3026584"/>
          <a:ext cx="1315815" cy="1315540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EBF651-2D0E-4A1E-A8AE-B88DF1889FB5}">
      <dsp:nvSpPr>
        <dsp:cNvPr id="0" name=""/>
        <dsp:cNvSpPr/>
      </dsp:nvSpPr>
      <dsp:spPr>
        <a:xfrm>
          <a:off x="7533439" y="3039650"/>
          <a:ext cx="3265951" cy="1273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Connects the </a:t>
          </a:r>
          <a:r>
            <a:rPr lang="en-US" sz="1000" b="1" kern="1200" dirty="0" err="1"/>
            <a:t>rst_agent</a:t>
          </a:r>
          <a:r>
            <a:rPr lang="en-US" sz="1000" b="1" kern="1200" dirty="0"/>
            <a:t> </a:t>
          </a:r>
          <a:r>
            <a:rPr lang="en-US" sz="1000" b="1" kern="1200" dirty="0" err="1"/>
            <a:t>tlm</a:t>
          </a:r>
          <a:r>
            <a:rPr lang="en-US" sz="1000" b="1" kern="1200" dirty="0"/>
            <a:t> to the rest of the environment (Scoreboard, Subscriber, </a:t>
          </a:r>
          <a:r>
            <a:rPr lang="en-US" sz="1000" b="1" kern="1200" dirty="0" err="1"/>
            <a:t>alu_agent</a:t>
          </a:r>
          <a:r>
            <a:rPr lang="en-US" sz="1000" b="1" kern="1200" dirty="0"/>
            <a:t>).</a:t>
          </a:r>
          <a:br>
            <a:rPr lang="en-US" sz="1000" b="1" kern="1200" dirty="0"/>
          </a:br>
          <a:r>
            <a:rPr lang="en-US" sz="1000" b="1" kern="1200" dirty="0"/>
            <a:t>Also uses </a:t>
          </a:r>
          <a:r>
            <a:rPr lang="en-US" sz="1000" b="1" kern="1200" dirty="0" err="1"/>
            <a:t>get_provided_to</a:t>
          </a:r>
          <a:r>
            <a:rPr lang="en-US" sz="1000" b="1" kern="1200" dirty="0"/>
            <a:t> and </a:t>
          </a:r>
          <a:r>
            <a:rPr lang="en-US" sz="1000" b="1" kern="1200" dirty="0" err="1"/>
            <a:t>get_connected_to</a:t>
          </a:r>
          <a:r>
            <a:rPr lang="en-US" sz="1000" b="1" kern="1200" dirty="0"/>
            <a:t> to debug TLM connections.</a:t>
          </a:r>
        </a:p>
      </dsp:txBody>
      <dsp:txXfrm>
        <a:off x="7533439" y="3039650"/>
        <a:ext cx="3265951" cy="1273465"/>
      </dsp:txXfrm>
    </dsp:sp>
    <dsp:sp modelId="{0DE70F0E-DC0D-4E20-A645-0E5DE2F4810D}">
      <dsp:nvSpPr>
        <dsp:cNvPr id="0" name=""/>
        <dsp:cNvSpPr/>
      </dsp:nvSpPr>
      <dsp:spPr>
        <a:xfrm>
          <a:off x="5145860" y="4294439"/>
          <a:ext cx="1315815" cy="1315540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3D4652-09BF-4FA6-B7F5-A481BAE0D3E5}">
      <dsp:nvSpPr>
        <dsp:cNvPr id="0" name=""/>
        <dsp:cNvSpPr/>
      </dsp:nvSpPr>
      <dsp:spPr>
        <a:xfrm>
          <a:off x="6561893" y="4321367"/>
          <a:ext cx="1761389" cy="1273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Initializes both </a:t>
          </a:r>
          <a:r>
            <a:rPr lang="en-US" sz="1000" b="1" kern="1200" dirty="0" err="1"/>
            <a:t>rst_agent</a:t>
          </a:r>
          <a:r>
            <a:rPr lang="en-US" sz="1000" b="1" kern="1200" dirty="0"/>
            <a:t> &amp; </a:t>
          </a:r>
          <a:r>
            <a:rPr lang="en-US" sz="1000" b="1" kern="1200" dirty="0" err="1"/>
            <a:t>alu_agent</a:t>
          </a:r>
          <a:r>
            <a:rPr lang="en-US" sz="1000" b="1" kern="1200" dirty="0"/>
            <a:t> configs and sets them to their </a:t>
          </a:r>
          <a:r>
            <a:rPr lang="en-US" sz="1000" b="1" kern="1200" dirty="0" err="1"/>
            <a:t>prespective</a:t>
          </a:r>
          <a:r>
            <a:rPr lang="en-US" sz="1000" b="1" kern="1200" dirty="0"/>
            <a:t> agents</a:t>
          </a:r>
        </a:p>
      </dsp:txBody>
      <dsp:txXfrm>
        <a:off x="6561893" y="4321367"/>
        <a:ext cx="1761389" cy="12734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398399" y="1452678"/>
          <a:ext cx="2275113" cy="2274909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solidFill>
                <a:schemeClr val="bg1"/>
              </a:solidFill>
            </a:rPr>
            <a:t>ALU AGENT</a:t>
          </a:r>
        </a:p>
      </dsp:txBody>
      <dsp:txXfrm>
        <a:off x="3731582" y="1785831"/>
        <a:ext cx="1608747" cy="1608603"/>
      </dsp:txXfrm>
    </dsp:sp>
    <dsp:sp modelId="{67E10470-8429-4313-A979-E4661E041BF7}">
      <dsp:nvSpPr>
        <dsp:cNvPr id="0" name=""/>
        <dsp:cNvSpPr/>
      </dsp:nvSpPr>
      <dsp:spPr>
        <a:xfrm>
          <a:off x="2225440" y="187626"/>
          <a:ext cx="4585628" cy="4780065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064322" y="0"/>
          <a:ext cx="1219049" cy="1218794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466069" y="15592"/>
          <a:ext cx="3878791" cy="1179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Constructs the parent using </a:t>
          </a:r>
          <a:r>
            <a:rPr lang="en-US" sz="1000" b="1" kern="1200" dirty="0" err="1"/>
            <a:t>super.new</a:t>
          </a:r>
          <a:r>
            <a:rPr lang="en-US" sz="1000" b="1" kern="1200" dirty="0"/>
            <a:t>();</a:t>
          </a:r>
        </a:p>
      </dsp:txBody>
      <dsp:txXfrm>
        <a:off x="6466069" y="15592"/>
        <a:ext cx="3878791" cy="1179813"/>
      </dsp:txXfrm>
    </dsp:sp>
    <dsp:sp modelId="{1E8D6046-8D12-4E78-8B15-F5764271BE66}">
      <dsp:nvSpPr>
        <dsp:cNvPr id="0" name=""/>
        <dsp:cNvSpPr/>
      </dsp:nvSpPr>
      <dsp:spPr>
        <a:xfrm>
          <a:off x="5964748" y="1135116"/>
          <a:ext cx="1219049" cy="121879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7334631" y="1156425"/>
          <a:ext cx="2474154" cy="1179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Receives Configuration from </a:t>
          </a:r>
          <a:r>
            <a:rPr lang="en-US" sz="1000" b="1" kern="1200" dirty="0" err="1"/>
            <a:t>alu_agnt</a:t>
          </a:r>
          <a:r>
            <a:rPr lang="en-US" sz="1000" b="1" kern="1200" dirty="0"/>
            <a:t> config file</a:t>
          </a:r>
        </a:p>
      </dsp:txBody>
      <dsp:txXfrm>
        <a:off x="7334631" y="1156425"/>
        <a:ext cx="2474154" cy="1179813"/>
      </dsp:txXfrm>
    </dsp:sp>
    <dsp:sp modelId="{84026C8C-C04E-4584-8D4D-11D81B1A18FA}">
      <dsp:nvSpPr>
        <dsp:cNvPr id="0" name=""/>
        <dsp:cNvSpPr/>
      </dsp:nvSpPr>
      <dsp:spPr>
        <a:xfrm>
          <a:off x="5960072" y="2804007"/>
          <a:ext cx="1219049" cy="1218794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BC90FD-BD6A-4D29-AF4F-35CA8102A8D7}">
      <dsp:nvSpPr>
        <dsp:cNvPr id="0" name=""/>
        <dsp:cNvSpPr/>
      </dsp:nvSpPr>
      <dsp:spPr>
        <a:xfrm>
          <a:off x="7273306" y="2823757"/>
          <a:ext cx="1631855" cy="1179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 err="1"/>
            <a:t>Inestantiates</a:t>
          </a:r>
          <a:r>
            <a:rPr lang="en-US" sz="1000" b="1" kern="1200" dirty="0"/>
            <a:t> </a:t>
          </a:r>
          <a:r>
            <a:rPr lang="en-US" sz="1000" b="1" kern="1200" dirty="0" err="1"/>
            <a:t>Input_Monitor</a:t>
          </a:r>
          <a:r>
            <a:rPr lang="en-US" sz="1000" b="1" kern="1200" dirty="0"/>
            <a:t>, Driver &amp; Sequencer </a:t>
          </a:r>
        </a:p>
      </dsp:txBody>
      <dsp:txXfrm>
        <a:off x="7273306" y="2823757"/>
        <a:ext cx="1631855" cy="1179813"/>
      </dsp:txXfrm>
    </dsp:sp>
    <dsp:sp modelId="{D1FE00CD-6A29-4BBF-B251-703377742265}">
      <dsp:nvSpPr>
        <dsp:cNvPr id="0" name=""/>
        <dsp:cNvSpPr/>
      </dsp:nvSpPr>
      <dsp:spPr>
        <a:xfrm>
          <a:off x="5064322" y="3978623"/>
          <a:ext cx="1219049" cy="1218794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7F8C09-F827-4AF3-81CC-5E095F20C058}">
      <dsp:nvSpPr>
        <dsp:cNvPr id="0" name=""/>
        <dsp:cNvSpPr/>
      </dsp:nvSpPr>
      <dsp:spPr>
        <a:xfrm>
          <a:off x="6376219" y="4003571"/>
          <a:ext cx="1631855" cy="1179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Is fully reset aware</a:t>
          </a:r>
        </a:p>
      </dsp:txBody>
      <dsp:txXfrm>
        <a:off x="6376219" y="4003571"/>
        <a:ext cx="1631855" cy="11798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594951" y="1359969"/>
          <a:ext cx="2129917" cy="2129727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chemeClr val="bg1"/>
              </a:solidFill>
            </a:rPr>
            <a:t>DRIVER</a:t>
          </a:r>
        </a:p>
      </dsp:txBody>
      <dsp:txXfrm>
        <a:off x="3906870" y="1671860"/>
        <a:ext cx="1506079" cy="1505945"/>
      </dsp:txXfrm>
    </dsp:sp>
    <dsp:sp modelId="{67E10470-8429-4313-A979-E4661E041BF7}">
      <dsp:nvSpPr>
        <dsp:cNvPr id="0" name=""/>
        <dsp:cNvSpPr/>
      </dsp:nvSpPr>
      <dsp:spPr>
        <a:xfrm>
          <a:off x="2496849" y="175652"/>
          <a:ext cx="4292978" cy="4475006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154556" y="0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466845" y="14597"/>
          <a:ext cx="3631250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Constructs the parent using </a:t>
          </a:r>
          <a:r>
            <a:rPr lang="en-US" sz="1000" b="1" kern="1200" dirty="0" err="1"/>
            <a:t>super.new</a:t>
          </a:r>
          <a:r>
            <a:rPr lang="en-US" sz="1000" b="1" kern="1200" dirty="0"/>
            <a:t>();</a:t>
          </a:r>
        </a:p>
      </dsp:txBody>
      <dsp:txXfrm>
        <a:off x="6466845" y="14597"/>
        <a:ext cx="3631250" cy="1104519"/>
      </dsp:txXfrm>
    </dsp:sp>
    <dsp:sp modelId="{1E8D6046-8D12-4E78-8B15-F5764271BE66}">
      <dsp:nvSpPr>
        <dsp:cNvPr id="0" name=""/>
        <dsp:cNvSpPr/>
      </dsp:nvSpPr>
      <dsp:spPr>
        <a:xfrm>
          <a:off x="5997518" y="1062674"/>
          <a:ext cx="1141250" cy="114101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7279976" y="1082623"/>
          <a:ext cx="2316256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Translates the transaction level items to pin level ones.</a:t>
          </a:r>
        </a:p>
      </dsp:txBody>
      <dsp:txXfrm>
        <a:off x="7279976" y="1082623"/>
        <a:ext cx="2316256" cy="1104519"/>
      </dsp:txXfrm>
    </dsp:sp>
    <dsp:sp modelId="{0BCCA6CD-3F3E-46F1-BB55-245038E59F6D}">
      <dsp:nvSpPr>
        <dsp:cNvPr id="0" name=""/>
        <dsp:cNvSpPr/>
      </dsp:nvSpPr>
      <dsp:spPr>
        <a:xfrm>
          <a:off x="5993141" y="2625058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F2C99D-ECE4-4240-890C-783D33FD7E46}">
      <dsp:nvSpPr>
        <dsp:cNvPr id="0" name=""/>
        <dsp:cNvSpPr/>
      </dsp:nvSpPr>
      <dsp:spPr>
        <a:xfrm>
          <a:off x="7222565" y="2643547"/>
          <a:ext cx="1527712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Receives the transactions from the sequences through </a:t>
          </a:r>
          <a:r>
            <a:rPr lang="en-US" sz="1000" b="1" kern="1200" dirty="0" err="1"/>
            <a:t>seq_item_pull_port</a:t>
          </a:r>
          <a:r>
            <a:rPr lang="en-US" sz="1000" b="1" kern="1200" dirty="0"/>
            <a:t> by the sequencer</a:t>
          </a:r>
        </a:p>
      </dsp:txBody>
      <dsp:txXfrm>
        <a:off x="7222565" y="2643547"/>
        <a:ext cx="1527712" cy="1104519"/>
      </dsp:txXfrm>
    </dsp:sp>
    <dsp:sp modelId="{AA43BAE0-E96D-44A2-8408-45A5169CA0FD}">
      <dsp:nvSpPr>
        <dsp:cNvPr id="0" name=""/>
        <dsp:cNvSpPr/>
      </dsp:nvSpPr>
      <dsp:spPr>
        <a:xfrm>
          <a:off x="5154556" y="3724711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80FC6-A4D4-4351-968D-45AFF44C86F3}">
      <dsp:nvSpPr>
        <dsp:cNvPr id="0" name=""/>
        <dsp:cNvSpPr/>
      </dsp:nvSpPr>
      <dsp:spPr>
        <a:xfrm>
          <a:off x="6382729" y="3748067"/>
          <a:ext cx="1527712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Sends the stimulus to the </a:t>
          </a:r>
          <a:r>
            <a:rPr lang="en-US" sz="1000" b="1" kern="1200" dirty="0" err="1"/>
            <a:t>dut</a:t>
          </a:r>
          <a:r>
            <a:rPr lang="en-US" sz="1000" b="1" kern="1200" dirty="0"/>
            <a:t> &amp; terminates operation if a </a:t>
          </a:r>
          <a:r>
            <a:rPr lang="en-US" sz="1000" b="1" kern="1200" dirty="0" err="1"/>
            <a:t>rst</a:t>
          </a:r>
          <a:r>
            <a:rPr lang="en-US" sz="1000" b="1" kern="1200" dirty="0"/>
            <a:t> is detected by the </a:t>
          </a:r>
          <a:r>
            <a:rPr lang="en-US" sz="1000" b="1" kern="1200" dirty="0" err="1"/>
            <a:t>rst_agnt</a:t>
          </a:r>
          <a:endParaRPr lang="en-US" sz="1000" b="1" kern="1200" dirty="0"/>
        </a:p>
      </dsp:txBody>
      <dsp:txXfrm>
        <a:off x="6382729" y="3748067"/>
        <a:ext cx="1527712" cy="11045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582580" y="1359969"/>
          <a:ext cx="2129917" cy="2129727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bg1"/>
              </a:solidFill>
            </a:rPr>
            <a:t>INPUT MONITOR</a:t>
          </a:r>
        </a:p>
      </dsp:txBody>
      <dsp:txXfrm>
        <a:off x="3894499" y="1671860"/>
        <a:ext cx="1506079" cy="1505945"/>
      </dsp:txXfrm>
    </dsp:sp>
    <dsp:sp modelId="{67E10470-8429-4313-A979-E4661E041BF7}">
      <dsp:nvSpPr>
        <dsp:cNvPr id="0" name=""/>
        <dsp:cNvSpPr/>
      </dsp:nvSpPr>
      <dsp:spPr>
        <a:xfrm>
          <a:off x="2484478" y="175652"/>
          <a:ext cx="4292978" cy="4475006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142185" y="0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454474" y="14597"/>
          <a:ext cx="3631250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Constructs the parent using </a:t>
          </a:r>
          <a:r>
            <a:rPr lang="en-US" sz="1000" b="1" kern="1200" dirty="0" err="1"/>
            <a:t>super.new</a:t>
          </a:r>
          <a:r>
            <a:rPr lang="en-US" sz="1000" b="1" kern="1200" dirty="0"/>
            <a:t>();</a:t>
          </a:r>
        </a:p>
      </dsp:txBody>
      <dsp:txXfrm>
        <a:off x="6454474" y="14597"/>
        <a:ext cx="3631250" cy="1104519"/>
      </dsp:txXfrm>
    </dsp:sp>
    <dsp:sp modelId="{1E8D6046-8D12-4E78-8B15-F5764271BE66}">
      <dsp:nvSpPr>
        <dsp:cNvPr id="0" name=""/>
        <dsp:cNvSpPr/>
      </dsp:nvSpPr>
      <dsp:spPr>
        <a:xfrm>
          <a:off x="5985147" y="1062674"/>
          <a:ext cx="1141250" cy="114101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7267605" y="1082623"/>
          <a:ext cx="2316256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Translates the pin level items to transaction level ones.</a:t>
          </a:r>
        </a:p>
      </dsp:txBody>
      <dsp:txXfrm>
        <a:off x="7267605" y="1082623"/>
        <a:ext cx="2316256" cy="1104519"/>
      </dsp:txXfrm>
    </dsp:sp>
    <dsp:sp modelId="{0BCCA6CD-3F3E-46F1-BB55-245038E59F6D}">
      <dsp:nvSpPr>
        <dsp:cNvPr id="0" name=""/>
        <dsp:cNvSpPr/>
      </dsp:nvSpPr>
      <dsp:spPr>
        <a:xfrm>
          <a:off x="5980770" y="2625058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F2C99D-ECE4-4240-890C-783D33FD7E46}">
      <dsp:nvSpPr>
        <dsp:cNvPr id="0" name=""/>
        <dsp:cNvSpPr/>
      </dsp:nvSpPr>
      <dsp:spPr>
        <a:xfrm>
          <a:off x="7212524" y="2643547"/>
          <a:ext cx="2365739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Constantly monitors the </a:t>
          </a:r>
          <a:r>
            <a:rPr lang="en-US" sz="1000" b="1" kern="1200" dirty="0" err="1"/>
            <a:t>dut</a:t>
          </a:r>
          <a:r>
            <a:rPr lang="en-US" sz="1000" b="1" kern="1200" dirty="0"/>
            <a:t> to observe its behavior to driven stimulus</a:t>
          </a:r>
        </a:p>
      </dsp:txBody>
      <dsp:txXfrm>
        <a:off x="7212524" y="2643547"/>
        <a:ext cx="2365739" cy="1104519"/>
      </dsp:txXfrm>
    </dsp:sp>
    <dsp:sp modelId="{AA43BAE0-E96D-44A2-8408-45A5169CA0FD}">
      <dsp:nvSpPr>
        <dsp:cNvPr id="0" name=""/>
        <dsp:cNvSpPr/>
      </dsp:nvSpPr>
      <dsp:spPr>
        <a:xfrm>
          <a:off x="5142185" y="3724711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80FC6-A4D4-4351-968D-45AFF44C86F3}">
      <dsp:nvSpPr>
        <dsp:cNvPr id="0" name=""/>
        <dsp:cNvSpPr/>
      </dsp:nvSpPr>
      <dsp:spPr>
        <a:xfrm>
          <a:off x="6372123" y="3739098"/>
          <a:ext cx="2582032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Terminates the monitoring operation if a </a:t>
          </a:r>
          <a:r>
            <a:rPr lang="en-US" sz="1000" b="1" kern="1200" dirty="0" err="1"/>
            <a:t>rst</a:t>
          </a:r>
          <a:r>
            <a:rPr lang="en-US" sz="1000" b="1" kern="1200" dirty="0"/>
            <a:t> is detected by the </a:t>
          </a:r>
          <a:r>
            <a:rPr lang="en-US" sz="1000" b="1" kern="1200" dirty="0" err="1"/>
            <a:t>rst_agnt</a:t>
          </a:r>
          <a:endParaRPr lang="en-US" sz="1000" b="1" kern="1200" dirty="0"/>
        </a:p>
      </dsp:txBody>
      <dsp:txXfrm>
        <a:off x="6372123" y="3739098"/>
        <a:ext cx="2582032" cy="11045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582580" y="1359969"/>
          <a:ext cx="2129917" cy="2129727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bg1"/>
              </a:solidFill>
            </a:rPr>
            <a:t>OUTPUT MONITOR</a:t>
          </a:r>
        </a:p>
      </dsp:txBody>
      <dsp:txXfrm>
        <a:off x="3894499" y="1671860"/>
        <a:ext cx="1506079" cy="1505945"/>
      </dsp:txXfrm>
    </dsp:sp>
    <dsp:sp modelId="{67E10470-8429-4313-A979-E4661E041BF7}">
      <dsp:nvSpPr>
        <dsp:cNvPr id="0" name=""/>
        <dsp:cNvSpPr/>
      </dsp:nvSpPr>
      <dsp:spPr>
        <a:xfrm>
          <a:off x="2484478" y="175652"/>
          <a:ext cx="4292978" cy="4475006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142185" y="0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454474" y="14597"/>
          <a:ext cx="3631250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Constructs the parent using </a:t>
          </a:r>
          <a:r>
            <a:rPr lang="en-US" sz="1000" b="1" kern="1200" dirty="0" err="1"/>
            <a:t>super.new</a:t>
          </a:r>
          <a:r>
            <a:rPr lang="en-US" sz="1000" b="1" kern="1200" dirty="0"/>
            <a:t>();</a:t>
          </a:r>
        </a:p>
      </dsp:txBody>
      <dsp:txXfrm>
        <a:off x="6454474" y="14597"/>
        <a:ext cx="3631250" cy="1104519"/>
      </dsp:txXfrm>
    </dsp:sp>
    <dsp:sp modelId="{1E8D6046-8D12-4E78-8B15-F5764271BE66}">
      <dsp:nvSpPr>
        <dsp:cNvPr id="0" name=""/>
        <dsp:cNvSpPr/>
      </dsp:nvSpPr>
      <dsp:spPr>
        <a:xfrm>
          <a:off x="5985147" y="1062674"/>
          <a:ext cx="1141250" cy="114101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7267605" y="1082623"/>
          <a:ext cx="2316256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Translates the pin level items to transaction level ones.</a:t>
          </a:r>
        </a:p>
      </dsp:txBody>
      <dsp:txXfrm>
        <a:off x="7267605" y="1082623"/>
        <a:ext cx="2316256" cy="1104519"/>
      </dsp:txXfrm>
    </dsp:sp>
    <dsp:sp modelId="{0BCCA6CD-3F3E-46F1-BB55-245038E59F6D}">
      <dsp:nvSpPr>
        <dsp:cNvPr id="0" name=""/>
        <dsp:cNvSpPr/>
      </dsp:nvSpPr>
      <dsp:spPr>
        <a:xfrm>
          <a:off x="5980770" y="2625058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F2C99D-ECE4-4240-890C-783D33FD7E46}">
      <dsp:nvSpPr>
        <dsp:cNvPr id="0" name=""/>
        <dsp:cNvSpPr/>
      </dsp:nvSpPr>
      <dsp:spPr>
        <a:xfrm>
          <a:off x="7212524" y="2643547"/>
          <a:ext cx="2365739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Constantly monitors the </a:t>
          </a:r>
          <a:r>
            <a:rPr lang="en-US" sz="1000" b="1" kern="1200" dirty="0" err="1"/>
            <a:t>dut</a:t>
          </a:r>
          <a:r>
            <a:rPr lang="en-US" sz="1000" b="1" kern="1200" dirty="0"/>
            <a:t> to observe its behavior to driven stimulus</a:t>
          </a:r>
        </a:p>
      </dsp:txBody>
      <dsp:txXfrm>
        <a:off x="7212524" y="2643547"/>
        <a:ext cx="2365739" cy="1104519"/>
      </dsp:txXfrm>
    </dsp:sp>
    <dsp:sp modelId="{AA43BAE0-E96D-44A2-8408-45A5169CA0FD}">
      <dsp:nvSpPr>
        <dsp:cNvPr id="0" name=""/>
        <dsp:cNvSpPr/>
      </dsp:nvSpPr>
      <dsp:spPr>
        <a:xfrm>
          <a:off x="5142185" y="3724711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80FC6-A4D4-4351-968D-45AFF44C86F3}">
      <dsp:nvSpPr>
        <dsp:cNvPr id="0" name=""/>
        <dsp:cNvSpPr/>
      </dsp:nvSpPr>
      <dsp:spPr>
        <a:xfrm>
          <a:off x="6372123" y="3739098"/>
          <a:ext cx="2582032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Terminates the monitoring operation if a </a:t>
          </a:r>
          <a:r>
            <a:rPr lang="en-US" sz="1000" b="1" kern="1200" dirty="0" err="1"/>
            <a:t>rst</a:t>
          </a:r>
          <a:r>
            <a:rPr lang="en-US" sz="1000" b="1" kern="1200" dirty="0"/>
            <a:t> is detected by the </a:t>
          </a:r>
          <a:r>
            <a:rPr lang="en-US" sz="1000" b="1" kern="1200" dirty="0" err="1"/>
            <a:t>rst_agnt</a:t>
          </a:r>
          <a:endParaRPr lang="en-US" sz="1000" b="1" kern="1200" dirty="0"/>
        </a:p>
      </dsp:txBody>
      <dsp:txXfrm>
        <a:off x="6372123" y="3739098"/>
        <a:ext cx="2582032" cy="110451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582580" y="1359969"/>
          <a:ext cx="2129917" cy="2129727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</a:rPr>
            <a:t>SEQUENCER</a:t>
          </a:r>
        </a:p>
      </dsp:txBody>
      <dsp:txXfrm>
        <a:off x="3894499" y="1671860"/>
        <a:ext cx="1506079" cy="1505945"/>
      </dsp:txXfrm>
    </dsp:sp>
    <dsp:sp modelId="{67E10470-8429-4313-A979-E4661E041BF7}">
      <dsp:nvSpPr>
        <dsp:cNvPr id="0" name=""/>
        <dsp:cNvSpPr/>
      </dsp:nvSpPr>
      <dsp:spPr>
        <a:xfrm>
          <a:off x="2484478" y="175652"/>
          <a:ext cx="4292978" cy="4475006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142185" y="0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454474" y="14597"/>
          <a:ext cx="3631250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Constructs the parent using </a:t>
          </a:r>
          <a:r>
            <a:rPr lang="en-US" sz="1000" b="1" kern="1200" dirty="0" err="1"/>
            <a:t>super.new</a:t>
          </a:r>
          <a:r>
            <a:rPr lang="en-US" sz="1000" b="1" kern="1200" dirty="0"/>
            <a:t>();</a:t>
          </a:r>
        </a:p>
      </dsp:txBody>
      <dsp:txXfrm>
        <a:off x="6454474" y="14597"/>
        <a:ext cx="3631250" cy="1104519"/>
      </dsp:txXfrm>
    </dsp:sp>
    <dsp:sp modelId="{1E8D6046-8D12-4E78-8B15-F5764271BE66}">
      <dsp:nvSpPr>
        <dsp:cNvPr id="0" name=""/>
        <dsp:cNvSpPr/>
      </dsp:nvSpPr>
      <dsp:spPr>
        <a:xfrm>
          <a:off x="5985147" y="1062674"/>
          <a:ext cx="1141250" cy="114101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7267605" y="1082623"/>
          <a:ext cx="2316256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Transmits </a:t>
          </a:r>
          <a:r>
            <a:rPr lang="en-US" sz="1000" b="1" kern="1200" dirty="0" err="1"/>
            <a:t>sequence_items</a:t>
          </a:r>
          <a:r>
            <a:rPr lang="en-US" sz="1000" b="1" kern="1200" dirty="0"/>
            <a:t> from alu sequences to </a:t>
          </a:r>
          <a:r>
            <a:rPr lang="en-US" sz="1000" b="1" kern="1200" dirty="0" err="1"/>
            <a:t>alu_driver</a:t>
          </a:r>
          <a:endParaRPr lang="en-US" sz="1000" b="1" kern="1200" dirty="0"/>
        </a:p>
      </dsp:txBody>
      <dsp:txXfrm>
        <a:off x="7267605" y="1082623"/>
        <a:ext cx="2316256" cy="1104519"/>
      </dsp:txXfrm>
    </dsp:sp>
    <dsp:sp modelId="{0BCCA6CD-3F3E-46F1-BB55-245038E59F6D}">
      <dsp:nvSpPr>
        <dsp:cNvPr id="0" name=""/>
        <dsp:cNvSpPr/>
      </dsp:nvSpPr>
      <dsp:spPr>
        <a:xfrm>
          <a:off x="5980770" y="2625058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F2C99D-ECE4-4240-890C-783D33FD7E46}">
      <dsp:nvSpPr>
        <dsp:cNvPr id="0" name=""/>
        <dsp:cNvSpPr/>
      </dsp:nvSpPr>
      <dsp:spPr>
        <a:xfrm>
          <a:off x="7212524" y="2643547"/>
          <a:ext cx="2365739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Is connected to the </a:t>
          </a:r>
          <a:r>
            <a:rPr lang="en-US" sz="1000" b="1" kern="1200" dirty="0" err="1"/>
            <a:t>alu_driver</a:t>
          </a:r>
          <a:r>
            <a:rPr lang="en-US" sz="1000" b="1" kern="1200" dirty="0"/>
            <a:t> in the </a:t>
          </a:r>
          <a:r>
            <a:rPr lang="en-US" sz="1000" b="1" kern="1200" dirty="0" err="1"/>
            <a:t>alu_agent</a:t>
          </a:r>
          <a:r>
            <a:rPr lang="en-US" sz="1000" b="1" kern="1200" dirty="0"/>
            <a:t> using </a:t>
          </a:r>
          <a:r>
            <a:rPr lang="en-US" sz="1000" b="1" kern="1200" dirty="0" err="1"/>
            <a:t>seq_item_pull_export</a:t>
          </a:r>
          <a:endParaRPr lang="en-US" sz="1000" b="1" kern="1200" dirty="0"/>
        </a:p>
      </dsp:txBody>
      <dsp:txXfrm>
        <a:off x="7212524" y="2643547"/>
        <a:ext cx="2365739" cy="1104519"/>
      </dsp:txXfrm>
    </dsp:sp>
    <dsp:sp modelId="{AA43BAE0-E96D-44A2-8408-45A5169CA0FD}">
      <dsp:nvSpPr>
        <dsp:cNvPr id="0" name=""/>
        <dsp:cNvSpPr/>
      </dsp:nvSpPr>
      <dsp:spPr>
        <a:xfrm>
          <a:off x="5142185" y="3724711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80FC6-A4D4-4351-968D-45AFF44C86F3}">
      <dsp:nvSpPr>
        <dsp:cNvPr id="0" name=""/>
        <dsp:cNvSpPr/>
      </dsp:nvSpPr>
      <dsp:spPr>
        <a:xfrm>
          <a:off x="6372123" y="3739098"/>
          <a:ext cx="2582032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Calls </a:t>
          </a:r>
          <a:r>
            <a:rPr lang="en-US" sz="1000" b="1" kern="1200" dirty="0" err="1"/>
            <a:t>Stop_sequences</a:t>
          </a:r>
          <a:r>
            <a:rPr lang="en-US" sz="1000" b="1" kern="1200" dirty="0"/>
            <a:t>(); if a </a:t>
          </a:r>
          <a:r>
            <a:rPr lang="en-US" sz="1000" b="1" kern="1200" dirty="0" err="1"/>
            <a:t>rst</a:t>
          </a:r>
          <a:r>
            <a:rPr lang="en-US" sz="1000" b="1" kern="1200" dirty="0"/>
            <a:t> assertion is written by the </a:t>
          </a:r>
          <a:r>
            <a:rPr lang="en-US" sz="1000" b="1" kern="1200" dirty="0" err="1"/>
            <a:t>rst_agent</a:t>
          </a:r>
          <a:endParaRPr lang="en-US" sz="1000" b="1" kern="1200" dirty="0"/>
        </a:p>
      </dsp:txBody>
      <dsp:txXfrm>
        <a:off x="6372123" y="3739098"/>
        <a:ext cx="2582032" cy="11045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398399" y="1452678"/>
          <a:ext cx="2275113" cy="2274909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solidFill>
                <a:schemeClr val="bg1"/>
              </a:solidFill>
            </a:rPr>
            <a:t>RST AGENT</a:t>
          </a:r>
        </a:p>
      </dsp:txBody>
      <dsp:txXfrm>
        <a:off x="3731582" y="1785831"/>
        <a:ext cx="1608747" cy="1608603"/>
      </dsp:txXfrm>
    </dsp:sp>
    <dsp:sp modelId="{67E10470-8429-4313-A979-E4661E041BF7}">
      <dsp:nvSpPr>
        <dsp:cNvPr id="0" name=""/>
        <dsp:cNvSpPr/>
      </dsp:nvSpPr>
      <dsp:spPr>
        <a:xfrm>
          <a:off x="2225440" y="187626"/>
          <a:ext cx="4585628" cy="4780065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064322" y="0"/>
          <a:ext cx="1219049" cy="1218794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466069" y="15592"/>
          <a:ext cx="3878791" cy="1179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Constructs the parent using </a:t>
          </a:r>
          <a:r>
            <a:rPr lang="en-US" sz="1000" b="1" kern="1200" dirty="0" err="1"/>
            <a:t>super.new</a:t>
          </a:r>
          <a:r>
            <a:rPr lang="en-US" sz="1000" b="1" kern="1200" dirty="0"/>
            <a:t>();</a:t>
          </a:r>
        </a:p>
      </dsp:txBody>
      <dsp:txXfrm>
        <a:off x="6466069" y="15592"/>
        <a:ext cx="3878791" cy="1179813"/>
      </dsp:txXfrm>
    </dsp:sp>
    <dsp:sp modelId="{1E8D6046-8D12-4E78-8B15-F5764271BE66}">
      <dsp:nvSpPr>
        <dsp:cNvPr id="0" name=""/>
        <dsp:cNvSpPr/>
      </dsp:nvSpPr>
      <dsp:spPr>
        <a:xfrm>
          <a:off x="5964748" y="1135116"/>
          <a:ext cx="1219049" cy="121879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7334631" y="1156425"/>
          <a:ext cx="2474154" cy="1179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Receives Configuration from </a:t>
          </a:r>
          <a:r>
            <a:rPr lang="en-US" sz="1000" b="1" kern="1200" dirty="0" err="1"/>
            <a:t>rst_agnt</a:t>
          </a:r>
          <a:r>
            <a:rPr lang="en-US" sz="1000" b="1" kern="1200" dirty="0"/>
            <a:t> config file which is initialized by the environment</a:t>
          </a:r>
        </a:p>
      </dsp:txBody>
      <dsp:txXfrm>
        <a:off x="7334631" y="1156425"/>
        <a:ext cx="2474154" cy="1179813"/>
      </dsp:txXfrm>
    </dsp:sp>
    <dsp:sp modelId="{84026C8C-C04E-4584-8D4D-11D81B1A18FA}">
      <dsp:nvSpPr>
        <dsp:cNvPr id="0" name=""/>
        <dsp:cNvSpPr/>
      </dsp:nvSpPr>
      <dsp:spPr>
        <a:xfrm>
          <a:off x="5960072" y="2804007"/>
          <a:ext cx="1219049" cy="1218794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BC90FD-BD6A-4D29-AF4F-35CA8102A8D7}">
      <dsp:nvSpPr>
        <dsp:cNvPr id="0" name=""/>
        <dsp:cNvSpPr/>
      </dsp:nvSpPr>
      <dsp:spPr>
        <a:xfrm>
          <a:off x="7287641" y="2814790"/>
          <a:ext cx="2284516" cy="1179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 err="1"/>
            <a:t>Inestantiates</a:t>
          </a:r>
          <a:r>
            <a:rPr lang="en-US" sz="1000" b="1" kern="1200" dirty="0"/>
            <a:t> RST Monitor, Driver &amp; Sequencer </a:t>
          </a:r>
        </a:p>
      </dsp:txBody>
      <dsp:txXfrm>
        <a:off x="7287641" y="2814790"/>
        <a:ext cx="2284516" cy="1179813"/>
      </dsp:txXfrm>
    </dsp:sp>
    <dsp:sp modelId="{D1FE00CD-6A29-4BBF-B251-703377742265}">
      <dsp:nvSpPr>
        <dsp:cNvPr id="0" name=""/>
        <dsp:cNvSpPr/>
      </dsp:nvSpPr>
      <dsp:spPr>
        <a:xfrm>
          <a:off x="5064322" y="3978623"/>
          <a:ext cx="1219049" cy="1218794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7F8C09-F827-4AF3-81CC-5E095F20C058}">
      <dsp:nvSpPr>
        <dsp:cNvPr id="0" name=""/>
        <dsp:cNvSpPr/>
      </dsp:nvSpPr>
      <dsp:spPr>
        <a:xfrm>
          <a:off x="6376219" y="4003571"/>
          <a:ext cx="1631855" cy="1179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Drives &amp; Monitors the reset </a:t>
          </a:r>
          <a:r>
            <a:rPr lang="en-US" sz="1000" b="1" kern="1200" dirty="0">
              <a:sym typeface="Wingdings" panose="05000000000000000000" pitchFamily="2" charset="2"/>
            </a:rPr>
            <a:t></a:t>
          </a:r>
          <a:endParaRPr lang="en-US" sz="1000" b="1" kern="1200" dirty="0"/>
        </a:p>
      </dsp:txBody>
      <dsp:txXfrm>
        <a:off x="6376219" y="4003571"/>
        <a:ext cx="1631855" cy="117981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594951" y="1359969"/>
          <a:ext cx="2129917" cy="2129727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chemeClr val="bg1"/>
              </a:solidFill>
            </a:rPr>
            <a:t>DRIVER</a:t>
          </a:r>
        </a:p>
      </dsp:txBody>
      <dsp:txXfrm>
        <a:off x="3906870" y="1671860"/>
        <a:ext cx="1506079" cy="1505945"/>
      </dsp:txXfrm>
    </dsp:sp>
    <dsp:sp modelId="{67E10470-8429-4313-A979-E4661E041BF7}">
      <dsp:nvSpPr>
        <dsp:cNvPr id="0" name=""/>
        <dsp:cNvSpPr/>
      </dsp:nvSpPr>
      <dsp:spPr>
        <a:xfrm>
          <a:off x="2496849" y="175652"/>
          <a:ext cx="4292978" cy="4475006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154556" y="0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466845" y="14597"/>
          <a:ext cx="3631250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Constructs the parent using </a:t>
          </a:r>
          <a:r>
            <a:rPr lang="en-US" sz="1000" b="1" kern="1200" dirty="0" err="1"/>
            <a:t>super.new</a:t>
          </a:r>
          <a:r>
            <a:rPr lang="en-US" sz="1000" b="1" kern="1200" dirty="0"/>
            <a:t>();</a:t>
          </a:r>
        </a:p>
      </dsp:txBody>
      <dsp:txXfrm>
        <a:off x="6466845" y="14597"/>
        <a:ext cx="3631250" cy="1104519"/>
      </dsp:txXfrm>
    </dsp:sp>
    <dsp:sp modelId="{1E8D6046-8D12-4E78-8B15-F5764271BE66}">
      <dsp:nvSpPr>
        <dsp:cNvPr id="0" name=""/>
        <dsp:cNvSpPr/>
      </dsp:nvSpPr>
      <dsp:spPr>
        <a:xfrm>
          <a:off x="5997518" y="1062674"/>
          <a:ext cx="1141250" cy="114101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7279976" y="1082623"/>
          <a:ext cx="2316256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Translates the transaction level items to pin level ones.</a:t>
          </a:r>
        </a:p>
      </dsp:txBody>
      <dsp:txXfrm>
        <a:off x="7279976" y="1082623"/>
        <a:ext cx="2316256" cy="1104519"/>
      </dsp:txXfrm>
    </dsp:sp>
    <dsp:sp modelId="{0BCCA6CD-3F3E-46F1-BB55-245038E59F6D}">
      <dsp:nvSpPr>
        <dsp:cNvPr id="0" name=""/>
        <dsp:cNvSpPr/>
      </dsp:nvSpPr>
      <dsp:spPr>
        <a:xfrm>
          <a:off x="5993141" y="2625058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F2C99D-ECE4-4240-890C-783D33FD7E46}">
      <dsp:nvSpPr>
        <dsp:cNvPr id="0" name=""/>
        <dsp:cNvSpPr/>
      </dsp:nvSpPr>
      <dsp:spPr>
        <a:xfrm>
          <a:off x="7222565" y="2643547"/>
          <a:ext cx="1527712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Receives the transactions from the sequences through </a:t>
          </a:r>
          <a:r>
            <a:rPr lang="en-US" sz="1000" b="1" kern="1200" dirty="0" err="1"/>
            <a:t>seq_item_pull_port</a:t>
          </a:r>
          <a:r>
            <a:rPr lang="en-US" sz="1000" b="1" kern="1200" dirty="0"/>
            <a:t> by the RST sequencer</a:t>
          </a:r>
        </a:p>
      </dsp:txBody>
      <dsp:txXfrm>
        <a:off x="7222565" y="2643547"/>
        <a:ext cx="1527712" cy="1104519"/>
      </dsp:txXfrm>
    </dsp:sp>
    <dsp:sp modelId="{AA43BAE0-E96D-44A2-8408-45A5169CA0FD}">
      <dsp:nvSpPr>
        <dsp:cNvPr id="0" name=""/>
        <dsp:cNvSpPr/>
      </dsp:nvSpPr>
      <dsp:spPr>
        <a:xfrm>
          <a:off x="5154556" y="3724711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80FC6-A4D4-4351-968D-45AFF44C86F3}">
      <dsp:nvSpPr>
        <dsp:cNvPr id="0" name=""/>
        <dsp:cNvSpPr/>
      </dsp:nvSpPr>
      <dsp:spPr>
        <a:xfrm>
          <a:off x="6382729" y="3748067"/>
          <a:ext cx="1527712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Sends the RST ASSERTION to the </a:t>
          </a:r>
          <a:r>
            <a:rPr lang="en-US" sz="1000" b="1" kern="1200"/>
            <a:t>dut</a:t>
          </a:r>
          <a:endParaRPr lang="en-US" sz="1000" b="1" kern="1200" dirty="0"/>
        </a:p>
      </dsp:txBody>
      <dsp:txXfrm>
        <a:off x="6382729" y="3748067"/>
        <a:ext cx="1527712" cy="110451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582580" y="1359969"/>
          <a:ext cx="2129917" cy="2129727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chemeClr val="bg1"/>
              </a:solidFill>
            </a:rPr>
            <a:t>RST AGENT</a:t>
          </a:r>
        </a:p>
      </dsp:txBody>
      <dsp:txXfrm>
        <a:off x="3894499" y="1671860"/>
        <a:ext cx="1506079" cy="1505945"/>
      </dsp:txXfrm>
    </dsp:sp>
    <dsp:sp modelId="{67E10470-8429-4313-A979-E4661E041BF7}">
      <dsp:nvSpPr>
        <dsp:cNvPr id="0" name=""/>
        <dsp:cNvSpPr/>
      </dsp:nvSpPr>
      <dsp:spPr>
        <a:xfrm>
          <a:off x="2484478" y="175652"/>
          <a:ext cx="4292978" cy="4475006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5142185" y="0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6454474" y="14597"/>
          <a:ext cx="3631250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Constructs the parent using </a:t>
          </a:r>
          <a:r>
            <a:rPr lang="en-US" sz="1000" b="1" kern="1200" dirty="0" err="1"/>
            <a:t>super.new</a:t>
          </a:r>
          <a:r>
            <a:rPr lang="en-US" sz="1000" b="1" kern="1200" dirty="0"/>
            <a:t>();</a:t>
          </a:r>
        </a:p>
      </dsp:txBody>
      <dsp:txXfrm>
        <a:off x="6454474" y="14597"/>
        <a:ext cx="3631250" cy="1104519"/>
      </dsp:txXfrm>
    </dsp:sp>
    <dsp:sp modelId="{1E8D6046-8D12-4E78-8B15-F5764271BE66}">
      <dsp:nvSpPr>
        <dsp:cNvPr id="0" name=""/>
        <dsp:cNvSpPr/>
      </dsp:nvSpPr>
      <dsp:spPr>
        <a:xfrm>
          <a:off x="5985147" y="1062674"/>
          <a:ext cx="1141250" cy="114101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7267605" y="1082623"/>
          <a:ext cx="2316256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Transmits </a:t>
          </a:r>
          <a:r>
            <a:rPr lang="en-US" sz="1000" b="1" kern="1200" dirty="0" err="1"/>
            <a:t>sequence_items</a:t>
          </a:r>
          <a:r>
            <a:rPr lang="en-US" sz="1000" b="1" kern="1200" dirty="0"/>
            <a:t> from alu sequences to </a:t>
          </a:r>
          <a:r>
            <a:rPr lang="en-US" sz="1000" b="1" kern="1200" dirty="0" err="1"/>
            <a:t>alu_driver</a:t>
          </a:r>
          <a:endParaRPr lang="en-US" sz="1000" b="1" kern="1200" dirty="0"/>
        </a:p>
      </dsp:txBody>
      <dsp:txXfrm>
        <a:off x="7267605" y="1082623"/>
        <a:ext cx="2316256" cy="1104519"/>
      </dsp:txXfrm>
    </dsp:sp>
    <dsp:sp modelId="{0BCCA6CD-3F3E-46F1-BB55-245038E59F6D}">
      <dsp:nvSpPr>
        <dsp:cNvPr id="0" name=""/>
        <dsp:cNvSpPr/>
      </dsp:nvSpPr>
      <dsp:spPr>
        <a:xfrm>
          <a:off x="5980770" y="2625058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F2C99D-ECE4-4240-890C-783D33FD7E46}">
      <dsp:nvSpPr>
        <dsp:cNvPr id="0" name=""/>
        <dsp:cNvSpPr/>
      </dsp:nvSpPr>
      <dsp:spPr>
        <a:xfrm>
          <a:off x="7212524" y="2643547"/>
          <a:ext cx="2365739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Is connected to the </a:t>
          </a:r>
          <a:r>
            <a:rPr lang="en-US" sz="1000" b="1" kern="1200" dirty="0" err="1"/>
            <a:t>alu_driver</a:t>
          </a:r>
          <a:r>
            <a:rPr lang="en-US" sz="1000" b="1" kern="1200" dirty="0"/>
            <a:t> in the </a:t>
          </a:r>
          <a:r>
            <a:rPr lang="en-US" sz="1000" b="1" kern="1200" dirty="0" err="1"/>
            <a:t>alu_agent</a:t>
          </a:r>
          <a:r>
            <a:rPr lang="en-US" sz="1000" b="1" kern="1200" dirty="0"/>
            <a:t> using </a:t>
          </a:r>
          <a:r>
            <a:rPr lang="en-US" sz="1000" b="1" kern="1200" dirty="0" err="1"/>
            <a:t>seq_item_pull_export</a:t>
          </a:r>
          <a:endParaRPr lang="en-US" sz="1000" b="1" kern="1200" dirty="0"/>
        </a:p>
      </dsp:txBody>
      <dsp:txXfrm>
        <a:off x="7212524" y="2643547"/>
        <a:ext cx="2365739" cy="1104519"/>
      </dsp:txXfrm>
    </dsp:sp>
    <dsp:sp modelId="{AA43BAE0-E96D-44A2-8408-45A5169CA0FD}">
      <dsp:nvSpPr>
        <dsp:cNvPr id="0" name=""/>
        <dsp:cNvSpPr/>
      </dsp:nvSpPr>
      <dsp:spPr>
        <a:xfrm>
          <a:off x="5142185" y="3724711"/>
          <a:ext cx="1141250" cy="114101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80FC6-A4D4-4351-968D-45AFF44C86F3}">
      <dsp:nvSpPr>
        <dsp:cNvPr id="0" name=""/>
        <dsp:cNvSpPr/>
      </dsp:nvSpPr>
      <dsp:spPr>
        <a:xfrm>
          <a:off x="6372123" y="3739098"/>
          <a:ext cx="2582032" cy="1104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b="1" kern="1200" dirty="0"/>
            <a:t>Calls </a:t>
          </a:r>
          <a:r>
            <a:rPr lang="en-US" sz="1000" b="1" kern="1200" dirty="0" err="1"/>
            <a:t>Stop_sequences</a:t>
          </a:r>
          <a:r>
            <a:rPr lang="en-US" sz="1000" b="1" kern="1200" dirty="0"/>
            <a:t>(); if a </a:t>
          </a:r>
          <a:r>
            <a:rPr lang="en-US" sz="1000" b="1" kern="1200" dirty="0" err="1"/>
            <a:t>rst</a:t>
          </a:r>
          <a:r>
            <a:rPr lang="en-US" sz="1000" b="1" kern="1200" dirty="0"/>
            <a:t> assertion is written by the </a:t>
          </a:r>
          <a:r>
            <a:rPr lang="en-US" sz="1000" b="1" kern="1200" dirty="0" err="1"/>
            <a:t>rst_agent</a:t>
          </a:r>
          <a:endParaRPr lang="en-US" sz="1000" b="1" kern="1200" dirty="0"/>
        </a:p>
      </dsp:txBody>
      <dsp:txXfrm>
        <a:off x="6372123" y="3739098"/>
        <a:ext cx="2582032" cy="110451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032296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schemeClr val="bg1"/>
              </a:solidFill>
            </a:rPr>
            <a:t>inputMonitor_Base</a:t>
          </a:r>
          <a:endParaRPr lang="en-US" sz="900" kern="1200" dirty="0">
            <a:solidFill>
              <a:schemeClr val="bg1"/>
            </a:solidFill>
          </a:endParaRPr>
        </a:p>
      </dsp:txBody>
      <dsp:txXfrm>
        <a:off x="3236675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2312632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552621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5361787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/>
            <a:t>Defines the mailboxes &amp; Virtual Interface necessary for communication.</a:t>
          </a:r>
        </a:p>
      </dsp:txBody>
      <dsp:txXfrm>
        <a:off x="5361787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4552621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5361787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/>
            <a:t>Pre-defines pure virtual execute task</a:t>
          </a:r>
        </a:p>
      </dsp:txBody>
      <dsp:txXfrm>
        <a:off x="5361787" y="1658955"/>
        <a:ext cx="1000725" cy="72375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606924" y="819653"/>
          <a:ext cx="1283701" cy="1283586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inputMonitor</a:t>
          </a:r>
          <a:endParaRPr lang="en-US" sz="1200" kern="1200" dirty="0"/>
        </a:p>
      </dsp:txBody>
      <dsp:txXfrm>
        <a:off x="2794918" y="1007630"/>
        <a:ext cx="907713" cy="907632"/>
      </dsp:txXfrm>
    </dsp:sp>
    <dsp:sp modelId="{67E10470-8429-4313-A979-E4661E041BF7}">
      <dsp:nvSpPr>
        <dsp:cNvPr id="0" name=""/>
        <dsp:cNvSpPr/>
      </dsp:nvSpPr>
      <dsp:spPr>
        <a:xfrm>
          <a:off x="1945098" y="105865"/>
          <a:ext cx="2587377" cy="2697085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3546898" y="0"/>
          <a:ext cx="687831" cy="687687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295483" y="8797"/>
          <a:ext cx="1943974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4295483" y="8797"/>
        <a:ext cx="1943974" cy="665693"/>
      </dsp:txXfrm>
    </dsp:sp>
    <dsp:sp modelId="{1E8D6046-8D12-4E78-8B15-F5764271BE66}">
      <dsp:nvSpPr>
        <dsp:cNvPr id="0" name=""/>
        <dsp:cNvSpPr/>
      </dsp:nvSpPr>
      <dsp:spPr>
        <a:xfrm>
          <a:off x="4054951" y="640473"/>
          <a:ext cx="687831" cy="687687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791049" y="627826"/>
          <a:ext cx="2277940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Sends the sampled inputs</a:t>
          </a:r>
        </a:p>
      </dsp:txBody>
      <dsp:txXfrm>
        <a:off x="4791049" y="627826"/>
        <a:ext cx="2277940" cy="665693"/>
      </dsp:txXfrm>
    </dsp:sp>
    <dsp:sp modelId="{D6F6FC17-20B3-46E6-82FF-46C37F4B4423}">
      <dsp:nvSpPr>
        <dsp:cNvPr id="0" name=""/>
        <dsp:cNvSpPr/>
      </dsp:nvSpPr>
      <dsp:spPr>
        <a:xfrm>
          <a:off x="4052313" y="1582122"/>
          <a:ext cx="687831" cy="687687"/>
        </a:xfrm>
        <a:prstGeom prst="ellipse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2DE6D73-3DC4-479B-B104-D4D5B94D7688}">
      <dsp:nvSpPr>
        <dsp:cNvPr id="0" name=""/>
        <dsp:cNvSpPr/>
      </dsp:nvSpPr>
      <dsp:spPr>
        <a:xfrm>
          <a:off x="4843776" y="1593265"/>
          <a:ext cx="2952769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Translates the sampled inputs from pin level to transaction  level</a:t>
          </a:r>
        </a:p>
      </dsp:txBody>
      <dsp:txXfrm>
        <a:off x="4843776" y="1593265"/>
        <a:ext cx="2952769" cy="665693"/>
      </dsp:txXfrm>
    </dsp:sp>
    <dsp:sp modelId="{FEE30AA5-757E-4947-926F-05DF8704EBF3}">
      <dsp:nvSpPr>
        <dsp:cNvPr id="0" name=""/>
        <dsp:cNvSpPr/>
      </dsp:nvSpPr>
      <dsp:spPr>
        <a:xfrm>
          <a:off x="3546898" y="2244883"/>
          <a:ext cx="687831" cy="687687"/>
        </a:xfrm>
        <a:prstGeom prst="ellipse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18E4002-8B38-4C7B-8383-F90062B4F9F7}">
      <dsp:nvSpPr>
        <dsp:cNvPr id="0" name=""/>
        <dsp:cNvSpPr/>
      </dsp:nvSpPr>
      <dsp:spPr>
        <a:xfrm>
          <a:off x="4340273" y="2258959"/>
          <a:ext cx="2930091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Sends the sampled transaction level item to the Scoreboard/Predictor</a:t>
          </a:r>
        </a:p>
      </dsp:txBody>
      <dsp:txXfrm>
        <a:off x="4340273" y="2258959"/>
        <a:ext cx="2930091" cy="66569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809269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>
              <a:solidFill>
                <a:schemeClr val="bg1"/>
              </a:solidFill>
            </a:rPr>
            <a:t>Coverage_Base</a:t>
          </a:r>
          <a:endParaRPr lang="en-US" sz="1100" kern="1200" dirty="0">
            <a:solidFill>
              <a:schemeClr val="bg1"/>
            </a:solidFill>
          </a:endParaRPr>
        </a:p>
      </dsp:txBody>
      <dsp:txXfrm>
        <a:off x="3013648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2089606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329594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5123700" y="449426"/>
          <a:ext cx="1892832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Defines the mailboxes &amp; Virtual Interface necessary for communication by the entire test structure</a:t>
          </a:r>
        </a:p>
      </dsp:txBody>
      <dsp:txXfrm>
        <a:off x="5123700" y="449426"/>
        <a:ext cx="1892832" cy="723758"/>
      </dsp:txXfrm>
    </dsp:sp>
    <dsp:sp modelId="{1E8D6046-8D12-4E78-8B15-F5764271BE66}">
      <dsp:nvSpPr>
        <dsp:cNvPr id="0" name=""/>
        <dsp:cNvSpPr/>
      </dsp:nvSpPr>
      <dsp:spPr>
        <a:xfrm>
          <a:off x="4329594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5113427" y="1681153"/>
          <a:ext cx="1695138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Pre-defines pure virtual execute task</a:t>
          </a:r>
        </a:p>
      </dsp:txBody>
      <dsp:txXfrm>
        <a:off x="5113427" y="1681153"/>
        <a:ext cx="1695138" cy="72375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663529" y="775958"/>
          <a:ext cx="1395588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Coverage</a:t>
          </a:r>
        </a:p>
      </dsp:txBody>
      <dsp:txXfrm>
        <a:off x="2867908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1943865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183854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993020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200" kern="1200" dirty="0"/>
            <a:t>Constructs </a:t>
          </a:r>
          <a:r>
            <a:rPr lang="en-US" sz="1000" kern="1200" dirty="0"/>
            <a:t>the</a:t>
          </a:r>
          <a:r>
            <a:rPr lang="en-US" sz="1200" kern="1200" dirty="0"/>
            <a:t> parent using </a:t>
          </a:r>
          <a:r>
            <a:rPr lang="en-US" sz="1200" kern="1200" dirty="0" err="1"/>
            <a:t>super.new</a:t>
          </a:r>
          <a:r>
            <a:rPr lang="en-US" sz="1200" kern="1200" dirty="0"/>
            <a:t>();</a:t>
          </a:r>
        </a:p>
      </dsp:txBody>
      <dsp:txXfrm>
        <a:off x="4993020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4183854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990588" y="1632132"/>
          <a:ext cx="2475794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Receives the input stimulus and sampled outputs from the input/</a:t>
          </a:r>
          <a:r>
            <a:rPr lang="en-US" sz="1000" kern="1200" dirty="0" err="1"/>
            <a:t>outputMonitor</a:t>
          </a:r>
          <a:r>
            <a:rPr lang="en-US" sz="1000" kern="1200" dirty="0"/>
            <a:t> and samples them through the coverage groups accordingly.</a:t>
          </a:r>
        </a:p>
      </dsp:txBody>
      <dsp:txXfrm>
        <a:off x="4990588" y="1632132"/>
        <a:ext cx="2475794" cy="72375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905176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schemeClr val="bg1"/>
              </a:solidFill>
            </a:rPr>
            <a:t>Scoreboard_Base</a:t>
          </a:r>
          <a:endParaRPr lang="en-US" sz="900" kern="1200" dirty="0">
            <a:solidFill>
              <a:schemeClr val="bg1"/>
            </a:solidFill>
          </a:endParaRPr>
        </a:p>
      </dsp:txBody>
      <dsp:txXfrm>
        <a:off x="3109555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2185513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425502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5277804" y="485281"/>
          <a:ext cx="1509204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Defines the mailboxes &amp; Virtual Interface necessary for communication between the predictor &amp; comparator.</a:t>
          </a:r>
        </a:p>
      </dsp:txBody>
      <dsp:txXfrm>
        <a:off x="5277804" y="485281"/>
        <a:ext cx="1509204" cy="723758"/>
      </dsp:txXfrm>
    </dsp:sp>
    <dsp:sp modelId="{1E8D6046-8D12-4E78-8B15-F5764271BE66}">
      <dsp:nvSpPr>
        <dsp:cNvPr id="0" name=""/>
        <dsp:cNvSpPr/>
      </dsp:nvSpPr>
      <dsp:spPr>
        <a:xfrm>
          <a:off x="4425502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5234668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Pre-defines pure virtual execute task</a:t>
          </a:r>
        </a:p>
      </dsp:txBody>
      <dsp:txXfrm>
        <a:off x="5234668" y="1658955"/>
        <a:ext cx="1000725" cy="72375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603715" y="775958"/>
          <a:ext cx="1395541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Scoreboard</a:t>
          </a:r>
        </a:p>
      </dsp:txBody>
      <dsp:txXfrm>
        <a:off x="2808087" y="980340"/>
        <a:ext cx="986797" cy="986846"/>
      </dsp:txXfrm>
    </dsp:sp>
    <dsp:sp modelId="{67E10470-8429-4313-A979-E4661E041BF7}">
      <dsp:nvSpPr>
        <dsp:cNvPr id="0" name=""/>
        <dsp:cNvSpPr/>
      </dsp:nvSpPr>
      <dsp:spPr>
        <a:xfrm>
          <a:off x="1884055" y="0"/>
          <a:ext cx="2813181" cy="2932570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3955477" y="247215"/>
          <a:ext cx="747596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759779" y="259239"/>
          <a:ext cx="1000687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4759779" y="259239"/>
        <a:ext cx="1000687" cy="723758"/>
      </dsp:txXfrm>
    </dsp:sp>
    <dsp:sp modelId="{1E8D6046-8D12-4E78-8B15-F5764271BE66}">
      <dsp:nvSpPr>
        <dsp:cNvPr id="0" name=""/>
        <dsp:cNvSpPr/>
      </dsp:nvSpPr>
      <dsp:spPr>
        <a:xfrm>
          <a:off x="4244425" y="1097954"/>
          <a:ext cx="747596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5050465" y="1178191"/>
          <a:ext cx="2475699" cy="530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Receives the input stimulus &amp; the outputs of the DUT from both the </a:t>
          </a:r>
          <a:r>
            <a:rPr lang="en-US" sz="1000" kern="1200" dirty="0" err="1"/>
            <a:t>InputMonitor</a:t>
          </a:r>
          <a:r>
            <a:rPr lang="en-US" sz="1000" kern="1200" dirty="0"/>
            <a:t> &amp; the </a:t>
          </a:r>
          <a:r>
            <a:rPr lang="en-US" sz="1000" kern="1200" dirty="0" err="1"/>
            <a:t>OutputMonitor</a:t>
          </a:r>
          <a:r>
            <a:rPr lang="en-US" sz="1000" kern="1200" dirty="0"/>
            <a:t>.</a:t>
          </a:r>
        </a:p>
      </dsp:txBody>
      <dsp:txXfrm>
        <a:off x="5050465" y="1178191"/>
        <a:ext cx="2475699" cy="530753"/>
      </dsp:txXfrm>
    </dsp:sp>
    <dsp:sp modelId="{D1551EC0-5BDC-4B87-A33B-E6DE7DD35E43}">
      <dsp:nvSpPr>
        <dsp:cNvPr id="0" name=""/>
        <dsp:cNvSpPr/>
      </dsp:nvSpPr>
      <dsp:spPr>
        <a:xfrm>
          <a:off x="3955477" y="1960716"/>
          <a:ext cx="747596" cy="747805"/>
        </a:xfrm>
        <a:prstGeom prst="ellipse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BA0318B-346C-405E-AE06-092BC9562861}">
      <dsp:nvSpPr>
        <dsp:cNvPr id="0" name=""/>
        <dsp:cNvSpPr/>
      </dsp:nvSpPr>
      <dsp:spPr>
        <a:xfrm>
          <a:off x="4759779" y="1975966"/>
          <a:ext cx="1000687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Is the bridge of communication between the predictor &amp; comparator</a:t>
          </a:r>
        </a:p>
      </dsp:txBody>
      <dsp:txXfrm>
        <a:off x="4759779" y="1975966"/>
        <a:ext cx="1000687" cy="72375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032296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>
              <a:solidFill>
                <a:schemeClr val="bg1"/>
              </a:solidFill>
            </a:rPr>
            <a:t>Predictor_Base</a:t>
          </a:r>
          <a:endParaRPr lang="en-US" sz="1100" kern="1200" dirty="0">
            <a:solidFill>
              <a:schemeClr val="bg1"/>
            </a:solidFill>
          </a:endParaRPr>
        </a:p>
      </dsp:txBody>
      <dsp:txXfrm>
        <a:off x="3236675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2312632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552621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5361787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Defines the mailboxes &amp; Virtual Interface necessary for communication.</a:t>
          </a:r>
        </a:p>
      </dsp:txBody>
      <dsp:txXfrm>
        <a:off x="5361787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4552621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5361787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Pre-defines pure virtual execute task</a:t>
          </a:r>
        </a:p>
      </dsp:txBody>
      <dsp:txXfrm>
        <a:off x="5361787" y="1658955"/>
        <a:ext cx="1000725" cy="72375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663529" y="775958"/>
          <a:ext cx="1395588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Predictor</a:t>
          </a:r>
        </a:p>
      </dsp:txBody>
      <dsp:txXfrm>
        <a:off x="2867908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1943865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183854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993020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4993020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4183854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990588" y="1632132"/>
          <a:ext cx="2475794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Receives sampled input items from the scoreboard/</a:t>
          </a:r>
          <a:r>
            <a:rPr lang="en-US" sz="1000" kern="1200" dirty="0" err="1"/>
            <a:t>inputMonitor</a:t>
          </a:r>
          <a:r>
            <a:rPr lang="en-US" sz="1000" kern="1200" dirty="0"/>
            <a:t> and calculates the supposed expected output and sends it to the comparator through the scoreboard.</a:t>
          </a:r>
        </a:p>
      </dsp:txBody>
      <dsp:txXfrm>
        <a:off x="4990588" y="1632132"/>
        <a:ext cx="2475794" cy="723758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032296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schemeClr val="bg1"/>
              </a:solidFill>
            </a:rPr>
            <a:t>Comparator_Base</a:t>
          </a:r>
          <a:endParaRPr lang="en-US" sz="900" kern="1200" dirty="0">
            <a:solidFill>
              <a:schemeClr val="bg1"/>
            </a:solidFill>
          </a:endParaRPr>
        </a:p>
      </dsp:txBody>
      <dsp:txXfrm>
        <a:off x="3236675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2312632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552621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5361787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/>
            <a:t>Defines the mailboxes &amp; Virtual Interface necessary for communication.</a:t>
          </a:r>
        </a:p>
      </dsp:txBody>
      <dsp:txXfrm>
        <a:off x="5361787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4552621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5361787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/>
            <a:t>Pre-defines pure virtual execute task</a:t>
          </a:r>
        </a:p>
      </dsp:txBody>
      <dsp:txXfrm>
        <a:off x="5361787" y="1658955"/>
        <a:ext cx="1000725" cy="723758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663529" y="775958"/>
          <a:ext cx="1395588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Comparator</a:t>
          </a:r>
        </a:p>
      </dsp:txBody>
      <dsp:txXfrm>
        <a:off x="2867908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1943865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183854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993020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200" kern="1200" dirty="0"/>
            <a:t>Constructs </a:t>
          </a:r>
          <a:r>
            <a:rPr lang="en-US" sz="1000" kern="1200" dirty="0"/>
            <a:t>the</a:t>
          </a:r>
          <a:r>
            <a:rPr lang="en-US" sz="1200" kern="1200" dirty="0"/>
            <a:t> parent using </a:t>
          </a:r>
          <a:r>
            <a:rPr lang="en-US" sz="1200" kern="1200" dirty="0" err="1"/>
            <a:t>super.new</a:t>
          </a:r>
          <a:r>
            <a:rPr lang="en-US" sz="1200" kern="1200" dirty="0"/>
            <a:t>();</a:t>
          </a:r>
        </a:p>
      </dsp:txBody>
      <dsp:txXfrm>
        <a:off x="4993020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4183854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990588" y="1632132"/>
          <a:ext cx="2475794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Receives sampled output items from the scoreboard/</a:t>
          </a:r>
          <a:r>
            <a:rPr lang="en-US" sz="1000" kern="1200" dirty="0" err="1"/>
            <a:t>outpuMonitor</a:t>
          </a:r>
          <a:r>
            <a:rPr lang="en-US" sz="1000" kern="1200" dirty="0"/>
            <a:t> and compares it to the previously sampled input items</a:t>
          </a:r>
        </a:p>
      </dsp:txBody>
      <dsp:txXfrm>
        <a:off x="4990588" y="1632132"/>
        <a:ext cx="2475794" cy="723758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1967890" y="775958"/>
          <a:ext cx="1395541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schemeClr val="bg1"/>
              </a:solidFill>
            </a:rPr>
            <a:t>Transaction_Base</a:t>
          </a:r>
          <a:endParaRPr lang="en-US" sz="900" kern="1200" dirty="0">
            <a:solidFill>
              <a:schemeClr val="bg1"/>
            </a:solidFill>
          </a:endParaRPr>
        </a:p>
      </dsp:txBody>
      <dsp:txXfrm>
        <a:off x="2172262" y="980340"/>
        <a:ext cx="986797" cy="986846"/>
      </dsp:txXfrm>
    </dsp:sp>
    <dsp:sp modelId="{67E10470-8429-4313-A979-E4661E041BF7}">
      <dsp:nvSpPr>
        <dsp:cNvPr id="0" name=""/>
        <dsp:cNvSpPr/>
      </dsp:nvSpPr>
      <dsp:spPr>
        <a:xfrm>
          <a:off x="1248229" y="0"/>
          <a:ext cx="2813181" cy="2932570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3319651" y="247215"/>
          <a:ext cx="747596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123953" y="259239"/>
          <a:ext cx="1000687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/>
            <a:t>Rand properties of the ALU, the inputs defined as rand.</a:t>
          </a:r>
        </a:p>
      </dsp:txBody>
      <dsp:txXfrm>
        <a:off x="4123953" y="259239"/>
        <a:ext cx="1000687" cy="723758"/>
      </dsp:txXfrm>
    </dsp:sp>
    <dsp:sp modelId="{1E8D6046-8D12-4E78-8B15-F5764271BE66}">
      <dsp:nvSpPr>
        <dsp:cNvPr id="0" name=""/>
        <dsp:cNvSpPr/>
      </dsp:nvSpPr>
      <dsp:spPr>
        <a:xfrm>
          <a:off x="3608599" y="1097954"/>
          <a:ext cx="747596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417071" y="1108511"/>
          <a:ext cx="1000687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/>
            <a:t>Void </a:t>
          </a:r>
          <a:r>
            <a:rPr lang="en-US" sz="900" kern="1200" dirty="0" err="1"/>
            <a:t>Do_copy</a:t>
          </a:r>
          <a:r>
            <a:rPr lang="en-US" sz="900" kern="1200" dirty="0"/>
            <a:t>(); functions that copies all the fields and assigns it to another item</a:t>
          </a:r>
        </a:p>
      </dsp:txBody>
      <dsp:txXfrm>
        <a:off x="4417071" y="1108511"/>
        <a:ext cx="1000687" cy="723758"/>
      </dsp:txXfrm>
    </dsp:sp>
    <dsp:sp modelId="{505ABB21-91CF-43FB-B8BE-622A99AC091A}">
      <dsp:nvSpPr>
        <dsp:cNvPr id="0" name=""/>
        <dsp:cNvSpPr/>
      </dsp:nvSpPr>
      <dsp:spPr>
        <a:xfrm>
          <a:off x="3319651" y="1960716"/>
          <a:ext cx="747596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1361A-2996-47AA-A1E0-91A736A9CE13}">
      <dsp:nvSpPr>
        <dsp:cNvPr id="0" name=""/>
        <dsp:cNvSpPr/>
      </dsp:nvSpPr>
      <dsp:spPr>
        <a:xfrm>
          <a:off x="4123953" y="1975966"/>
          <a:ext cx="1000687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/>
            <a:t>String functions for better debugging i.e. input2string, output2string, item2string</a:t>
          </a:r>
        </a:p>
      </dsp:txBody>
      <dsp:txXfrm>
        <a:off x="4123953" y="1975966"/>
        <a:ext cx="1000687" cy="723758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027717" y="775958"/>
          <a:ext cx="1395588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Transaction</a:t>
          </a:r>
          <a:endParaRPr lang="en-US" sz="1400" kern="1200" dirty="0"/>
        </a:p>
      </dsp:txBody>
      <dsp:txXfrm>
        <a:off x="2232096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1308053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3548042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357208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4357208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3548042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357208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Defining the needed constraints &amp; transaction item number</a:t>
          </a:r>
        </a:p>
      </dsp:txBody>
      <dsp:txXfrm>
        <a:off x="4357208" y="1658955"/>
        <a:ext cx="1000725" cy="723758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027717" y="775958"/>
          <a:ext cx="1395588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Transactionx</a:t>
          </a:r>
          <a:endParaRPr lang="en-US" sz="1300" kern="1200" dirty="0"/>
        </a:p>
      </dsp:txBody>
      <dsp:txXfrm>
        <a:off x="2232096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1308053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3548042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357208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4357208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3548042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357208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Defining different constraints &amp; transaction item number</a:t>
          </a:r>
        </a:p>
      </dsp:txBody>
      <dsp:txXfrm>
        <a:off x="4357208" y="1658955"/>
        <a:ext cx="1000725" cy="723758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1140023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>
              <a:solidFill>
                <a:schemeClr val="bg1"/>
              </a:solidFill>
            </a:rPr>
            <a:t>Reset_Generator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1344402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429319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669308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474867" y="458581"/>
          <a:ext cx="1196797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Generates a Reset Transaction</a:t>
          </a:r>
        </a:p>
      </dsp:txBody>
      <dsp:txXfrm>
        <a:off x="3474867" y="458581"/>
        <a:ext cx="1196797" cy="723758"/>
      </dsp:txXfrm>
    </dsp:sp>
    <dsp:sp modelId="{1E8D6046-8D12-4E78-8B15-F5764271BE66}">
      <dsp:nvSpPr>
        <dsp:cNvPr id="0" name=""/>
        <dsp:cNvSpPr/>
      </dsp:nvSpPr>
      <dsp:spPr>
        <a:xfrm>
          <a:off x="2669308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478474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3478474" y="1658955"/>
        <a:ext cx="1000725" cy="723758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1140023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>
              <a:solidFill>
                <a:schemeClr val="bg1"/>
              </a:solidFill>
            </a:rPr>
            <a:t>Generator_Base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1344402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429319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669308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474867" y="458581"/>
          <a:ext cx="1196797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Defines the mailboxes &amp; Virtual Interface necessary for communication.</a:t>
          </a:r>
        </a:p>
      </dsp:txBody>
      <dsp:txXfrm>
        <a:off x="3474867" y="458581"/>
        <a:ext cx="1196797" cy="723758"/>
      </dsp:txXfrm>
    </dsp:sp>
    <dsp:sp modelId="{1E8D6046-8D12-4E78-8B15-F5764271BE66}">
      <dsp:nvSpPr>
        <dsp:cNvPr id="0" name=""/>
        <dsp:cNvSpPr/>
      </dsp:nvSpPr>
      <dsp:spPr>
        <a:xfrm>
          <a:off x="2669308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478474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Pre-defines pure virtual execute task</a:t>
          </a:r>
        </a:p>
      </dsp:txBody>
      <dsp:txXfrm>
        <a:off x="3478474" y="1658955"/>
        <a:ext cx="1000725" cy="723758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787450" y="775958"/>
          <a:ext cx="1395588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Random_Error_Injection_Generator</a:t>
          </a:r>
          <a:endParaRPr lang="en-US" sz="900" kern="1200" dirty="0"/>
        </a:p>
      </dsp:txBody>
      <dsp:txXfrm>
        <a:off x="991829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67786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307775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116941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3116941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2307775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116941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Removes all the design spec constraints &amp; drives randomized items</a:t>
          </a:r>
        </a:p>
      </dsp:txBody>
      <dsp:txXfrm>
        <a:off x="3116941" y="1658955"/>
        <a:ext cx="1000725" cy="723758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719516" y="818469"/>
          <a:ext cx="1395302" cy="1395324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Random_Generator</a:t>
          </a:r>
          <a:endParaRPr lang="en-US" sz="900" kern="1200" dirty="0"/>
        </a:p>
      </dsp:txBody>
      <dsp:txXfrm>
        <a:off x="923853" y="1022809"/>
        <a:ext cx="986628" cy="986644"/>
      </dsp:txXfrm>
    </dsp:sp>
    <dsp:sp modelId="{67E10470-8429-4313-A979-E4661E041BF7}">
      <dsp:nvSpPr>
        <dsp:cNvPr id="0" name=""/>
        <dsp:cNvSpPr/>
      </dsp:nvSpPr>
      <dsp:spPr>
        <a:xfrm>
          <a:off x="0" y="42670"/>
          <a:ext cx="2812470" cy="2931969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239529" y="507387"/>
          <a:ext cx="747454" cy="74765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048529" y="517062"/>
          <a:ext cx="1000520" cy="723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3048529" y="517062"/>
        <a:ext cx="1000520" cy="723610"/>
      </dsp:txXfrm>
    </dsp:sp>
    <dsp:sp modelId="{1E8D6046-8D12-4E78-8B15-F5764271BE66}">
      <dsp:nvSpPr>
        <dsp:cNvPr id="0" name=""/>
        <dsp:cNvSpPr/>
      </dsp:nvSpPr>
      <dsp:spPr>
        <a:xfrm>
          <a:off x="2239529" y="1691609"/>
          <a:ext cx="747454" cy="74765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048529" y="1701285"/>
          <a:ext cx="1000520" cy="723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Generates randomized items</a:t>
          </a:r>
        </a:p>
      </dsp:txBody>
      <dsp:txXfrm>
        <a:off x="3048529" y="1701285"/>
        <a:ext cx="1000520" cy="723610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719516" y="818469"/>
          <a:ext cx="1395302" cy="1395324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Random_Reset_Thrice_Generator</a:t>
          </a:r>
          <a:endParaRPr lang="en-US" sz="900" kern="1200" dirty="0"/>
        </a:p>
      </dsp:txBody>
      <dsp:txXfrm>
        <a:off x="923853" y="1022809"/>
        <a:ext cx="986628" cy="986644"/>
      </dsp:txXfrm>
    </dsp:sp>
    <dsp:sp modelId="{67E10470-8429-4313-A979-E4661E041BF7}">
      <dsp:nvSpPr>
        <dsp:cNvPr id="0" name=""/>
        <dsp:cNvSpPr/>
      </dsp:nvSpPr>
      <dsp:spPr>
        <a:xfrm>
          <a:off x="0" y="42670"/>
          <a:ext cx="2812470" cy="2931969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239529" y="507387"/>
          <a:ext cx="747454" cy="74765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048529" y="517062"/>
          <a:ext cx="1000520" cy="723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3048529" y="517062"/>
        <a:ext cx="1000520" cy="723610"/>
      </dsp:txXfrm>
    </dsp:sp>
    <dsp:sp modelId="{1E8D6046-8D12-4E78-8B15-F5764271BE66}">
      <dsp:nvSpPr>
        <dsp:cNvPr id="0" name=""/>
        <dsp:cNvSpPr/>
      </dsp:nvSpPr>
      <dsp:spPr>
        <a:xfrm>
          <a:off x="2239529" y="1691609"/>
          <a:ext cx="747454" cy="74765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048529" y="1701285"/>
          <a:ext cx="1000520" cy="723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Randomly generates randomized items &amp; 3 reset transactions every now and then</a:t>
          </a:r>
        </a:p>
      </dsp:txBody>
      <dsp:txXfrm>
        <a:off x="3048529" y="1701285"/>
        <a:ext cx="1000520" cy="723610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032296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schemeClr val="bg1"/>
              </a:solidFill>
            </a:rPr>
            <a:t>Comparator_Base</a:t>
          </a:r>
          <a:endParaRPr lang="en-US" sz="900" kern="1200" dirty="0">
            <a:solidFill>
              <a:schemeClr val="bg1"/>
            </a:solidFill>
          </a:endParaRPr>
        </a:p>
      </dsp:txBody>
      <dsp:txXfrm>
        <a:off x="3236675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2312632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552621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5361787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/>
            <a:t>Defines the mailboxes &amp; Virtual Interface necessary for communication.</a:t>
          </a:r>
        </a:p>
      </dsp:txBody>
      <dsp:txXfrm>
        <a:off x="5361787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4552621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5361787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/>
            <a:t>Pre-defines pure virtual execute task</a:t>
          </a:r>
        </a:p>
      </dsp:txBody>
      <dsp:txXfrm>
        <a:off x="5361787" y="1658955"/>
        <a:ext cx="1000725" cy="723758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663529" y="775958"/>
          <a:ext cx="1395588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Comparator</a:t>
          </a:r>
        </a:p>
      </dsp:txBody>
      <dsp:txXfrm>
        <a:off x="2867908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1943865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183854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993020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200" kern="1200" dirty="0"/>
            <a:t>Constructs </a:t>
          </a:r>
          <a:r>
            <a:rPr lang="en-US" sz="1000" kern="1200" dirty="0"/>
            <a:t>the</a:t>
          </a:r>
          <a:r>
            <a:rPr lang="en-US" sz="1200" kern="1200" dirty="0"/>
            <a:t> parent using </a:t>
          </a:r>
          <a:r>
            <a:rPr lang="en-US" sz="1200" kern="1200" dirty="0" err="1"/>
            <a:t>super.new</a:t>
          </a:r>
          <a:r>
            <a:rPr lang="en-US" sz="1200" kern="1200" dirty="0"/>
            <a:t>();</a:t>
          </a:r>
        </a:p>
      </dsp:txBody>
      <dsp:txXfrm>
        <a:off x="4993020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4183854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990588" y="1632132"/>
          <a:ext cx="2475794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Receives sampled output items from the scoreboard/</a:t>
          </a:r>
          <a:r>
            <a:rPr lang="en-US" sz="1000" kern="1200" dirty="0" err="1"/>
            <a:t>outpuMonitor</a:t>
          </a:r>
          <a:r>
            <a:rPr lang="en-US" sz="1000" kern="1200" dirty="0"/>
            <a:t> and compares it to the previously sampled input items</a:t>
          </a:r>
        </a:p>
      </dsp:txBody>
      <dsp:txXfrm>
        <a:off x="4990588" y="1632132"/>
        <a:ext cx="2475794" cy="723758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032296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schemeClr val="bg1"/>
              </a:solidFill>
            </a:rPr>
            <a:t>Enviornment_Base</a:t>
          </a:r>
          <a:endParaRPr lang="en-US" sz="900" kern="1200" dirty="0">
            <a:solidFill>
              <a:schemeClr val="bg1"/>
            </a:solidFill>
          </a:endParaRPr>
        </a:p>
      </dsp:txBody>
      <dsp:txXfrm>
        <a:off x="3236675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2312632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552621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5361787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800" kern="1200" dirty="0"/>
            <a:t>Defines the mailboxes &amp; Virtual Interface necessary for communication by the entire test structure</a:t>
          </a:r>
        </a:p>
      </dsp:txBody>
      <dsp:txXfrm>
        <a:off x="5361787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4552621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5361787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800" kern="1200" dirty="0"/>
            <a:t>Pre-defines pure virtual execute task</a:t>
          </a:r>
        </a:p>
      </dsp:txBody>
      <dsp:txXfrm>
        <a:off x="5361787" y="1658955"/>
        <a:ext cx="1000725" cy="723758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663529" y="775958"/>
          <a:ext cx="1395588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Environment</a:t>
          </a:r>
        </a:p>
      </dsp:txBody>
      <dsp:txXfrm>
        <a:off x="2867908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1943865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183854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993020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200" kern="1200" dirty="0"/>
            <a:t>Constructs </a:t>
          </a:r>
          <a:r>
            <a:rPr lang="en-US" sz="1000" kern="1200" dirty="0"/>
            <a:t>the</a:t>
          </a:r>
          <a:r>
            <a:rPr lang="en-US" sz="1200" kern="1200" dirty="0"/>
            <a:t> parent using </a:t>
          </a:r>
          <a:r>
            <a:rPr lang="en-US" sz="1200" kern="1200" dirty="0" err="1"/>
            <a:t>super.new</a:t>
          </a:r>
          <a:r>
            <a:rPr lang="en-US" sz="1200" kern="1200" dirty="0"/>
            <a:t>();</a:t>
          </a:r>
        </a:p>
      </dsp:txBody>
      <dsp:txXfrm>
        <a:off x="4993020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4183854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990588" y="1632132"/>
          <a:ext cx="2475794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 err="1"/>
            <a:t>Inestsantiates</a:t>
          </a:r>
          <a:r>
            <a:rPr lang="en-US" sz="1000" kern="1200" dirty="0"/>
            <a:t> the entire testbench structure  that is under the test.</a:t>
          </a:r>
        </a:p>
      </dsp:txBody>
      <dsp:txXfrm>
        <a:off x="4990588" y="1632132"/>
        <a:ext cx="2475794" cy="723758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1055361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>
              <a:solidFill>
                <a:schemeClr val="bg1"/>
              </a:solidFill>
            </a:rPr>
            <a:t>Reset_Test</a:t>
          </a:r>
          <a:endParaRPr lang="en-US" sz="1500" kern="1200" dirty="0">
            <a:solidFill>
              <a:schemeClr val="bg1"/>
            </a:solidFill>
          </a:endParaRPr>
        </a:p>
      </dsp:txBody>
      <dsp:txXfrm>
        <a:off x="1259740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344657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584646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374421" y="458581"/>
          <a:ext cx="1728823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3374421" y="458581"/>
        <a:ext cx="1728823" cy="723758"/>
      </dsp:txXfrm>
    </dsp:sp>
    <dsp:sp modelId="{1E8D6046-8D12-4E78-8B15-F5764271BE66}">
      <dsp:nvSpPr>
        <dsp:cNvPr id="0" name=""/>
        <dsp:cNvSpPr/>
      </dsp:nvSpPr>
      <dsp:spPr>
        <a:xfrm>
          <a:off x="2584646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467256" y="1658955"/>
          <a:ext cx="1535152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 err="1"/>
            <a:t>Inestantiates</a:t>
          </a:r>
          <a:r>
            <a:rPr lang="en-US" sz="1000" kern="1200" dirty="0"/>
            <a:t> the </a:t>
          </a:r>
          <a:r>
            <a:rPr lang="en-US" sz="1000" kern="1200" dirty="0" err="1"/>
            <a:t>reset_generator</a:t>
          </a:r>
          <a:r>
            <a:rPr lang="en-US" sz="1000" kern="1200" dirty="0"/>
            <a:t> and runs the item generated by it</a:t>
          </a:r>
        </a:p>
      </dsp:txBody>
      <dsp:txXfrm>
        <a:off x="3467256" y="1658955"/>
        <a:ext cx="1535152" cy="723758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1140023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bg1"/>
              </a:solidFill>
            </a:rPr>
            <a:t>Test_Base</a:t>
          </a:r>
          <a:endParaRPr lang="en-US" sz="1700" kern="1200" dirty="0">
            <a:solidFill>
              <a:schemeClr val="bg1"/>
            </a:solidFill>
          </a:endParaRPr>
        </a:p>
      </dsp:txBody>
      <dsp:txXfrm>
        <a:off x="1344402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429319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669308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474867" y="458581"/>
          <a:ext cx="1196797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Defines the mailboxes &amp; Virtual Interface necessary for communication.</a:t>
          </a:r>
        </a:p>
      </dsp:txBody>
      <dsp:txXfrm>
        <a:off x="3474867" y="458581"/>
        <a:ext cx="1196797" cy="723758"/>
      </dsp:txXfrm>
    </dsp:sp>
    <dsp:sp modelId="{1E8D6046-8D12-4E78-8B15-F5764271BE66}">
      <dsp:nvSpPr>
        <dsp:cNvPr id="0" name=""/>
        <dsp:cNvSpPr/>
      </dsp:nvSpPr>
      <dsp:spPr>
        <a:xfrm>
          <a:off x="2669308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478474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Pre-defines pure virtual execute task</a:t>
          </a:r>
        </a:p>
      </dsp:txBody>
      <dsp:txXfrm>
        <a:off x="3478474" y="1658955"/>
        <a:ext cx="1000725" cy="723758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787450" y="775958"/>
          <a:ext cx="1395588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Random_Error_Injection_test</a:t>
          </a:r>
          <a:endParaRPr lang="en-US" sz="900" kern="1200" dirty="0"/>
        </a:p>
      </dsp:txBody>
      <dsp:txXfrm>
        <a:off x="991829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67786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307775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116941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3116941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2307775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116941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 err="1"/>
            <a:t>Inestantiates</a:t>
          </a:r>
          <a:r>
            <a:rPr lang="en-US" sz="1000" kern="1200" dirty="0"/>
            <a:t> the </a:t>
          </a:r>
          <a:r>
            <a:rPr lang="en-US" sz="1000" kern="1200" dirty="0" err="1"/>
            <a:t>random_error_injection_generator</a:t>
          </a:r>
          <a:r>
            <a:rPr lang="en-US" sz="1000" kern="1200" dirty="0"/>
            <a:t> and runs the item generated by it</a:t>
          </a:r>
        </a:p>
      </dsp:txBody>
      <dsp:txXfrm>
        <a:off x="3116941" y="1658955"/>
        <a:ext cx="1000725" cy="723758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719516" y="818469"/>
          <a:ext cx="1395302" cy="1395324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Random_test</a:t>
          </a:r>
          <a:endParaRPr lang="en-US" sz="900" kern="1200" dirty="0"/>
        </a:p>
      </dsp:txBody>
      <dsp:txXfrm>
        <a:off x="923853" y="1022809"/>
        <a:ext cx="986628" cy="986644"/>
      </dsp:txXfrm>
    </dsp:sp>
    <dsp:sp modelId="{67E10470-8429-4313-A979-E4661E041BF7}">
      <dsp:nvSpPr>
        <dsp:cNvPr id="0" name=""/>
        <dsp:cNvSpPr/>
      </dsp:nvSpPr>
      <dsp:spPr>
        <a:xfrm>
          <a:off x="0" y="42670"/>
          <a:ext cx="2812470" cy="2931969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239529" y="507387"/>
          <a:ext cx="747454" cy="74765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048529" y="517062"/>
          <a:ext cx="1000520" cy="723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3048529" y="517062"/>
        <a:ext cx="1000520" cy="723610"/>
      </dsp:txXfrm>
    </dsp:sp>
    <dsp:sp modelId="{1E8D6046-8D12-4E78-8B15-F5764271BE66}">
      <dsp:nvSpPr>
        <dsp:cNvPr id="0" name=""/>
        <dsp:cNvSpPr/>
      </dsp:nvSpPr>
      <dsp:spPr>
        <a:xfrm>
          <a:off x="2239529" y="1691609"/>
          <a:ext cx="747454" cy="74765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048529" y="1701285"/>
          <a:ext cx="1000520" cy="723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 err="1"/>
            <a:t>Inestantiates</a:t>
          </a:r>
          <a:r>
            <a:rPr lang="en-US" sz="1000" kern="1200" dirty="0"/>
            <a:t> the </a:t>
          </a:r>
          <a:r>
            <a:rPr lang="en-US" sz="1000" kern="1200" dirty="0" err="1"/>
            <a:t>random_generator</a:t>
          </a:r>
          <a:r>
            <a:rPr lang="en-US" sz="1000" kern="1200" dirty="0"/>
            <a:t> and runs the item generated by it</a:t>
          </a:r>
        </a:p>
      </dsp:txBody>
      <dsp:txXfrm>
        <a:off x="3048529" y="1701285"/>
        <a:ext cx="1000520" cy="723610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719516" y="818469"/>
          <a:ext cx="1395302" cy="1395324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Random_Reset_Thrice_test</a:t>
          </a:r>
          <a:endParaRPr lang="en-US" sz="900" kern="1200" dirty="0"/>
        </a:p>
      </dsp:txBody>
      <dsp:txXfrm>
        <a:off x="923853" y="1022809"/>
        <a:ext cx="986628" cy="986644"/>
      </dsp:txXfrm>
    </dsp:sp>
    <dsp:sp modelId="{67E10470-8429-4313-A979-E4661E041BF7}">
      <dsp:nvSpPr>
        <dsp:cNvPr id="0" name=""/>
        <dsp:cNvSpPr/>
      </dsp:nvSpPr>
      <dsp:spPr>
        <a:xfrm>
          <a:off x="0" y="42670"/>
          <a:ext cx="2812470" cy="2931969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239529" y="507387"/>
          <a:ext cx="747454" cy="74765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048529" y="517062"/>
          <a:ext cx="1000520" cy="723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3048529" y="517062"/>
        <a:ext cx="1000520" cy="723610"/>
      </dsp:txXfrm>
    </dsp:sp>
    <dsp:sp modelId="{1E8D6046-8D12-4E78-8B15-F5764271BE66}">
      <dsp:nvSpPr>
        <dsp:cNvPr id="0" name=""/>
        <dsp:cNvSpPr/>
      </dsp:nvSpPr>
      <dsp:spPr>
        <a:xfrm>
          <a:off x="2239529" y="1691609"/>
          <a:ext cx="747454" cy="74765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048529" y="1701285"/>
          <a:ext cx="1000520" cy="723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 err="1"/>
            <a:t>Inestantiates</a:t>
          </a:r>
          <a:r>
            <a:rPr lang="en-US" sz="1000" kern="1200" dirty="0"/>
            <a:t> the </a:t>
          </a:r>
          <a:r>
            <a:rPr lang="en-US" sz="1000" kern="1200" dirty="0" err="1"/>
            <a:t>random_reset_thrice_generator</a:t>
          </a:r>
          <a:r>
            <a:rPr lang="en-US" sz="1000" kern="1200" dirty="0"/>
            <a:t> and runs the item generated by it</a:t>
          </a:r>
        </a:p>
      </dsp:txBody>
      <dsp:txXfrm>
        <a:off x="3048529" y="1701285"/>
        <a:ext cx="1000520" cy="7236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C336D9-F1FB-484F-814C-FEFFAC61D63C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9CEB92-A670-4136-8665-709A0B277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66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09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05FA3-5572-978C-0E77-7D9140512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3E3BB0-CE1F-B8EE-E187-BF6F141E8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810064-1076-849E-22E3-2B3E0A9F5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81802-DC16-AE10-9BBE-F58ABDBF6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48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CD583-A77A-37FF-E6F4-39942B6F7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5687D-E006-3A85-EDE7-D33788BB1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6A880C-762A-6657-1926-F0BB10A0E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9B9DC-B0B5-8E5E-1BAA-DA491FEE2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89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FB9FE-FB14-3ADA-D7DA-7807FA082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7B0BB-725B-E21E-B1BD-74FE20B81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8F6AFE-3243-B037-801B-E704E0E80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C7DDF-97FD-DC32-28F4-8DF01932B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96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4B14D-DCFD-4DD9-60B0-34D409418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5714F-565A-80DF-A0B1-8BEB408F5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ED1931-9943-BE43-2196-655AB1A82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30330-97AD-183B-8FB3-02B16A278F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170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ABA5E-433A-D9F8-37E9-247C57A6F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8E876D-4B65-6CDE-6B95-6C5AB798B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58349-0864-FA5B-272C-A698A8947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F6DB2-E270-271D-A6B5-D905466C2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75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F8D97-A0A1-21DD-0ABA-E9D3393A4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509D2E-9DDB-2F27-B9D7-7361E00CA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33854E-BFBC-2077-3A92-EACDD0949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4A235-8503-A093-40E8-E2D49B7A2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411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2A637-CCDE-B939-3392-DE10001DC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E983D9-510E-48E6-6764-5AD9CC102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5443A-CCA1-3D33-6892-E29BDE4C6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8056C-A135-5CAF-9A7C-6BC5467B63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04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6B3E2-AA00-4F9E-E8AB-E45D65DE6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88713-F7B0-90E9-1240-3B4E1F756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64EEE-039C-6959-AAA4-7234ADA43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67F7E-F8C5-1D03-DD37-7A314EB1D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35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2FAB8-85AF-E60B-3076-28108B0F8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641F5-2FC4-2646-CA25-7C9674EF2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965AB-1CC6-6BF1-78CA-8D1D05EB8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53F47-3ACA-FD7E-6DD3-26D6C819C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142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5778F-69CA-1BA4-53BB-BDB926F82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E12114-2141-B963-6EA1-3CA4E21DC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955FE-3753-FEE8-5F9E-8439B45DA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508C3-00DB-D6EB-4C33-66B81C056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21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DFEF6-B22A-CCF1-486A-4E818106E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2ED95-0076-8C3B-3883-952A89198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503E5-4FCE-13C9-D30F-85B955774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B0ADE-9FED-511E-E447-A4203E4EA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36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862F2-A196-004B-9A0D-97EBE13BE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CDD2C-794E-4E5F-C3D1-5F33840F3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41A61C-B3FC-A3F9-F354-2F8D4E141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0D11C-87DD-2E2A-A481-C3B9F6554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624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CB9D8-C504-44CE-B51C-8F467EFE6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00A44E-644F-76ED-7CB1-48EEE51E8F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8A8C0-DDA1-B7C1-16B2-929B96688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AB16D-A086-B053-E835-2550E14D1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201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E5227-ECCF-9D68-CE82-D710B9F81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44852E-0FF8-5C49-AB0C-12CCF6EAD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E24ED0-F124-E290-B28C-BAA6F6827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0C9E3-8112-0F35-D06E-920D0249C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479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938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70166-CEF0-118C-E956-E0D89E522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47292-8EC6-0D78-0AB7-6E7A7C278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BC670-0BE1-DC11-82BA-9A96A862E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5561A-82FA-0C66-A2FC-092294DE8E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281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256D9-75C1-15A8-39EB-6508E7359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B57529-CC6E-5015-4268-C2FF8A245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92B22-D5CB-8024-4B6B-854297687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C6BE1-FBAD-8B99-629E-2DAA9B77EE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978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1FEFD-38B5-28D9-AA79-DC7D7EAA6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75A324-5752-AED6-6419-932CDCFDA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E82823-C845-9C77-4580-772C42395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5DBCF-5191-B38D-51DD-A49FA960A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855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78BD-AD70-E373-4C0C-DAD408B59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8479E1-E880-8557-4123-8650E5E6C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F12BA9-BCFA-132F-ACE8-48937110E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56048-CE2A-25F3-EB14-4EBA0C82F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72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8E14-23EC-4C25-974C-48FA83988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3" cy="507422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FEDD4-20A1-49F6-9E3E-0B26B426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2167" y="3602038"/>
            <a:ext cx="5021183" cy="224458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A32F-E6F3-4C2E-B9E3-E47868E4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A759-BFF8-4B5B-9ECE-D93AC303B331}" type="datetime1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6724-A87A-4231-BFD9-277482AF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0D1AF-36B8-4BB8-BD6A-71194F7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65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3D8A-C68D-4CF9-9D15-3E09BCC0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D94C-E537-4FF3-AAF8-A85F05C3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B1D4-6731-4993-8609-16C1D332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B316-A2E6-49F2-825C-64AA951E4184}" type="datetime1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7BBD-CEEB-4256-84B2-6D907E11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A8B7-F430-4F4A-BB63-481F51E5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521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AC1C-A332-4BA5-8C9C-FE0396C8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056" cy="487097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8D137-710E-4125-B5E9-F63E7F1C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7" y="3566639"/>
            <a:ext cx="5021183" cy="2279979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480C5-E9A6-425E-B050-03E444BE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9748B-ADD6-4C5A-8C2A-A39721276E74}" type="datetime1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B4831-6C0B-4E0B-A341-91E4C5D3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1EE6-252D-46DD-94DF-C42657EF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90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4B06-C54A-4B7B-B6D1-436428EA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52076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3919-9A2F-4D97-8F31-6E35BD597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3049" y="969264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DA345-F684-4BAA-A22C-E725B3A60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63049" y="3621849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99C52-9753-45D8-9646-CF31BB0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FB0F-3C5C-4949-B933-9C7E511ED094}" type="datetime1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95E57-622C-4199-940E-F5462E1A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B7592-00E8-41EF-B749-2A5EA8E4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102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291277-967B-4176-B40B-9EC360626994}"/>
              </a:ext>
            </a:extLst>
          </p:cNvPr>
          <p:cNvSpPr/>
          <p:nvPr/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11C00-F7CB-4484-807A-D12745CD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119"/>
            <a:ext cx="11165481" cy="1073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AAA6E-E243-48B3-9585-3C1420B3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870" y="2178908"/>
            <a:ext cx="5020056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D01B8-0F2E-41A4-B21C-334393F6A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7870" y="2876085"/>
            <a:ext cx="5020056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9B23F-3E60-415A-9CE7-0928B5CFB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168" y="2178908"/>
            <a:ext cx="5021182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23446-0CDC-402B-8D71-D9D29F6DF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168" y="2876085"/>
            <a:ext cx="5021182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B77D3-C6EC-4FFD-9E10-24E1AC54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870" y="6420414"/>
            <a:ext cx="2743200" cy="365125"/>
          </a:xfrm>
        </p:spPr>
        <p:txBody>
          <a:bodyPr/>
          <a:lstStyle/>
          <a:p>
            <a:fld id="{C2F01D58-E949-4BCB-829A-BBF80E38D59C}" type="datetime1">
              <a:rPr lang="en-US" smtClean="0"/>
              <a:t>3/23/2025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DF31B-BD07-4DC2-95C2-B77E51AA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4CE5A-3A0A-4AAB-81D2-F1C2063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57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16B8-52AB-412B-BBE7-B6BE698F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779C3-9D19-467E-A5D2-0920834D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A846-0DA4-4D92-9BF1-DE8C52C1F4DF}" type="datetime1">
              <a:rPr lang="en-US" smtClean="0"/>
              <a:t>3/23/2025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72BB4-C8D8-4F74-9677-5AC97993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B49B8-779F-4492-ABD9-96F0D042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13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976BF-9339-48D6-881A-280D1549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2331-4A9C-472F-A7FA-968157338839}" type="datetime1">
              <a:rPr lang="en-US" smtClean="0"/>
              <a:t>3/23/2025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7605-C9C8-432E-9662-D7D410B1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432B6-4A12-46EF-98A7-B5D50BD5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5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191C-AF68-4230-A7B2-F8F07B48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9F11-5FCF-4D7E-BA51-38CB8427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3182" y="987423"/>
            <a:ext cx="502094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B519B-06C0-41BC-95FB-FB1FE4363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61038"/>
            <a:ext cx="5020948" cy="2507949"/>
          </a:xfrm>
        </p:spPr>
        <p:txBody>
          <a:bodyPr>
            <a:normAutofit/>
          </a:bodyPr>
          <a:lstStyle>
            <a:lvl1pPr marL="0" indent="0">
              <a:buNone/>
              <a:defRPr sz="24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8B70C-015C-4832-AFF6-D033E022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97F3D-ED52-43FD-A26D-318B71534485}" type="datetime1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1A6FB-8C14-46D1-90A5-0FF11DE7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2C585-6FA1-4E94-9C1C-A1DEDE55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3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8B43-D1CE-43F4-A367-EF1FE968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73978-8CDF-4C0E-ABA1-7291A0347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62168" y="987425"/>
            <a:ext cx="502700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CC62-ED45-451E-BEC5-A03C6A554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40442"/>
            <a:ext cx="5020948" cy="2528545"/>
          </a:xfrm>
        </p:spPr>
        <p:txBody>
          <a:bodyPr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7A86-B983-4315-9312-936B4FCF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91FA4-6264-4BB8-B3B5-77711EED2D82}" type="datetime1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E88C0-25A5-46F9-AB35-EAD50E6B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F9EA8-45AD-478E-8606-9328245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14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6B8E-1D8E-4105-9BBB-D53AD24B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25530-6629-4FEA-9670-EB21A2F5B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4C7A-A73F-46F5-BC33-696671DA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F398-5DA3-4937-BE3F-7CA1B9158252}" type="datetime1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3CC0-B649-4509-A4B6-DF9D20EF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CCCA-3F2A-46F3-BF45-7C862FF1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66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0133B-2446-4168-AA17-653891066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2168" y="996791"/>
            <a:ext cx="5011962" cy="49569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6A9AD-2756-4C51-A958-6756301EB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7870" y="996791"/>
            <a:ext cx="5021183" cy="4956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995D-CCEA-43AF-973B-8B6B56A5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1ED9-F929-4A92-90F9-3C9C84ABBE83}" type="datetime1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029CF-BA62-4CCD-956E-FFA0B37B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0B3D-96AB-41B3-ABDD-5B0DE863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18136A-0796-46EB-89BB-4C73C0258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04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1AD20-E240-4E6F-AF91-689F7AEE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8801-35D1-4C19-BC2B-EAC7EE917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8" y="969264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82A45-C5B9-4575-8E28-A35767B4D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7870" y="64204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7F6A1D9-D323-4F4E-8655-25E2D32CE742}" type="datetime1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D0933-AA03-4018-8E37-004CFB9F6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7870" y="977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282A-DF4A-4A2D-9672-8F0F770A3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4317" y="6420414"/>
            <a:ext cx="6379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57300-C7FF-4578-99A0-42B0295B123C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F8250-7A81-4A19-87AD-FFB2CE4E39A5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38FC-2DEA-2647-C409-EF75720C1017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83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29" r:id="rId6"/>
    <p:sldLayoutId id="2147483725" r:id="rId7"/>
    <p:sldLayoutId id="2147483726" r:id="rId8"/>
    <p:sldLayoutId id="2147483727" r:id="rId9"/>
    <p:sldLayoutId id="2147483728" r:id="rId10"/>
    <p:sldLayoutId id="214748373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vcon-proceedings.org/wp-content/uploads/handling-asynchronous-resets-testing-by-building-reset-awareness-into-uvm-testbench-components-.pdf" TargetMode="External"/><Relationship Id="rId2" Type="http://schemas.openxmlformats.org/officeDocument/2006/relationships/hyperlink" Target="http://sunburst-design.com/papers/CummingsSNUG2013SV_UVM_Scoreboards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vcon-proceedings.org/wp-content/uploads/handling-asynchronous-resets-testing-by-building-reset-awareness-into-uvm-testbench-components-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vcon-proceedings.org/wp-content/uploads/handling-asynchronous-resets-testing-by-building-reset-awareness-into-uvm-testbench-components-.pdf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vcon-proceedings.org/wp-content/uploads/handling-asynchronous-resets-testing-by-building-reset-awareness-into-uvm-testbench-components-.pdf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4.gi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14.gi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14.gi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14.gi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openxmlformats.org/officeDocument/2006/relationships/image" Target="../media/image14.gi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Relationship Id="rId9" Type="http://schemas.openxmlformats.org/officeDocument/2006/relationships/image" Target="../media/image14.gi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image" Target="../media/image14.gi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Relationship Id="rId9" Type="http://schemas.openxmlformats.org/officeDocument/2006/relationships/image" Target="../media/image14.gi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Relationship Id="rId9" Type="http://schemas.openxmlformats.org/officeDocument/2006/relationships/image" Target="../media/image14.gi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microsoft.com/office/2007/relationships/diagramDrawing" Target="../diagrams/drawing11.xml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12" Type="http://schemas.openxmlformats.org/officeDocument/2006/relationships/diagramColors" Target="../diagrams/colors1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11" Type="http://schemas.openxmlformats.org/officeDocument/2006/relationships/diagramQuickStyle" Target="../diagrams/quickStyle11.xml"/><Relationship Id="rId5" Type="http://schemas.openxmlformats.org/officeDocument/2006/relationships/diagramQuickStyle" Target="../diagrams/quickStyle10.xml"/><Relationship Id="rId10" Type="http://schemas.openxmlformats.org/officeDocument/2006/relationships/diagramLayout" Target="../diagrams/layout11.xml"/><Relationship Id="rId4" Type="http://schemas.openxmlformats.org/officeDocument/2006/relationships/diagramLayout" Target="../diagrams/layout10.xml"/><Relationship Id="rId9" Type="http://schemas.openxmlformats.org/officeDocument/2006/relationships/diagramData" Target="../diagrams/data11.xml"/><Relationship Id="rId14" Type="http://schemas.openxmlformats.org/officeDocument/2006/relationships/image" Target="../media/image14.gi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microsoft.com/office/2007/relationships/diagramDrawing" Target="../diagrams/drawing13.xml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12" Type="http://schemas.openxmlformats.org/officeDocument/2006/relationships/diagramColors" Target="../diagrams/colors1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11" Type="http://schemas.openxmlformats.org/officeDocument/2006/relationships/diagramQuickStyle" Target="../diagrams/quickStyle13.xml"/><Relationship Id="rId5" Type="http://schemas.openxmlformats.org/officeDocument/2006/relationships/diagramQuickStyle" Target="../diagrams/quickStyle12.xml"/><Relationship Id="rId10" Type="http://schemas.openxmlformats.org/officeDocument/2006/relationships/diagramLayout" Target="../diagrams/layout13.xml"/><Relationship Id="rId4" Type="http://schemas.openxmlformats.org/officeDocument/2006/relationships/diagramLayout" Target="../diagrams/layout12.xml"/><Relationship Id="rId9" Type="http://schemas.openxmlformats.org/officeDocument/2006/relationships/diagramData" Target="../diagrams/data13.xml"/><Relationship Id="rId14" Type="http://schemas.openxmlformats.org/officeDocument/2006/relationships/image" Target="../media/image14.gi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microsoft.com/office/2007/relationships/diagramDrawing" Target="../diagrams/drawing15.xml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12" Type="http://schemas.openxmlformats.org/officeDocument/2006/relationships/diagramColors" Target="../diagrams/colors1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11" Type="http://schemas.openxmlformats.org/officeDocument/2006/relationships/diagramQuickStyle" Target="../diagrams/quickStyle15.xml"/><Relationship Id="rId5" Type="http://schemas.openxmlformats.org/officeDocument/2006/relationships/diagramQuickStyle" Target="../diagrams/quickStyle14.xml"/><Relationship Id="rId10" Type="http://schemas.openxmlformats.org/officeDocument/2006/relationships/diagramLayout" Target="../diagrams/layout15.xml"/><Relationship Id="rId4" Type="http://schemas.openxmlformats.org/officeDocument/2006/relationships/diagramLayout" Target="../diagrams/layout14.xml"/><Relationship Id="rId9" Type="http://schemas.openxmlformats.org/officeDocument/2006/relationships/diagramData" Target="../diagrams/data15.xml"/><Relationship Id="rId14" Type="http://schemas.openxmlformats.org/officeDocument/2006/relationships/image" Target="../media/image14.gi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microsoft.com/office/2007/relationships/diagramDrawing" Target="../diagrams/drawing17.xml"/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12" Type="http://schemas.openxmlformats.org/officeDocument/2006/relationships/diagramColors" Target="../diagrams/colors1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11" Type="http://schemas.openxmlformats.org/officeDocument/2006/relationships/diagramQuickStyle" Target="../diagrams/quickStyle17.xml"/><Relationship Id="rId5" Type="http://schemas.openxmlformats.org/officeDocument/2006/relationships/diagramQuickStyle" Target="../diagrams/quickStyle16.xml"/><Relationship Id="rId10" Type="http://schemas.openxmlformats.org/officeDocument/2006/relationships/diagramLayout" Target="../diagrams/layout17.xml"/><Relationship Id="rId4" Type="http://schemas.openxmlformats.org/officeDocument/2006/relationships/diagramLayout" Target="../diagrams/layout16.xml"/><Relationship Id="rId9" Type="http://schemas.openxmlformats.org/officeDocument/2006/relationships/diagramData" Target="../diagrams/data17.xml"/><Relationship Id="rId14" Type="http://schemas.openxmlformats.org/officeDocument/2006/relationships/image" Target="../media/image14.gi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microsoft.com/office/2007/relationships/diagramDrawing" Target="../diagrams/drawing19.xml"/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12" Type="http://schemas.openxmlformats.org/officeDocument/2006/relationships/diagramColors" Target="../diagrams/colors19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11" Type="http://schemas.openxmlformats.org/officeDocument/2006/relationships/diagramQuickStyle" Target="../diagrams/quickStyle19.xml"/><Relationship Id="rId5" Type="http://schemas.openxmlformats.org/officeDocument/2006/relationships/diagramQuickStyle" Target="../diagrams/quickStyle18.xml"/><Relationship Id="rId10" Type="http://schemas.openxmlformats.org/officeDocument/2006/relationships/diagramLayout" Target="../diagrams/layout19.xml"/><Relationship Id="rId4" Type="http://schemas.openxmlformats.org/officeDocument/2006/relationships/diagramLayout" Target="../diagrams/layout18.xml"/><Relationship Id="rId9" Type="http://schemas.openxmlformats.org/officeDocument/2006/relationships/diagramData" Target="../diagrams/data19.xml"/><Relationship Id="rId14" Type="http://schemas.openxmlformats.org/officeDocument/2006/relationships/image" Target="../media/image14.gi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microsoft.com/office/2007/relationships/diagramDrawing" Target="../diagrams/drawing21.xml"/><Relationship Id="rId18" Type="http://schemas.microsoft.com/office/2007/relationships/diagramDrawing" Target="../diagrams/drawing22.xml"/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12" Type="http://schemas.openxmlformats.org/officeDocument/2006/relationships/diagramColors" Target="../diagrams/colors21.xml"/><Relationship Id="rId17" Type="http://schemas.openxmlformats.org/officeDocument/2006/relationships/diagramColors" Target="../diagrams/colors22.xml"/><Relationship Id="rId2" Type="http://schemas.openxmlformats.org/officeDocument/2006/relationships/notesSlide" Target="../notesSlides/notesSlide16.xml"/><Relationship Id="rId16" Type="http://schemas.openxmlformats.org/officeDocument/2006/relationships/diagramQuickStyle" Target="../diagrams/quickStyl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11" Type="http://schemas.openxmlformats.org/officeDocument/2006/relationships/diagramQuickStyle" Target="../diagrams/quickStyle21.xml"/><Relationship Id="rId5" Type="http://schemas.openxmlformats.org/officeDocument/2006/relationships/diagramQuickStyle" Target="../diagrams/quickStyle20.xml"/><Relationship Id="rId15" Type="http://schemas.openxmlformats.org/officeDocument/2006/relationships/diagramLayout" Target="../diagrams/layout22.xml"/><Relationship Id="rId10" Type="http://schemas.openxmlformats.org/officeDocument/2006/relationships/diagramLayout" Target="../diagrams/layout21.xml"/><Relationship Id="rId19" Type="http://schemas.openxmlformats.org/officeDocument/2006/relationships/image" Target="../media/image14.gif"/><Relationship Id="rId4" Type="http://schemas.openxmlformats.org/officeDocument/2006/relationships/diagramLayout" Target="../diagrams/layout20.xml"/><Relationship Id="rId9" Type="http://schemas.openxmlformats.org/officeDocument/2006/relationships/diagramData" Target="../diagrams/data21.xml"/><Relationship Id="rId14" Type="http://schemas.openxmlformats.org/officeDocument/2006/relationships/diagramData" Target="../diagrams/data2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4.xml"/><Relationship Id="rId13" Type="http://schemas.openxmlformats.org/officeDocument/2006/relationships/image" Target="../media/image13.png"/><Relationship Id="rId18" Type="http://schemas.microsoft.com/office/2007/relationships/diagramDrawing" Target="../diagrams/drawing25.xml"/><Relationship Id="rId26" Type="http://schemas.openxmlformats.org/officeDocument/2006/relationships/diagramLayout" Target="../diagrams/layout27.xml"/><Relationship Id="rId3" Type="http://schemas.openxmlformats.org/officeDocument/2006/relationships/diagramData" Target="../diagrams/data23.xml"/><Relationship Id="rId21" Type="http://schemas.openxmlformats.org/officeDocument/2006/relationships/diagramQuickStyle" Target="../diagrams/quickStyle26.xml"/><Relationship Id="rId7" Type="http://schemas.microsoft.com/office/2007/relationships/diagramDrawing" Target="../diagrams/drawing23.xml"/><Relationship Id="rId12" Type="http://schemas.microsoft.com/office/2007/relationships/diagramDrawing" Target="../diagrams/drawing24.xml"/><Relationship Id="rId17" Type="http://schemas.openxmlformats.org/officeDocument/2006/relationships/diagramColors" Target="../diagrams/colors25.xml"/><Relationship Id="rId25" Type="http://schemas.openxmlformats.org/officeDocument/2006/relationships/diagramData" Target="../diagrams/data27.xml"/><Relationship Id="rId2" Type="http://schemas.openxmlformats.org/officeDocument/2006/relationships/notesSlide" Target="../notesSlides/notesSlide17.xml"/><Relationship Id="rId16" Type="http://schemas.openxmlformats.org/officeDocument/2006/relationships/diagramQuickStyle" Target="../diagrams/quickStyle25.xml"/><Relationship Id="rId20" Type="http://schemas.openxmlformats.org/officeDocument/2006/relationships/diagramLayout" Target="../diagrams/layout26.xml"/><Relationship Id="rId29" Type="http://schemas.microsoft.com/office/2007/relationships/diagramDrawing" Target="../diagrams/drawing2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3.xml"/><Relationship Id="rId11" Type="http://schemas.openxmlformats.org/officeDocument/2006/relationships/diagramColors" Target="../diagrams/colors24.xml"/><Relationship Id="rId24" Type="http://schemas.openxmlformats.org/officeDocument/2006/relationships/image" Target="../media/image14.gif"/><Relationship Id="rId5" Type="http://schemas.openxmlformats.org/officeDocument/2006/relationships/diagramQuickStyle" Target="../diagrams/quickStyle23.xml"/><Relationship Id="rId15" Type="http://schemas.openxmlformats.org/officeDocument/2006/relationships/diagramLayout" Target="../diagrams/layout25.xml"/><Relationship Id="rId23" Type="http://schemas.microsoft.com/office/2007/relationships/diagramDrawing" Target="../diagrams/drawing26.xml"/><Relationship Id="rId28" Type="http://schemas.openxmlformats.org/officeDocument/2006/relationships/diagramColors" Target="../diagrams/colors27.xml"/><Relationship Id="rId10" Type="http://schemas.openxmlformats.org/officeDocument/2006/relationships/diagramQuickStyle" Target="../diagrams/quickStyle24.xml"/><Relationship Id="rId19" Type="http://schemas.openxmlformats.org/officeDocument/2006/relationships/diagramData" Target="../diagrams/data26.xml"/><Relationship Id="rId4" Type="http://schemas.openxmlformats.org/officeDocument/2006/relationships/diagramLayout" Target="../diagrams/layout23.xml"/><Relationship Id="rId9" Type="http://schemas.openxmlformats.org/officeDocument/2006/relationships/diagramLayout" Target="../diagrams/layout24.xml"/><Relationship Id="rId14" Type="http://schemas.openxmlformats.org/officeDocument/2006/relationships/diagramData" Target="../diagrams/data25.xml"/><Relationship Id="rId22" Type="http://schemas.openxmlformats.org/officeDocument/2006/relationships/diagramColors" Target="../diagrams/colors26.xml"/><Relationship Id="rId27" Type="http://schemas.openxmlformats.org/officeDocument/2006/relationships/diagramQuickStyle" Target="../diagrams/quickStyle2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microsoft.com/office/2007/relationships/diagramDrawing" Target="../diagrams/drawing29.xml"/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12" Type="http://schemas.openxmlformats.org/officeDocument/2006/relationships/diagramColors" Target="../diagrams/colors2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8.xml"/><Relationship Id="rId11" Type="http://schemas.openxmlformats.org/officeDocument/2006/relationships/diagramQuickStyle" Target="../diagrams/quickStyle29.xml"/><Relationship Id="rId5" Type="http://schemas.openxmlformats.org/officeDocument/2006/relationships/diagramQuickStyle" Target="../diagrams/quickStyle28.xml"/><Relationship Id="rId10" Type="http://schemas.openxmlformats.org/officeDocument/2006/relationships/diagramLayout" Target="../diagrams/layout29.xml"/><Relationship Id="rId4" Type="http://schemas.openxmlformats.org/officeDocument/2006/relationships/diagramLayout" Target="../diagrams/layout28.xml"/><Relationship Id="rId9" Type="http://schemas.openxmlformats.org/officeDocument/2006/relationships/diagramData" Target="../diagrams/data29.xml"/><Relationship Id="rId14" Type="http://schemas.openxmlformats.org/officeDocument/2006/relationships/image" Target="../media/image14.gi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microsoft.com/office/2007/relationships/diagramDrawing" Target="../diagrams/drawing31.xml"/><Relationship Id="rId3" Type="http://schemas.openxmlformats.org/officeDocument/2006/relationships/diagramData" Target="../diagrams/data30.xml"/><Relationship Id="rId7" Type="http://schemas.microsoft.com/office/2007/relationships/diagramDrawing" Target="../diagrams/drawing30.xml"/><Relationship Id="rId12" Type="http://schemas.openxmlformats.org/officeDocument/2006/relationships/diagramColors" Target="../diagrams/colors3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0.xml"/><Relationship Id="rId11" Type="http://schemas.openxmlformats.org/officeDocument/2006/relationships/diagramQuickStyle" Target="../diagrams/quickStyle31.xml"/><Relationship Id="rId5" Type="http://schemas.openxmlformats.org/officeDocument/2006/relationships/diagramQuickStyle" Target="../diagrams/quickStyle30.xml"/><Relationship Id="rId10" Type="http://schemas.openxmlformats.org/officeDocument/2006/relationships/diagramLayout" Target="../diagrams/layout31.xml"/><Relationship Id="rId4" Type="http://schemas.openxmlformats.org/officeDocument/2006/relationships/diagramLayout" Target="../diagrams/layout30.xml"/><Relationship Id="rId9" Type="http://schemas.openxmlformats.org/officeDocument/2006/relationships/diagramData" Target="../diagrams/data31.xml"/><Relationship Id="rId14" Type="http://schemas.openxmlformats.org/officeDocument/2006/relationships/image" Target="../media/image14.gi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3.xml"/><Relationship Id="rId13" Type="http://schemas.openxmlformats.org/officeDocument/2006/relationships/image" Target="../media/image13.png"/><Relationship Id="rId18" Type="http://schemas.microsoft.com/office/2007/relationships/diagramDrawing" Target="../diagrams/drawing34.xml"/><Relationship Id="rId26" Type="http://schemas.openxmlformats.org/officeDocument/2006/relationships/diagramLayout" Target="../diagrams/layout36.xml"/><Relationship Id="rId3" Type="http://schemas.openxmlformats.org/officeDocument/2006/relationships/diagramData" Target="../diagrams/data32.xml"/><Relationship Id="rId21" Type="http://schemas.openxmlformats.org/officeDocument/2006/relationships/diagramQuickStyle" Target="../diagrams/quickStyle35.xml"/><Relationship Id="rId7" Type="http://schemas.microsoft.com/office/2007/relationships/diagramDrawing" Target="../diagrams/drawing32.xml"/><Relationship Id="rId12" Type="http://schemas.microsoft.com/office/2007/relationships/diagramDrawing" Target="../diagrams/drawing33.xml"/><Relationship Id="rId17" Type="http://schemas.openxmlformats.org/officeDocument/2006/relationships/diagramColors" Target="../diagrams/colors34.xml"/><Relationship Id="rId25" Type="http://schemas.openxmlformats.org/officeDocument/2006/relationships/diagramData" Target="../diagrams/data36.xml"/><Relationship Id="rId2" Type="http://schemas.openxmlformats.org/officeDocument/2006/relationships/notesSlide" Target="../notesSlides/notesSlide20.xml"/><Relationship Id="rId16" Type="http://schemas.openxmlformats.org/officeDocument/2006/relationships/diagramQuickStyle" Target="../diagrams/quickStyle34.xml"/><Relationship Id="rId20" Type="http://schemas.openxmlformats.org/officeDocument/2006/relationships/diagramLayout" Target="../diagrams/layout35.xml"/><Relationship Id="rId29" Type="http://schemas.microsoft.com/office/2007/relationships/diagramDrawing" Target="../diagrams/drawing3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2.xml"/><Relationship Id="rId11" Type="http://schemas.openxmlformats.org/officeDocument/2006/relationships/diagramColors" Target="../diagrams/colors33.xml"/><Relationship Id="rId24" Type="http://schemas.openxmlformats.org/officeDocument/2006/relationships/image" Target="../media/image14.gif"/><Relationship Id="rId5" Type="http://schemas.openxmlformats.org/officeDocument/2006/relationships/diagramQuickStyle" Target="../diagrams/quickStyle32.xml"/><Relationship Id="rId15" Type="http://schemas.openxmlformats.org/officeDocument/2006/relationships/diagramLayout" Target="../diagrams/layout34.xml"/><Relationship Id="rId23" Type="http://schemas.microsoft.com/office/2007/relationships/diagramDrawing" Target="../diagrams/drawing35.xml"/><Relationship Id="rId28" Type="http://schemas.openxmlformats.org/officeDocument/2006/relationships/diagramColors" Target="../diagrams/colors36.xml"/><Relationship Id="rId10" Type="http://schemas.openxmlformats.org/officeDocument/2006/relationships/diagramQuickStyle" Target="../diagrams/quickStyle33.xml"/><Relationship Id="rId19" Type="http://schemas.openxmlformats.org/officeDocument/2006/relationships/diagramData" Target="../diagrams/data35.xml"/><Relationship Id="rId4" Type="http://schemas.openxmlformats.org/officeDocument/2006/relationships/diagramLayout" Target="../diagrams/layout32.xml"/><Relationship Id="rId9" Type="http://schemas.openxmlformats.org/officeDocument/2006/relationships/diagramLayout" Target="../diagrams/layout33.xml"/><Relationship Id="rId14" Type="http://schemas.openxmlformats.org/officeDocument/2006/relationships/diagramData" Target="../diagrams/data34.xml"/><Relationship Id="rId22" Type="http://schemas.openxmlformats.org/officeDocument/2006/relationships/diagramColors" Target="../diagrams/colors35.xml"/><Relationship Id="rId27" Type="http://schemas.openxmlformats.org/officeDocument/2006/relationships/diagramQuickStyle" Target="../diagrams/quickStyle3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gif"/><Relationship Id="rId4" Type="http://schemas.openxmlformats.org/officeDocument/2006/relationships/image" Target="../media/image25.gi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C71AFC83-43DA-2361-0668-F0E67D9E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Vector background of vibrant colors splashing">
            <a:extLst>
              <a:ext uri="{FF2B5EF4-FFF2-40B4-BE49-F238E27FC236}">
                <a16:creationId xmlns:a16="http://schemas.microsoft.com/office/drawing/2014/main" id="{63AC4ACD-DE44-441A-FC4E-61044240C8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34" r="4629" b="-2"/>
          <a:stretch/>
        </p:blipFill>
        <p:spPr>
          <a:xfrm>
            <a:off x="517869" y="965741"/>
            <a:ext cx="6554050" cy="53802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A42F14-C558-9E35-7DD8-7C19CCD6D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47741" y="966178"/>
            <a:ext cx="4598628" cy="4054057"/>
          </a:xfrm>
        </p:spPr>
        <p:txBody>
          <a:bodyPr anchor="t">
            <a:normAutofit fontScale="90000"/>
          </a:bodyPr>
          <a:lstStyle/>
          <a:p>
            <a:r>
              <a:rPr lang="en-US" sz="5600" dirty="0"/>
              <a:t>Design &amp; Verification of an ALU using UVM &amp; SVA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9FCD2-8991-F88F-65F8-3163884B4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9520" y="4927302"/>
            <a:ext cx="4252856" cy="1338269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Abdelrahman Mohamed Yassien</a:t>
            </a:r>
            <a:br>
              <a:rPr lang="en-US" dirty="0"/>
            </a:br>
            <a:br>
              <a:rPr lang="en-US" dirty="0"/>
            </a:br>
            <a:r>
              <a:rPr lang="en-US" sz="1600" dirty="0" err="1"/>
              <a:t>dir</a:t>
            </a:r>
            <a:r>
              <a:rPr lang="en-US" sz="1600" dirty="0"/>
              <a:t>: /home/svgpdv25abohamad/</a:t>
            </a:r>
            <a:r>
              <a:rPr lang="en-US" sz="1600" dirty="0" err="1"/>
              <a:t>alu_uvm_project</a:t>
            </a:r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35EA8DD-92F5-E06C-4DEE-B7AB507CC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0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diagram of a computer flowchart&#10;&#10;AI-generated content may be incorrect.">
            <a:extLst>
              <a:ext uri="{FF2B5EF4-FFF2-40B4-BE49-F238E27FC236}">
                <a16:creationId xmlns:a16="http://schemas.microsoft.com/office/drawing/2014/main" id="{9498F536-4B0F-DF76-46F4-5986C0754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537" y="2139843"/>
            <a:ext cx="10131769" cy="3373451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8AFB62-F1F9-582A-4671-5F017EA71C81}"/>
              </a:ext>
            </a:extLst>
          </p:cNvPr>
          <p:cNvSpPr txBox="1"/>
          <p:nvPr/>
        </p:nvSpPr>
        <p:spPr>
          <a:xfrm>
            <a:off x="421343" y="883041"/>
            <a:ext cx="5423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+mj-lt"/>
                <a:ea typeface="+mj-ea"/>
                <a:cs typeface="+mj-cs"/>
              </a:rPr>
              <a:t>Project Timeline</a:t>
            </a:r>
          </a:p>
        </p:txBody>
      </p:sp>
    </p:spTree>
    <p:extLst>
      <p:ext uri="{BB962C8B-B14F-4D97-AF65-F5344CB8AC3E}">
        <p14:creationId xmlns:p14="http://schemas.microsoft.com/office/powerpoint/2010/main" val="364059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60DAB5-3BBC-D502-2F1C-E94DFCE523CB}"/>
              </a:ext>
            </a:extLst>
          </p:cNvPr>
          <p:cNvSpPr txBox="1"/>
          <p:nvPr/>
        </p:nvSpPr>
        <p:spPr>
          <a:xfrm>
            <a:off x="4043082" y="376518"/>
            <a:ext cx="4329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Verification Plan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CA5FBC9-9362-8CF9-E840-564DCA096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240714"/>
              </p:ext>
            </p:extLst>
          </p:nvPr>
        </p:nvGraphicFramePr>
        <p:xfrm>
          <a:off x="3579904" y="1535657"/>
          <a:ext cx="5617884" cy="441731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24847">
                  <a:extLst>
                    <a:ext uri="{9D8B030D-6E8A-4147-A177-3AD203B41FA5}">
                      <a16:colId xmlns:a16="http://schemas.microsoft.com/office/drawing/2014/main" val="1157593473"/>
                    </a:ext>
                  </a:extLst>
                </a:gridCol>
                <a:gridCol w="3293037">
                  <a:extLst>
                    <a:ext uri="{9D8B030D-6E8A-4147-A177-3AD203B41FA5}">
                      <a16:colId xmlns:a16="http://schemas.microsoft.com/office/drawing/2014/main" val="36684154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232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Reset DUT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Resetting the DUT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0450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US" sz="1050" kern="1200" dirty="0" err="1">
                          <a:solidFill>
                            <a:schemeClr val="dk1"/>
                          </a:solidFill>
                        </a:rPr>
                        <a:t>ALU_en</a:t>
                      </a:r>
                      <a:endParaRPr lang="en-US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Sending transactions while </a:t>
                      </a:r>
                      <a:r>
                        <a:rPr lang="en-US" sz="1050" dirty="0" err="1"/>
                        <a:t>ALU_en</a:t>
                      </a:r>
                      <a:r>
                        <a:rPr lang="en-US" sz="1050" dirty="0"/>
                        <a:t> is off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671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US" sz="1050" kern="1200" dirty="0" err="1">
                          <a:solidFill>
                            <a:schemeClr val="dk1"/>
                          </a:solidFill>
                        </a:rPr>
                        <a:t>A_op</a:t>
                      </a:r>
                      <a:r>
                        <a:rPr lang="en-US" sz="1050" kern="1200" dirty="0">
                          <a:solidFill>
                            <a:schemeClr val="dk1"/>
                          </a:solidFill>
                        </a:rPr>
                        <a:t> Opcodes</a:t>
                      </a:r>
                    </a:p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Checking all </a:t>
                      </a:r>
                      <a:r>
                        <a:rPr lang="en-US" sz="1050" dirty="0" err="1"/>
                        <a:t>A_op</a:t>
                      </a:r>
                      <a:r>
                        <a:rPr lang="en-US" sz="1050" dirty="0"/>
                        <a:t> opcodes when (</a:t>
                      </a:r>
                      <a:r>
                        <a:rPr lang="en-US" sz="1050" dirty="0" err="1"/>
                        <a:t>A_en</a:t>
                      </a:r>
                      <a:r>
                        <a:rPr lang="en-US" sz="1050" dirty="0"/>
                        <a:t> &amp; ~</a:t>
                      </a:r>
                      <a:r>
                        <a:rPr lang="en-US" sz="1050" dirty="0" err="1"/>
                        <a:t>B_en</a:t>
                      </a:r>
                      <a:r>
                        <a:rPr lang="en-US" sz="1050" dirty="0"/>
                        <a:t>)</a:t>
                      </a:r>
                    </a:p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306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B_11op Opcodes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Checking all </a:t>
                      </a:r>
                      <a:r>
                        <a:rPr kumimoji="0" lang="en-US" sz="105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B_op</a:t>
                      </a: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 opcodes when (</a:t>
                      </a:r>
                      <a:r>
                        <a:rPr kumimoji="0" lang="en-US" sz="105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A_en</a:t>
                      </a: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 &amp; </a:t>
                      </a:r>
                      <a:r>
                        <a:rPr kumimoji="0" lang="en-US" sz="105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B_en</a:t>
                      </a: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)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638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Random Reset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Randomly Resetting the DUT during the entire simulation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554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Code Coverage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Ensuring all the DUT’s code lines were HIT using code coverage and making better test cases if not.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1218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Functional Coverage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Ensuring all opcodes/values are met and tried using Functional Coverage and Fixing the DUT if not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6280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Error Injection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Using an Error Injection scenario to check if the DUT hangs or behaves in a destructive way if faced with an undefined state or an out-of-bounds/unexpected inputs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1910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erstadt"/>
                          <a:ea typeface="+mn-ea"/>
                          <a:cs typeface="+mn-cs"/>
                        </a:rPr>
                        <a:t>Assertion Based 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erstadt"/>
                          <a:ea typeface="+mn-ea"/>
                          <a:cs typeface="+mn-cs"/>
                        </a:rPr>
                        <a:t>Asserting over the design specs, clock period, alu operations,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erstadt"/>
                          <a:ea typeface="+mn-ea"/>
                          <a:cs typeface="+mn-cs"/>
                        </a:rPr>
                        <a:t>alu_en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erstad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erstadt"/>
                          <a:ea typeface="+mn-ea"/>
                          <a:cs typeface="+mn-cs"/>
                        </a:rPr>
                        <a:t>rst_n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783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41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FC2290-9007-2BA6-35E2-B7D3DC9D5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036530"/>
              </p:ext>
            </p:extLst>
          </p:nvPr>
        </p:nvGraphicFramePr>
        <p:xfrm>
          <a:off x="377977" y="2426697"/>
          <a:ext cx="4436069" cy="33782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46847">
                  <a:extLst>
                    <a:ext uri="{9D8B030D-6E8A-4147-A177-3AD203B41FA5}">
                      <a16:colId xmlns:a16="http://schemas.microsoft.com/office/drawing/2014/main" val="4135427993"/>
                    </a:ext>
                  </a:extLst>
                </a:gridCol>
                <a:gridCol w="778741">
                  <a:extLst>
                    <a:ext uri="{9D8B030D-6E8A-4147-A177-3AD203B41FA5}">
                      <a16:colId xmlns:a16="http://schemas.microsoft.com/office/drawing/2014/main" val="3800804451"/>
                    </a:ext>
                  </a:extLst>
                </a:gridCol>
                <a:gridCol w="1184945">
                  <a:extLst>
                    <a:ext uri="{9D8B030D-6E8A-4147-A177-3AD203B41FA5}">
                      <a16:colId xmlns:a16="http://schemas.microsoft.com/office/drawing/2014/main" val="2926376368"/>
                    </a:ext>
                  </a:extLst>
                </a:gridCol>
                <a:gridCol w="1925536">
                  <a:extLst>
                    <a:ext uri="{9D8B030D-6E8A-4147-A177-3AD203B41FA5}">
                      <a16:colId xmlns:a16="http://schemas.microsoft.com/office/drawing/2014/main" val="877756751"/>
                    </a:ext>
                  </a:extLst>
                </a:gridCol>
              </a:tblGrid>
              <a:tr h="370840">
                <a:tc rowSpan="9"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(A_EN &amp; ~B_EN)</a:t>
                      </a:r>
                    </a:p>
                  </a:txBody>
                  <a:tcPr vert="vert27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A_op</a:t>
                      </a:r>
                      <a:endParaRPr lang="en-US" sz="1050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 = ?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Description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729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+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Sum of inputs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0079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–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 subtracted from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6291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^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bitwise XOR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8434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&amp;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bitwise &amp;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121496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&amp;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bitwise &amp;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49870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|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bitwise 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267501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~(A ^ 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XNOR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480664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Not permitted to take this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16818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498105D-C8F1-6B1B-F43C-C4C75E94D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337086"/>
              </p:ext>
            </p:extLst>
          </p:nvPr>
        </p:nvGraphicFramePr>
        <p:xfrm>
          <a:off x="8588188" y="4425825"/>
          <a:ext cx="3083858" cy="18948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49423">
                  <a:extLst>
                    <a:ext uri="{9D8B030D-6E8A-4147-A177-3AD203B41FA5}">
                      <a16:colId xmlns:a16="http://schemas.microsoft.com/office/drawing/2014/main" val="3735101611"/>
                    </a:ext>
                  </a:extLst>
                </a:gridCol>
                <a:gridCol w="549423">
                  <a:extLst>
                    <a:ext uri="{9D8B030D-6E8A-4147-A177-3AD203B41FA5}">
                      <a16:colId xmlns:a16="http://schemas.microsoft.com/office/drawing/2014/main" val="3800804451"/>
                    </a:ext>
                  </a:extLst>
                </a:gridCol>
                <a:gridCol w="756195">
                  <a:extLst>
                    <a:ext uri="{9D8B030D-6E8A-4147-A177-3AD203B41FA5}">
                      <a16:colId xmlns:a16="http://schemas.microsoft.com/office/drawing/2014/main" val="2926376368"/>
                    </a:ext>
                  </a:extLst>
                </a:gridCol>
                <a:gridCol w="1228817">
                  <a:extLst>
                    <a:ext uri="{9D8B030D-6E8A-4147-A177-3AD203B41FA5}">
                      <a16:colId xmlns:a16="http://schemas.microsoft.com/office/drawing/2014/main" val="8777567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(~A_EN &amp; B_EN)</a:t>
                      </a:r>
                    </a:p>
                  </a:txBody>
                  <a:tcPr vert="vert27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B_op</a:t>
                      </a:r>
                      <a:endParaRPr lang="en-US" sz="1050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 = ?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Description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729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~(A &amp; 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NAND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0079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+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Sum of inputs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6291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+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Sum of inputs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8434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Not permitted to take this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121496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16B4E3D-74B8-640F-B73E-0A7B55410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939174"/>
              </p:ext>
            </p:extLst>
          </p:nvPr>
        </p:nvGraphicFramePr>
        <p:xfrm>
          <a:off x="5208494" y="4425825"/>
          <a:ext cx="3083858" cy="18948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49423">
                  <a:extLst>
                    <a:ext uri="{9D8B030D-6E8A-4147-A177-3AD203B41FA5}">
                      <a16:colId xmlns:a16="http://schemas.microsoft.com/office/drawing/2014/main" val="3735101611"/>
                    </a:ext>
                  </a:extLst>
                </a:gridCol>
                <a:gridCol w="549423">
                  <a:extLst>
                    <a:ext uri="{9D8B030D-6E8A-4147-A177-3AD203B41FA5}">
                      <a16:colId xmlns:a16="http://schemas.microsoft.com/office/drawing/2014/main" val="3800804451"/>
                    </a:ext>
                  </a:extLst>
                </a:gridCol>
                <a:gridCol w="756195">
                  <a:extLst>
                    <a:ext uri="{9D8B030D-6E8A-4147-A177-3AD203B41FA5}">
                      <a16:colId xmlns:a16="http://schemas.microsoft.com/office/drawing/2014/main" val="2926376368"/>
                    </a:ext>
                  </a:extLst>
                </a:gridCol>
                <a:gridCol w="1228817">
                  <a:extLst>
                    <a:ext uri="{9D8B030D-6E8A-4147-A177-3AD203B41FA5}">
                      <a16:colId xmlns:a16="http://schemas.microsoft.com/office/drawing/2014/main" val="8777567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(A_EN &amp; B_EN)</a:t>
                      </a:r>
                    </a:p>
                  </a:txBody>
                  <a:tcPr vert="vert27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B_op</a:t>
                      </a:r>
                      <a:endParaRPr lang="en-US" sz="1050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C= ?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Description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729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+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Sum of inputs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0079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–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 subtracted from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6291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^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bitwise XOR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8434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&amp;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bitwise &amp;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1214960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304FF421-37C7-47D1-C8CA-DEF4E2F49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80" y="291730"/>
            <a:ext cx="6008437" cy="949003"/>
          </a:xfrm>
        </p:spPr>
        <p:txBody>
          <a:bodyPr>
            <a:normAutofit fontScale="90000"/>
          </a:bodyPr>
          <a:lstStyle/>
          <a:p>
            <a:r>
              <a:rPr lang="en-US" dirty="0"/>
              <a:t>ALU DESIGN SPECIFICATIONS</a:t>
            </a:r>
          </a:p>
        </p:txBody>
      </p:sp>
      <p:pic>
        <p:nvPicPr>
          <p:cNvPr id="12" name="Picture 11" descr="A diagram of a rectangle with arrows and letters&#10;&#10;AI-generated content may be incorrect.">
            <a:extLst>
              <a:ext uri="{FF2B5EF4-FFF2-40B4-BE49-F238E27FC236}">
                <a16:creationId xmlns:a16="http://schemas.microsoft.com/office/drawing/2014/main" id="{1E9DA519-56A3-74AD-CF88-8C8533908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592" y="427279"/>
            <a:ext cx="6379431" cy="356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65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C38CB98-F790-D8F5-0AE1-B323EE963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016" y="257648"/>
            <a:ext cx="8887968" cy="899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 dirty="0"/>
              <a:t>Verification Environment Classes</a:t>
            </a:r>
          </a:p>
        </p:txBody>
      </p:sp>
      <p:pic>
        <p:nvPicPr>
          <p:cNvPr id="9" name="Content Placeholder 8" descr="A diagram of a company structure&#10;&#10;AI-generated content may be incorrect.">
            <a:extLst>
              <a:ext uri="{FF2B5EF4-FFF2-40B4-BE49-F238E27FC236}">
                <a16:creationId xmlns:a16="http://schemas.microsoft.com/office/drawing/2014/main" id="{2C44E30C-7DD1-4B3A-5CCB-716A34783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24" y="1027046"/>
            <a:ext cx="10802112" cy="6026194"/>
          </a:xfrm>
        </p:spPr>
      </p:pic>
    </p:spTree>
    <p:extLst>
      <p:ext uri="{BB962C8B-B14F-4D97-AF65-F5344CB8AC3E}">
        <p14:creationId xmlns:p14="http://schemas.microsoft.com/office/powerpoint/2010/main" val="191395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BEBFB59-E9CF-331E-9C40-4FD07A965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4FE905E-8BE8-23D6-FC13-E320225A6D32}"/>
              </a:ext>
            </a:extLst>
          </p:cNvPr>
          <p:cNvSpPr/>
          <p:nvPr/>
        </p:nvSpPr>
        <p:spPr>
          <a:xfrm>
            <a:off x="384422" y="170328"/>
            <a:ext cx="11413123" cy="6636647"/>
          </a:xfrm>
          <a:prstGeom prst="rect">
            <a:avLst/>
          </a:prstGeom>
          <a:solidFill>
            <a:srgbClr val="002060"/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iblet"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64AC6F-6EDB-F284-9F67-8C15F14C3C52}"/>
              </a:ext>
            </a:extLst>
          </p:cNvPr>
          <p:cNvSpPr txBox="1"/>
          <p:nvPr/>
        </p:nvSpPr>
        <p:spPr>
          <a:xfrm>
            <a:off x="549402" y="229247"/>
            <a:ext cx="5525430" cy="461665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TOP ALU TESTBENCH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68AF4A-2752-8B91-F06E-7841C85EB752}"/>
              </a:ext>
            </a:extLst>
          </p:cNvPr>
          <p:cNvSpPr/>
          <p:nvPr/>
        </p:nvSpPr>
        <p:spPr>
          <a:xfrm>
            <a:off x="443199" y="838804"/>
            <a:ext cx="10940708" cy="399734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sunset" dir="t"/>
          </a:scene3d>
          <a:sp3d extrusionH="76200" contourW="12700" prstMaterial="clear">
            <a:bevelT/>
            <a:bevelB w="0" h="0"/>
            <a:extrusionClr>
              <a:schemeClr val="tx2">
                <a:lumMod val="10000"/>
                <a:lumOff val="90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177B4E-256A-0D4B-1A13-30A0A5AE8BE9}"/>
              </a:ext>
            </a:extLst>
          </p:cNvPr>
          <p:cNvSpPr txBox="1"/>
          <p:nvPr/>
        </p:nvSpPr>
        <p:spPr>
          <a:xfrm>
            <a:off x="554273" y="873693"/>
            <a:ext cx="4407249" cy="3385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127000">
              <a:schemeClr val="accent6">
                <a:lumMod val="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matte">
            <a:bevelT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RANDOM TEST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106E47-756C-721C-30C5-F79CF30B9718}"/>
              </a:ext>
            </a:extLst>
          </p:cNvPr>
          <p:cNvSpPr/>
          <p:nvPr/>
        </p:nvSpPr>
        <p:spPr>
          <a:xfrm>
            <a:off x="513710" y="1024364"/>
            <a:ext cx="10998214" cy="3965342"/>
          </a:xfrm>
          <a:prstGeom prst="rect">
            <a:avLst/>
          </a:prstGeom>
          <a:solidFill>
            <a:srgbClr val="C00000"/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sunset" dir="t"/>
          </a:scene3d>
          <a:sp3d extrusionH="76200" contourW="12700" prstMaterial="clear">
            <a:bevelT/>
            <a:bevelB w="0" h="0"/>
            <a:extrusionClr>
              <a:schemeClr val="tx2">
                <a:lumMod val="10000"/>
                <a:lumOff val="90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777AF3-F450-4E3C-8072-5CEC880FCDBC}"/>
              </a:ext>
            </a:extLst>
          </p:cNvPr>
          <p:cNvSpPr txBox="1"/>
          <p:nvPr/>
        </p:nvSpPr>
        <p:spPr>
          <a:xfrm>
            <a:off x="855355" y="1060319"/>
            <a:ext cx="4150993" cy="40011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glow rad="127000">
              <a:srgbClr val="C00000">
                <a:alpha val="40000"/>
              </a:srgb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matte">
            <a:bevelT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alpha val="60000"/>
                  </a:schemeClr>
                </a:solidFill>
              </a:rPr>
              <a:t>ERROR_TEST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32DF14-16D9-DFD9-0D34-FEE77F16419E}"/>
              </a:ext>
            </a:extLst>
          </p:cNvPr>
          <p:cNvSpPr txBox="1"/>
          <p:nvPr/>
        </p:nvSpPr>
        <p:spPr>
          <a:xfrm>
            <a:off x="1249623" y="1224146"/>
            <a:ext cx="3711900" cy="40011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glow rad="127000">
              <a:schemeClr val="accent4"/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matte">
            <a:bevelT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alpha val="64000"/>
                  </a:schemeClr>
                </a:solidFill>
              </a:rPr>
              <a:t>REPITITION TEST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7388C0E-3A4F-A017-BE56-50182F7D9FFB}"/>
              </a:ext>
            </a:extLst>
          </p:cNvPr>
          <p:cNvSpPr/>
          <p:nvPr/>
        </p:nvSpPr>
        <p:spPr>
          <a:xfrm>
            <a:off x="770406" y="6321919"/>
            <a:ext cx="10085854" cy="40682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DUT</a:t>
            </a:r>
            <a:endParaRPr lang="en-US" b="1" dirty="0"/>
          </a:p>
        </p:txBody>
      </p:sp>
      <p:sp>
        <p:nvSpPr>
          <p:cNvPr id="78" name="Arrow: Up-Down 77">
            <a:extLst>
              <a:ext uri="{FF2B5EF4-FFF2-40B4-BE49-F238E27FC236}">
                <a16:creationId xmlns:a16="http://schemas.microsoft.com/office/drawing/2014/main" id="{7EA74FD7-C0CA-A006-BF8D-06A2D30466FA}"/>
              </a:ext>
            </a:extLst>
          </p:cNvPr>
          <p:cNvSpPr/>
          <p:nvPr/>
        </p:nvSpPr>
        <p:spPr>
          <a:xfrm>
            <a:off x="2739165" y="5571103"/>
            <a:ext cx="223866" cy="457884"/>
          </a:xfrm>
          <a:prstGeom prst="up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C0F1650-C3A8-7D86-AD9E-FC0ACFAE36F7}"/>
              </a:ext>
            </a:extLst>
          </p:cNvPr>
          <p:cNvGrpSpPr/>
          <p:nvPr/>
        </p:nvGrpSpPr>
        <p:grpSpPr>
          <a:xfrm>
            <a:off x="1659353" y="5970972"/>
            <a:ext cx="2240909" cy="338554"/>
            <a:chOff x="2010737" y="5642752"/>
            <a:chExt cx="2240909" cy="338554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EE506DA-70C8-0D5B-816F-8A4FD72B81C7}"/>
                </a:ext>
              </a:extLst>
            </p:cNvPr>
            <p:cNvSpPr/>
            <p:nvPr/>
          </p:nvSpPr>
          <p:spPr>
            <a:xfrm>
              <a:off x="2053064" y="5644341"/>
              <a:ext cx="2198582" cy="28205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A381DB7-E3E7-ADCC-62AD-6F8AEDE46088}"/>
                </a:ext>
              </a:extLst>
            </p:cNvPr>
            <p:cNvSpPr txBox="1"/>
            <p:nvPr/>
          </p:nvSpPr>
          <p:spPr>
            <a:xfrm>
              <a:off x="2010737" y="5642752"/>
              <a:ext cx="2190541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ALU Interface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9C3B882F-1096-122B-1E08-58AA501FCB0F}"/>
              </a:ext>
            </a:extLst>
          </p:cNvPr>
          <p:cNvSpPr/>
          <p:nvPr/>
        </p:nvSpPr>
        <p:spPr>
          <a:xfrm>
            <a:off x="604713" y="1234864"/>
            <a:ext cx="11144087" cy="3965341"/>
          </a:xfrm>
          <a:prstGeom prst="rect">
            <a:avLst/>
          </a:prstGeom>
          <a:solidFill>
            <a:srgbClr val="002060"/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sunset" dir="t"/>
          </a:scene3d>
          <a:sp3d extrusionH="76200" contourW="12700" prstMaterial="clear">
            <a:bevelT/>
            <a:bevelB w="0" h="0"/>
            <a:extrusionClr>
              <a:schemeClr val="tx2">
                <a:lumMod val="10000"/>
                <a:lumOff val="90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gradFill>
                  <a:gsLst>
                    <a:gs pos="0">
                      <a:srgbClr val="7030A0"/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lt1">
                  <a:alpha val="85000"/>
                </a:schemeClr>
              </a:solidFill>
            </a:endParaRPr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43DED413-3FB3-28D8-EE46-AC15AACE0E77}"/>
              </a:ext>
            </a:extLst>
          </p:cNvPr>
          <p:cNvGrpSpPr/>
          <p:nvPr/>
        </p:nvGrpSpPr>
        <p:grpSpPr>
          <a:xfrm>
            <a:off x="777694" y="1369521"/>
            <a:ext cx="9833769" cy="3724017"/>
            <a:chOff x="969297" y="1387264"/>
            <a:chExt cx="9470158" cy="3724017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F720E8FD-0849-3BB9-812B-A231F521D2C0}"/>
                </a:ext>
              </a:extLst>
            </p:cNvPr>
            <p:cNvSpPr/>
            <p:nvPr/>
          </p:nvSpPr>
          <p:spPr>
            <a:xfrm>
              <a:off x="969297" y="1387264"/>
              <a:ext cx="9470158" cy="3724017"/>
            </a:xfrm>
            <a:prstGeom prst="rect">
              <a:avLst/>
            </a:prstGeom>
            <a:solidFill>
              <a:srgbClr val="002060"/>
            </a:solidFill>
            <a:ln w="34925">
              <a:noFill/>
            </a:ln>
            <a:effectLst>
              <a:glow rad="101600">
                <a:schemeClr val="tx1">
                  <a:lumMod val="85000"/>
                  <a:lumOff val="15000"/>
                  <a:alpha val="60000"/>
                </a:schemeClr>
              </a:glow>
            </a:effectLst>
            <a:scene3d>
              <a:camera prst="orthographicFront">
                <a:rot lat="0" lon="0" rev="0"/>
              </a:camera>
              <a:lightRig rig="sunset" dir="t"/>
            </a:scene3d>
            <a:sp3d extrusionH="76200" contourW="12700" prstMaterial="clear">
              <a:bevelT/>
              <a:bevelB w="0" h="0"/>
              <a:extrusionClr>
                <a:schemeClr val="tx2">
                  <a:lumMod val="10000"/>
                  <a:lumOff val="90000"/>
                </a:schemeClr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>
                    <a:alpha val="64000"/>
                  </a:schemeClr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7CA8B915-DF8D-D9E8-6FF7-D6973EF2F116}"/>
                </a:ext>
              </a:extLst>
            </p:cNvPr>
            <p:cNvSpPr txBox="1"/>
            <p:nvPr/>
          </p:nvSpPr>
          <p:spPr>
            <a:xfrm>
              <a:off x="1282064" y="1464168"/>
              <a:ext cx="35750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ENVIRONMENT</a:t>
              </a:r>
            </a:p>
          </p:txBody>
        </p:sp>
      </p:grp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032312EF-F1C8-9845-9CD2-95E76CF725B7}"/>
              </a:ext>
            </a:extLst>
          </p:cNvPr>
          <p:cNvSpPr/>
          <p:nvPr/>
        </p:nvSpPr>
        <p:spPr>
          <a:xfrm rot="16200000">
            <a:off x="5493246" y="1489981"/>
            <a:ext cx="993032" cy="4361274"/>
          </a:xfrm>
          <a:custGeom>
            <a:avLst/>
            <a:gdLst>
              <a:gd name="connsiteX0" fmla="*/ 993032 w 993032"/>
              <a:gd name="connsiteY0" fmla="*/ 4025138 h 4622046"/>
              <a:gd name="connsiteX1" fmla="*/ 945318 w 993032"/>
              <a:gd name="connsiteY1" fmla="*/ 4025138 h 4622046"/>
              <a:gd name="connsiteX2" fmla="*/ 945318 w 993032"/>
              <a:gd name="connsiteY2" fmla="*/ 4622046 h 4622046"/>
              <a:gd name="connsiteX3" fmla="*/ 611319 w 993032"/>
              <a:gd name="connsiteY3" fmla="*/ 4622046 h 4622046"/>
              <a:gd name="connsiteX4" fmla="*/ 611319 w 993032"/>
              <a:gd name="connsiteY4" fmla="*/ 4526618 h 4622046"/>
              <a:gd name="connsiteX5" fmla="*/ 849890 w 993032"/>
              <a:gd name="connsiteY5" fmla="*/ 4526618 h 4622046"/>
              <a:gd name="connsiteX6" fmla="*/ 849890 w 993032"/>
              <a:gd name="connsiteY6" fmla="*/ 4025138 h 4622046"/>
              <a:gd name="connsiteX7" fmla="*/ 802176 w 993032"/>
              <a:gd name="connsiteY7" fmla="*/ 4025138 h 4622046"/>
              <a:gd name="connsiteX8" fmla="*/ 861953 w 993032"/>
              <a:gd name="connsiteY8" fmla="*/ 3965361 h 4622046"/>
              <a:gd name="connsiteX9" fmla="*/ 861954 w 993032"/>
              <a:gd name="connsiteY9" fmla="*/ 3760977 h 4622046"/>
              <a:gd name="connsiteX10" fmla="*/ 238306 w 993032"/>
              <a:gd name="connsiteY10" fmla="*/ 3760977 h 4622046"/>
              <a:gd name="connsiteX11" fmla="*/ 238306 w 993032"/>
              <a:gd name="connsiteY11" fmla="*/ 3766640 h 4622046"/>
              <a:gd name="connsiteX12" fmla="*/ 195302 w 993032"/>
              <a:gd name="connsiteY12" fmla="*/ 3766640 h 4622046"/>
              <a:gd name="connsiteX13" fmla="*/ 195302 w 993032"/>
              <a:gd name="connsiteY13" fmla="*/ 3803149 h 4622046"/>
              <a:gd name="connsiteX14" fmla="*/ 158793 w 993032"/>
              <a:gd name="connsiteY14" fmla="*/ 3766640 h 4622046"/>
              <a:gd name="connsiteX15" fmla="*/ 79435 w 993032"/>
              <a:gd name="connsiteY15" fmla="*/ 3766640 h 4622046"/>
              <a:gd name="connsiteX16" fmla="*/ 79436 w 993032"/>
              <a:gd name="connsiteY16" fmla="*/ 590559 h 4622046"/>
              <a:gd name="connsiteX17" fmla="*/ 0 w 993032"/>
              <a:gd name="connsiteY17" fmla="*/ 590559 h 4622046"/>
              <a:gd name="connsiteX18" fmla="*/ 118480 w 993032"/>
              <a:gd name="connsiteY18" fmla="*/ 472079 h 4622046"/>
              <a:gd name="connsiteX19" fmla="*/ 118480 w 993032"/>
              <a:gd name="connsiteY19" fmla="*/ 443155 h 4622046"/>
              <a:gd name="connsiteX20" fmla="*/ 147404 w 993032"/>
              <a:gd name="connsiteY20" fmla="*/ 443155 h 4622046"/>
              <a:gd name="connsiteX21" fmla="*/ 158871 w 993032"/>
              <a:gd name="connsiteY21" fmla="*/ 431688 h 4622046"/>
              <a:gd name="connsiteX22" fmla="*/ 170338 w 993032"/>
              <a:gd name="connsiteY22" fmla="*/ 443155 h 4622046"/>
              <a:gd name="connsiteX23" fmla="*/ 755796 w 993032"/>
              <a:gd name="connsiteY23" fmla="*/ 443155 h 4622046"/>
              <a:gd name="connsiteX24" fmla="*/ 755796 w 993032"/>
              <a:gd name="connsiteY24" fmla="*/ 147718 h 4622046"/>
              <a:gd name="connsiteX25" fmla="*/ 705489 w 993032"/>
              <a:gd name="connsiteY25" fmla="*/ 147718 h 4622046"/>
              <a:gd name="connsiteX26" fmla="*/ 829655 w 993032"/>
              <a:gd name="connsiteY26" fmla="*/ 0 h 4622046"/>
              <a:gd name="connsiteX27" fmla="*/ 953821 w 993032"/>
              <a:gd name="connsiteY27" fmla="*/ 147718 h 4622046"/>
              <a:gd name="connsiteX28" fmla="*/ 903514 w 993032"/>
              <a:gd name="connsiteY28" fmla="*/ 147718 h 4622046"/>
              <a:gd name="connsiteX29" fmla="*/ 903514 w 993032"/>
              <a:gd name="connsiteY29" fmla="*/ 590873 h 4622046"/>
              <a:gd name="connsiteX30" fmla="*/ 238307 w 993032"/>
              <a:gd name="connsiteY30" fmla="*/ 590873 h 4622046"/>
              <a:gd name="connsiteX31" fmla="*/ 238306 w 993032"/>
              <a:gd name="connsiteY31" fmla="*/ 3676632 h 4622046"/>
              <a:gd name="connsiteX32" fmla="*/ 946299 w 993032"/>
              <a:gd name="connsiteY32" fmla="*/ 3676632 h 4622046"/>
              <a:gd name="connsiteX33" fmla="*/ 946298 w 993032"/>
              <a:gd name="connsiteY33" fmla="*/ 3971840 h 4622046"/>
              <a:gd name="connsiteX34" fmla="*/ 939734 w 993032"/>
              <a:gd name="connsiteY34" fmla="*/ 3971840 h 462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993032" h="4622046">
                <a:moveTo>
                  <a:pt x="993032" y="4025138"/>
                </a:moveTo>
                <a:lnTo>
                  <a:pt x="945318" y="4025138"/>
                </a:lnTo>
                <a:lnTo>
                  <a:pt x="945318" y="4622046"/>
                </a:lnTo>
                <a:lnTo>
                  <a:pt x="611319" y="4622046"/>
                </a:lnTo>
                <a:lnTo>
                  <a:pt x="611319" y="4526618"/>
                </a:lnTo>
                <a:lnTo>
                  <a:pt x="849890" y="4526618"/>
                </a:lnTo>
                <a:lnTo>
                  <a:pt x="849890" y="4025138"/>
                </a:lnTo>
                <a:lnTo>
                  <a:pt x="802176" y="4025138"/>
                </a:lnTo>
                <a:lnTo>
                  <a:pt x="861953" y="3965361"/>
                </a:lnTo>
                <a:lnTo>
                  <a:pt x="861954" y="3760977"/>
                </a:lnTo>
                <a:lnTo>
                  <a:pt x="238306" y="3760977"/>
                </a:lnTo>
                <a:lnTo>
                  <a:pt x="238306" y="3766640"/>
                </a:lnTo>
                <a:lnTo>
                  <a:pt x="195302" y="3766640"/>
                </a:lnTo>
                <a:lnTo>
                  <a:pt x="195302" y="3803149"/>
                </a:lnTo>
                <a:lnTo>
                  <a:pt x="158793" y="3766640"/>
                </a:lnTo>
                <a:lnTo>
                  <a:pt x="79435" y="3766640"/>
                </a:lnTo>
                <a:lnTo>
                  <a:pt x="79436" y="590559"/>
                </a:lnTo>
                <a:lnTo>
                  <a:pt x="0" y="590559"/>
                </a:lnTo>
                <a:lnTo>
                  <a:pt x="118480" y="472079"/>
                </a:lnTo>
                <a:lnTo>
                  <a:pt x="118480" y="443155"/>
                </a:lnTo>
                <a:lnTo>
                  <a:pt x="147404" y="443155"/>
                </a:lnTo>
                <a:lnTo>
                  <a:pt x="158871" y="431688"/>
                </a:lnTo>
                <a:lnTo>
                  <a:pt x="170338" y="443155"/>
                </a:lnTo>
                <a:lnTo>
                  <a:pt x="755796" y="443155"/>
                </a:lnTo>
                <a:lnTo>
                  <a:pt x="755796" y="147718"/>
                </a:lnTo>
                <a:lnTo>
                  <a:pt x="705489" y="147718"/>
                </a:lnTo>
                <a:lnTo>
                  <a:pt x="829655" y="0"/>
                </a:lnTo>
                <a:lnTo>
                  <a:pt x="953821" y="147718"/>
                </a:lnTo>
                <a:lnTo>
                  <a:pt x="903514" y="147718"/>
                </a:lnTo>
                <a:lnTo>
                  <a:pt x="903514" y="590873"/>
                </a:lnTo>
                <a:lnTo>
                  <a:pt x="238307" y="590873"/>
                </a:lnTo>
                <a:lnTo>
                  <a:pt x="238306" y="3676632"/>
                </a:lnTo>
                <a:lnTo>
                  <a:pt x="946299" y="3676632"/>
                </a:lnTo>
                <a:lnTo>
                  <a:pt x="946298" y="3971840"/>
                </a:lnTo>
                <a:lnTo>
                  <a:pt x="939734" y="3971840"/>
                </a:lnTo>
                <a:close/>
              </a:path>
            </a:pathLst>
          </a:custGeom>
          <a:solidFill>
            <a:schemeClr val="tx1"/>
          </a:solidFill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4E23A38B-9273-BF24-027B-676579E35CDF}"/>
              </a:ext>
            </a:extLst>
          </p:cNvPr>
          <p:cNvGrpSpPr/>
          <p:nvPr/>
        </p:nvGrpSpPr>
        <p:grpSpPr>
          <a:xfrm>
            <a:off x="10577571" y="1376114"/>
            <a:ext cx="1246869" cy="3726015"/>
            <a:chOff x="10463311" y="1189604"/>
            <a:chExt cx="1246869" cy="3726015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4FF2DAF6-E1B3-F584-52FF-5C21060018B7}"/>
                </a:ext>
              </a:extLst>
            </p:cNvPr>
            <p:cNvSpPr/>
            <p:nvPr/>
          </p:nvSpPr>
          <p:spPr>
            <a:xfrm>
              <a:off x="10549870" y="1189604"/>
              <a:ext cx="1045229" cy="3726015"/>
            </a:xfrm>
            <a:prstGeom prst="rect">
              <a:avLst/>
            </a:prstGeom>
            <a:solidFill>
              <a:srgbClr val="002060"/>
            </a:solidFill>
            <a:ln w="34925">
              <a:noFill/>
            </a:ln>
            <a:effectLst>
              <a:glow rad="101600">
                <a:schemeClr val="tx1">
                  <a:lumMod val="85000"/>
                  <a:lumOff val="15000"/>
                  <a:alpha val="60000"/>
                </a:schemeClr>
              </a:glow>
            </a:effectLst>
            <a:scene3d>
              <a:camera prst="orthographicFront">
                <a:rot lat="0" lon="0" rev="0"/>
              </a:camera>
              <a:lightRig rig="sunset" dir="t"/>
            </a:scene3d>
            <a:sp3d extrusionH="76200" contourW="12700" prstMaterial="clear">
              <a:bevelT/>
              <a:bevelB w="0" h="0"/>
              <a:extrusionClr>
                <a:schemeClr val="tx2">
                  <a:lumMod val="10000"/>
                  <a:lumOff val="90000"/>
                </a:schemeClr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>
                    <a:alpha val="64000"/>
                  </a:schemeClr>
                </a:solidFill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5AD826F5-45D1-8D5A-501A-BCB174ABF173}"/>
                </a:ext>
              </a:extLst>
            </p:cNvPr>
            <p:cNvSpPr txBox="1"/>
            <p:nvPr/>
          </p:nvSpPr>
          <p:spPr>
            <a:xfrm>
              <a:off x="10463311" y="2784928"/>
              <a:ext cx="12468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Virtual Sequence</a:t>
              </a:r>
            </a:p>
          </p:txBody>
        </p:sp>
      </p:grp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AE7A1DA-640D-97AB-9633-71D070F057FF}"/>
              </a:ext>
            </a:extLst>
          </p:cNvPr>
          <p:cNvSpPr/>
          <p:nvPr/>
        </p:nvSpPr>
        <p:spPr>
          <a:xfrm rot="16200000" flipH="1" flipV="1">
            <a:off x="3606242" y="2165420"/>
            <a:ext cx="1312190" cy="1011496"/>
          </a:xfrm>
          <a:custGeom>
            <a:avLst/>
            <a:gdLst>
              <a:gd name="connsiteX0" fmla="*/ 0 w 1312190"/>
              <a:gd name="connsiteY0" fmla="*/ 116928 h 1011496"/>
              <a:gd name="connsiteX1" fmla="*/ 115447 w 1312190"/>
              <a:gd name="connsiteY1" fmla="*/ 1481 h 1011496"/>
              <a:gd name="connsiteX2" fmla="*/ 230894 w 1312190"/>
              <a:gd name="connsiteY2" fmla="*/ 116928 h 1011496"/>
              <a:gd name="connsiteX3" fmla="*/ 173171 w 1312190"/>
              <a:gd name="connsiteY3" fmla="*/ 116928 h 1011496"/>
              <a:gd name="connsiteX4" fmla="*/ 173171 w 1312190"/>
              <a:gd name="connsiteY4" fmla="*/ 397246 h 1011496"/>
              <a:gd name="connsiteX5" fmla="*/ 639217 w 1312190"/>
              <a:gd name="connsiteY5" fmla="*/ 397246 h 1011496"/>
              <a:gd name="connsiteX6" fmla="*/ 639217 w 1312190"/>
              <a:gd name="connsiteY6" fmla="*/ 397243 h 1011496"/>
              <a:gd name="connsiteX7" fmla="*/ 1139019 w 1312190"/>
              <a:gd name="connsiteY7" fmla="*/ 397243 h 1011496"/>
              <a:gd name="connsiteX8" fmla="*/ 1139019 w 1312190"/>
              <a:gd name="connsiteY8" fmla="*/ 115449 h 1011496"/>
              <a:gd name="connsiteX9" fmla="*/ 1081295 w 1312190"/>
              <a:gd name="connsiteY9" fmla="*/ 115449 h 1011496"/>
              <a:gd name="connsiteX10" fmla="*/ 1196743 w 1312190"/>
              <a:gd name="connsiteY10" fmla="*/ 0 h 1011496"/>
              <a:gd name="connsiteX11" fmla="*/ 1312190 w 1312190"/>
              <a:gd name="connsiteY11" fmla="*/ 115449 h 1011496"/>
              <a:gd name="connsiteX12" fmla="*/ 1254466 w 1312190"/>
              <a:gd name="connsiteY12" fmla="*/ 115449 h 1011496"/>
              <a:gd name="connsiteX13" fmla="*/ 1254466 w 1312190"/>
              <a:gd name="connsiteY13" fmla="*/ 513915 h 1011496"/>
              <a:gd name="connsiteX14" fmla="*/ 1246000 w 1312190"/>
              <a:gd name="connsiteY14" fmla="*/ 513915 h 1011496"/>
              <a:gd name="connsiteX15" fmla="*/ 1246000 w 1312190"/>
              <a:gd name="connsiteY15" fmla="*/ 516940 h 1011496"/>
              <a:gd name="connsiteX16" fmla="*/ 778347 w 1312190"/>
              <a:gd name="connsiteY16" fmla="*/ 516940 h 1011496"/>
              <a:gd name="connsiteX17" fmla="*/ 778347 w 1312190"/>
              <a:gd name="connsiteY17" fmla="*/ 1011496 h 1011496"/>
              <a:gd name="connsiteX18" fmla="*/ 658650 w 1312190"/>
              <a:gd name="connsiteY18" fmla="*/ 1011496 h 1011496"/>
              <a:gd name="connsiteX19" fmla="*/ 658650 w 1312190"/>
              <a:gd name="connsiteY19" fmla="*/ 516943 h 1011496"/>
              <a:gd name="connsiteX20" fmla="*/ 92374 w 1312190"/>
              <a:gd name="connsiteY20" fmla="*/ 516943 h 1011496"/>
              <a:gd name="connsiteX21" fmla="*/ 92374 w 1312190"/>
              <a:gd name="connsiteY21" fmla="*/ 515394 h 1011496"/>
              <a:gd name="connsiteX22" fmla="*/ 57724 w 1312190"/>
              <a:gd name="connsiteY22" fmla="*/ 515394 h 1011496"/>
              <a:gd name="connsiteX23" fmla="*/ 57724 w 1312190"/>
              <a:gd name="connsiteY23" fmla="*/ 116928 h 101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312190" h="1011496">
                <a:moveTo>
                  <a:pt x="0" y="116928"/>
                </a:moveTo>
                <a:lnTo>
                  <a:pt x="115447" y="1481"/>
                </a:lnTo>
                <a:lnTo>
                  <a:pt x="230894" y="116928"/>
                </a:lnTo>
                <a:lnTo>
                  <a:pt x="173171" y="116928"/>
                </a:lnTo>
                <a:lnTo>
                  <a:pt x="173171" y="397246"/>
                </a:lnTo>
                <a:lnTo>
                  <a:pt x="639217" y="397246"/>
                </a:lnTo>
                <a:lnTo>
                  <a:pt x="639217" y="397243"/>
                </a:lnTo>
                <a:lnTo>
                  <a:pt x="1139019" y="397243"/>
                </a:lnTo>
                <a:lnTo>
                  <a:pt x="1139019" y="115449"/>
                </a:lnTo>
                <a:lnTo>
                  <a:pt x="1081295" y="115449"/>
                </a:lnTo>
                <a:lnTo>
                  <a:pt x="1196743" y="0"/>
                </a:lnTo>
                <a:lnTo>
                  <a:pt x="1312190" y="115449"/>
                </a:lnTo>
                <a:lnTo>
                  <a:pt x="1254466" y="115449"/>
                </a:lnTo>
                <a:lnTo>
                  <a:pt x="1254466" y="513915"/>
                </a:lnTo>
                <a:lnTo>
                  <a:pt x="1246000" y="513915"/>
                </a:lnTo>
                <a:lnTo>
                  <a:pt x="1246000" y="516940"/>
                </a:lnTo>
                <a:lnTo>
                  <a:pt x="778347" y="516940"/>
                </a:lnTo>
                <a:lnTo>
                  <a:pt x="778347" y="1011496"/>
                </a:lnTo>
                <a:lnTo>
                  <a:pt x="658650" y="1011496"/>
                </a:lnTo>
                <a:lnTo>
                  <a:pt x="658650" y="516943"/>
                </a:lnTo>
                <a:lnTo>
                  <a:pt x="92374" y="516943"/>
                </a:lnTo>
                <a:lnTo>
                  <a:pt x="92374" y="515394"/>
                </a:lnTo>
                <a:lnTo>
                  <a:pt x="57724" y="515394"/>
                </a:lnTo>
                <a:lnTo>
                  <a:pt x="57724" y="116928"/>
                </a:lnTo>
                <a:close/>
              </a:path>
            </a:pathLst>
          </a:cu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169CCD-3368-400A-66E4-061C1A8A2D12}"/>
              </a:ext>
            </a:extLst>
          </p:cNvPr>
          <p:cNvSpPr/>
          <p:nvPr/>
        </p:nvSpPr>
        <p:spPr>
          <a:xfrm>
            <a:off x="874337" y="1776547"/>
            <a:ext cx="3342951" cy="27206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>
            <a:glow rad="63500">
              <a:schemeClr val="bg2">
                <a:lumMod val="90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3ECF92-7868-5F39-174F-FC7B7A1A8113}"/>
              </a:ext>
            </a:extLst>
          </p:cNvPr>
          <p:cNvSpPr txBox="1"/>
          <p:nvPr/>
        </p:nvSpPr>
        <p:spPr>
          <a:xfrm>
            <a:off x="1286513" y="1904569"/>
            <a:ext cx="2148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alpha val="64000"/>
                  </a:schemeClr>
                </a:solidFill>
              </a:rPr>
              <a:t>ALU AGENT</a:t>
            </a: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ABABC0F2-CE65-7676-9115-E62B123172D5}"/>
              </a:ext>
            </a:extLst>
          </p:cNvPr>
          <p:cNvSpPr/>
          <p:nvPr/>
        </p:nvSpPr>
        <p:spPr>
          <a:xfrm rot="5400000" flipV="1">
            <a:off x="6678641" y="2222924"/>
            <a:ext cx="1312190" cy="1011496"/>
          </a:xfrm>
          <a:custGeom>
            <a:avLst/>
            <a:gdLst>
              <a:gd name="connsiteX0" fmla="*/ 0 w 1312190"/>
              <a:gd name="connsiteY0" fmla="*/ 116928 h 1011496"/>
              <a:gd name="connsiteX1" fmla="*/ 115447 w 1312190"/>
              <a:gd name="connsiteY1" fmla="*/ 1481 h 1011496"/>
              <a:gd name="connsiteX2" fmla="*/ 230894 w 1312190"/>
              <a:gd name="connsiteY2" fmla="*/ 116928 h 1011496"/>
              <a:gd name="connsiteX3" fmla="*/ 173171 w 1312190"/>
              <a:gd name="connsiteY3" fmla="*/ 116928 h 1011496"/>
              <a:gd name="connsiteX4" fmla="*/ 173171 w 1312190"/>
              <a:gd name="connsiteY4" fmla="*/ 397246 h 1011496"/>
              <a:gd name="connsiteX5" fmla="*/ 639217 w 1312190"/>
              <a:gd name="connsiteY5" fmla="*/ 397246 h 1011496"/>
              <a:gd name="connsiteX6" fmla="*/ 639217 w 1312190"/>
              <a:gd name="connsiteY6" fmla="*/ 397243 h 1011496"/>
              <a:gd name="connsiteX7" fmla="*/ 1139019 w 1312190"/>
              <a:gd name="connsiteY7" fmla="*/ 397243 h 1011496"/>
              <a:gd name="connsiteX8" fmla="*/ 1139019 w 1312190"/>
              <a:gd name="connsiteY8" fmla="*/ 115449 h 1011496"/>
              <a:gd name="connsiteX9" fmla="*/ 1081295 w 1312190"/>
              <a:gd name="connsiteY9" fmla="*/ 115449 h 1011496"/>
              <a:gd name="connsiteX10" fmla="*/ 1196743 w 1312190"/>
              <a:gd name="connsiteY10" fmla="*/ 0 h 1011496"/>
              <a:gd name="connsiteX11" fmla="*/ 1312190 w 1312190"/>
              <a:gd name="connsiteY11" fmla="*/ 115449 h 1011496"/>
              <a:gd name="connsiteX12" fmla="*/ 1254466 w 1312190"/>
              <a:gd name="connsiteY12" fmla="*/ 115449 h 1011496"/>
              <a:gd name="connsiteX13" fmla="*/ 1254466 w 1312190"/>
              <a:gd name="connsiteY13" fmla="*/ 513915 h 1011496"/>
              <a:gd name="connsiteX14" fmla="*/ 1246000 w 1312190"/>
              <a:gd name="connsiteY14" fmla="*/ 513915 h 1011496"/>
              <a:gd name="connsiteX15" fmla="*/ 1246000 w 1312190"/>
              <a:gd name="connsiteY15" fmla="*/ 516940 h 1011496"/>
              <a:gd name="connsiteX16" fmla="*/ 778347 w 1312190"/>
              <a:gd name="connsiteY16" fmla="*/ 516940 h 1011496"/>
              <a:gd name="connsiteX17" fmla="*/ 778347 w 1312190"/>
              <a:gd name="connsiteY17" fmla="*/ 1011496 h 1011496"/>
              <a:gd name="connsiteX18" fmla="*/ 658650 w 1312190"/>
              <a:gd name="connsiteY18" fmla="*/ 1011496 h 1011496"/>
              <a:gd name="connsiteX19" fmla="*/ 658650 w 1312190"/>
              <a:gd name="connsiteY19" fmla="*/ 516943 h 1011496"/>
              <a:gd name="connsiteX20" fmla="*/ 92374 w 1312190"/>
              <a:gd name="connsiteY20" fmla="*/ 516943 h 1011496"/>
              <a:gd name="connsiteX21" fmla="*/ 92374 w 1312190"/>
              <a:gd name="connsiteY21" fmla="*/ 515394 h 1011496"/>
              <a:gd name="connsiteX22" fmla="*/ 57724 w 1312190"/>
              <a:gd name="connsiteY22" fmla="*/ 515394 h 1011496"/>
              <a:gd name="connsiteX23" fmla="*/ 57724 w 1312190"/>
              <a:gd name="connsiteY23" fmla="*/ 116928 h 101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312190" h="1011496">
                <a:moveTo>
                  <a:pt x="0" y="116928"/>
                </a:moveTo>
                <a:lnTo>
                  <a:pt x="115447" y="1481"/>
                </a:lnTo>
                <a:lnTo>
                  <a:pt x="230894" y="116928"/>
                </a:lnTo>
                <a:lnTo>
                  <a:pt x="173171" y="116928"/>
                </a:lnTo>
                <a:lnTo>
                  <a:pt x="173171" y="397246"/>
                </a:lnTo>
                <a:lnTo>
                  <a:pt x="639217" y="397246"/>
                </a:lnTo>
                <a:lnTo>
                  <a:pt x="639217" y="397243"/>
                </a:lnTo>
                <a:lnTo>
                  <a:pt x="1139019" y="397243"/>
                </a:lnTo>
                <a:lnTo>
                  <a:pt x="1139019" y="115449"/>
                </a:lnTo>
                <a:lnTo>
                  <a:pt x="1081295" y="115449"/>
                </a:lnTo>
                <a:lnTo>
                  <a:pt x="1196743" y="0"/>
                </a:lnTo>
                <a:lnTo>
                  <a:pt x="1312190" y="115449"/>
                </a:lnTo>
                <a:lnTo>
                  <a:pt x="1254466" y="115449"/>
                </a:lnTo>
                <a:lnTo>
                  <a:pt x="1254466" y="513915"/>
                </a:lnTo>
                <a:lnTo>
                  <a:pt x="1246000" y="513915"/>
                </a:lnTo>
                <a:lnTo>
                  <a:pt x="1246000" y="516940"/>
                </a:lnTo>
                <a:lnTo>
                  <a:pt x="778347" y="516940"/>
                </a:lnTo>
                <a:lnTo>
                  <a:pt x="778347" y="1011496"/>
                </a:lnTo>
                <a:lnTo>
                  <a:pt x="658650" y="1011496"/>
                </a:lnTo>
                <a:lnTo>
                  <a:pt x="658650" y="516943"/>
                </a:lnTo>
                <a:lnTo>
                  <a:pt x="92374" y="516943"/>
                </a:lnTo>
                <a:lnTo>
                  <a:pt x="92374" y="515394"/>
                </a:lnTo>
                <a:lnTo>
                  <a:pt x="57724" y="515394"/>
                </a:lnTo>
                <a:lnTo>
                  <a:pt x="57724" y="116928"/>
                </a:lnTo>
                <a:close/>
              </a:path>
            </a:pathLst>
          </a:cu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1E12BA-C0A2-FAE5-E7EF-9FBC72574B93}"/>
              </a:ext>
            </a:extLst>
          </p:cNvPr>
          <p:cNvSpPr/>
          <p:nvPr/>
        </p:nvSpPr>
        <p:spPr>
          <a:xfrm>
            <a:off x="4628161" y="1470657"/>
            <a:ext cx="2336843" cy="119966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glow rad="101600">
              <a:srgbClr val="C00000">
                <a:alpha val="60000"/>
              </a:srgb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883CD7F-FA98-41E5-356D-52D60755AE72}"/>
              </a:ext>
            </a:extLst>
          </p:cNvPr>
          <p:cNvSpPr/>
          <p:nvPr/>
        </p:nvSpPr>
        <p:spPr>
          <a:xfrm>
            <a:off x="4628162" y="2857573"/>
            <a:ext cx="2336842" cy="91697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glow rad="101600">
              <a:srgbClr val="C00000">
                <a:alpha val="60000"/>
              </a:srgb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Coverage Collector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6CBAE8B-8796-C7AD-8F1D-7D370C996686}"/>
              </a:ext>
            </a:extLst>
          </p:cNvPr>
          <p:cNvSpPr/>
          <p:nvPr/>
        </p:nvSpPr>
        <p:spPr>
          <a:xfrm>
            <a:off x="4702539" y="2049329"/>
            <a:ext cx="920402" cy="5228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tx1"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Predictor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3271213-E806-5A02-5C80-40D947863A3C}"/>
              </a:ext>
            </a:extLst>
          </p:cNvPr>
          <p:cNvSpPr/>
          <p:nvPr/>
        </p:nvSpPr>
        <p:spPr>
          <a:xfrm>
            <a:off x="5736798" y="2052968"/>
            <a:ext cx="1124804" cy="5228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tx1"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Comparator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81A164C-E177-AF0A-3743-348D3F2A5111}"/>
              </a:ext>
            </a:extLst>
          </p:cNvPr>
          <p:cNvSpPr/>
          <p:nvPr/>
        </p:nvSpPr>
        <p:spPr>
          <a:xfrm>
            <a:off x="7442635" y="1849093"/>
            <a:ext cx="2992977" cy="278784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>
            <a:glow rad="63500">
              <a:schemeClr val="bg2">
                <a:lumMod val="90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B3B0F3C8-7088-2C1E-FE57-E39C07D4BFBA}"/>
              </a:ext>
            </a:extLst>
          </p:cNvPr>
          <p:cNvGrpSpPr/>
          <p:nvPr/>
        </p:nvGrpSpPr>
        <p:grpSpPr>
          <a:xfrm>
            <a:off x="7600383" y="2692765"/>
            <a:ext cx="2794478" cy="1788449"/>
            <a:chOff x="9026020" y="2600763"/>
            <a:chExt cx="2794478" cy="1788449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DF9C67B-EB32-E383-D79A-C8F09031DD56}"/>
                </a:ext>
              </a:extLst>
            </p:cNvPr>
            <p:cNvSpPr/>
            <p:nvPr/>
          </p:nvSpPr>
          <p:spPr>
            <a:xfrm>
              <a:off x="10505330" y="3770159"/>
              <a:ext cx="1090351" cy="587307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>
              <a:glow rad="101600">
                <a:schemeClr val="accent6">
                  <a:lumMod val="50000"/>
                  <a:alpha val="60000"/>
                </a:schemeClr>
              </a:glow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DRIVER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61BF3DD-CE9A-7C37-7F25-67590DB2C1DB}"/>
                </a:ext>
              </a:extLst>
            </p:cNvPr>
            <p:cNvSpPr/>
            <p:nvPr/>
          </p:nvSpPr>
          <p:spPr>
            <a:xfrm>
              <a:off x="9026020" y="3703907"/>
              <a:ext cx="1370514" cy="68530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MONITOR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B6DEE4F-4520-BFFB-DE73-843AEAE9803B}"/>
                </a:ext>
              </a:extLst>
            </p:cNvPr>
            <p:cNvSpPr/>
            <p:nvPr/>
          </p:nvSpPr>
          <p:spPr>
            <a:xfrm>
              <a:off x="10325781" y="2600763"/>
              <a:ext cx="1494717" cy="55734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Sequence</a:t>
              </a:r>
            </a:p>
          </p:txBody>
        </p:sp>
        <p:sp>
          <p:nvSpPr>
            <p:cNvPr id="57" name="Arrow: Down 56">
              <a:extLst>
                <a:ext uri="{FF2B5EF4-FFF2-40B4-BE49-F238E27FC236}">
                  <a16:creationId xmlns:a16="http://schemas.microsoft.com/office/drawing/2014/main" id="{5B5E69F0-4DD1-0232-FC84-3623DBC6F8C2}"/>
                </a:ext>
              </a:extLst>
            </p:cNvPr>
            <p:cNvSpPr/>
            <p:nvPr/>
          </p:nvSpPr>
          <p:spPr>
            <a:xfrm>
              <a:off x="10966998" y="3137122"/>
              <a:ext cx="212280" cy="685305"/>
            </a:xfrm>
            <a:prstGeom prst="downArrow">
              <a:avLst/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ED92454-AB0C-B8D0-A232-7ED7E42E003D}"/>
                </a:ext>
              </a:extLst>
            </p:cNvPr>
            <p:cNvSpPr/>
            <p:nvPr/>
          </p:nvSpPr>
          <p:spPr>
            <a:xfrm>
              <a:off x="10413640" y="3288724"/>
              <a:ext cx="1273730" cy="29741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glow rad="63500">
                <a:schemeClr val="accent1"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Sequencer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CC88C03A-884B-CF6F-E7A2-6643C84E12BB}"/>
              </a:ext>
            </a:extLst>
          </p:cNvPr>
          <p:cNvSpPr txBox="1"/>
          <p:nvPr/>
        </p:nvSpPr>
        <p:spPr>
          <a:xfrm>
            <a:off x="7993308" y="1931689"/>
            <a:ext cx="1955177" cy="426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alpha val="64000"/>
                  </a:schemeClr>
                </a:solidFill>
              </a:rPr>
              <a:t>RST AGENT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8731E3F-0BEC-057C-5F1A-CB9CCD7FD93F}"/>
              </a:ext>
            </a:extLst>
          </p:cNvPr>
          <p:cNvSpPr txBox="1"/>
          <p:nvPr/>
        </p:nvSpPr>
        <p:spPr>
          <a:xfrm>
            <a:off x="4732420" y="1528584"/>
            <a:ext cx="2148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alpha val="64000"/>
                  </a:schemeClr>
                </a:solidFill>
              </a:rPr>
              <a:t>SCOREBOARD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9B1B9D21-820E-1803-47A8-DB3EC2E22BB2}"/>
              </a:ext>
            </a:extLst>
          </p:cNvPr>
          <p:cNvGrpSpPr/>
          <p:nvPr/>
        </p:nvGrpSpPr>
        <p:grpSpPr>
          <a:xfrm>
            <a:off x="1565031" y="2761443"/>
            <a:ext cx="2219163" cy="883834"/>
            <a:chOff x="2343545" y="2904566"/>
            <a:chExt cx="2219163" cy="883834"/>
          </a:xfrm>
        </p:grpSpPr>
        <p:cxnSp>
          <p:nvCxnSpPr>
            <p:cNvPr id="127" name="Connector: Curved 126">
              <a:extLst>
                <a:ext uri="{FF2B5EF4-FFF2-40B4-BE49-F238E27FC236}">
                  <a16:creationId xmlns:a16="http://schemas.microsoft.com/office/drawing/2014/main" id="{941AA490-64DD-76A0-3988-5B450C1B5F9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343545" y="3478263"/>
              <a:ext cx="2219163" cy="190744"/>
            </a:xfrm>
            <a:prstGeom prst="curvedConnector3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673FE1C8-9C76-A514-CDBB-C961CEF79B2B}"/>
                </a:ext>
              </a:extLst>
            </p:cNvPr>
            <p:cNvGrpSpPr/>
            <p:nvPr/>
          </p:nvGrpSpPr>
          <p:grpSpPr>
            <a:xfrm>
              <a:off x="2791741" y="2904566"/>
              <a:ext cx="1770967" cy="883834"/>
              <a:chOff x="2791741" y="2904566"/>
              <a:chExt cx="1770967" cy="883834"/>
            </a:xfrm>
          </p:grpSpPr>
          <p:cxnSp>
            <p:nvCxnSpPr>
              <p:cNvPr id="119" name="Connector: Curved 118">
                <a:extLst>
                  <a:ext uri="{FF2B5EF4-FFF2-40B4-BE49-F238E27FC236}">
                    <a16:creationId xmlns:a16="http://schemas.microsoft.com/office/drawing/2014/main" id="{0BB20F20-0BC8-A133-0F5F-B2735311F1BD}"/>
                  </a:ext>
                </a:extLst>
              </p:cNvPr>
              <p:cNvCxnSpPr/>
              <p:nvPr/>
            </p:nvCxnSpPr>
            <p:spPr>
              <a:xfrm rot="10800000">
                <a:off x="2987479" y="2904566"/>
                <a:ext cx="1575228" cy="477841"/>
              </a:xfrm>
              <a:prstGeom prst="curvedConnector3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21" name="Connector: Curved 120">
                <a:extLst>
                  <a:ext uri="{FF2B5EF4-FFF2-40B4-BE49-F238E27FC236}">
                    <a16:creationId xmlns:a16="http://schemas.microsoft.com/office/drawing/2014/main" id="{1A7A5C72-D80D-0296-517B-B52A101A15A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791741" y="3362494"/>
                <a:ext cx="1760360" cy="81261"/>
              </a:xfrm>
              <a:prstGeom prst="curvedConnector3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29" name="Connector: Curved 128">
                <a:extLst>
                  <a:ext uri="{FF2B5EF4-FFF2-40B4-BE49-F238E27FC236}">
                    <a16:creationId xmlns:a16="http://schemas.microsoft.com/office/drawing/2014/main" id="{A8D1270C-550C-1182-544F-475FCEDA683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37938" y="3588386"/>
                <a:ext cx="249882" cy="150146"/>
              </a:xfrm>
              <a:prstGeom prst="curvedConnector3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34" name="Connector: Curved 133">
                <a:extLst>
                  <a:ext uri="{FF2B5EF4-FFF2-40B4-BE49-F238E27FC236}">
                    <a16:creationId xmlns:a16="http://schemas.microsoft.com/office/drawing/2014/main" id="{13773607-22DC-C8F6-A7A8-33C240F99A6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3568309" y="3505453"/>
                <a:ext cx="994399" cy="170359"/>
              </a:xfrm>
              <a:prstGeom prst="curvedConnector3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0EA8776-2A4D-AD71-1DD9-6797F52F6954}"/>
              </a:ext>
            </a:extLst>
          </p:cNvPr>
          <p:cNvGrpSpPr/>
          <p:nvPr/>
        </p:nvGrpSpPr>
        <p:grpSpPr>
          <a:xfrm>
            <a:off x="892143" y="2482231"/>
            <a:ext cx="2181777" cy="1726823"/>
            <a:chOff x="2087017" y="2174643"/>
            <a:chExt cx="2328934" cy="172682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767A57-E0B5-816F-6907-E416FA2849BF}"/>
                </a:ext>
              </a:extLst>
            </p:cNvPr>
            <p:cNvSpPr/>
            <p:nvPr/>
          </p:nvSpPr>
          <p:spPr>
            <a:xfrm>
              <a:off x="2183575" y="3286111"/>
              <a:ext cx="1003054" cy="550959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>
              <a:glow rad="101600">
                <a:schemeClr val="accent6">
                  <a:lumMod val="50000"/>
                  <a:alpha val="60000"/>
                </a:schemeClr>
              </a:glow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DRIVER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D675271-D391-9F2C-054C-0EDF65B52855}"/>
                </a:ext>
              </a:extLst>
            </p:cNvPr>
            <p:cNvSpPr/>
            <p:nvPr/>
          </p:nvSpPr>
          <p:spPr>
            <a:xfrm>
              <a:off x="2087017" y="2174643"/>
              <a:ext cx="1642770" cy="52285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Sequence</a:t>
              </a:r>
            </a:p>
          </p:txBody>
        </p:sp>
        <p:sp>
          <p:nvSpPr>
            <p:cNvPr id="20" name="Arrow: Down 19">
              <a:extLst>
                <a:ext uri="{FF2B5EF4-FFF2-40B4-BE49-F238E27FC236}">
                  <a16:creationId xmlns:a16="http://schemas.microsoft.com/office/drawing/2014/main" id="{F7C1E7C8-C1EF-3B00-AF16-722A937F4219}"/>
                </a:ext>
              </a:extLst>
            </p:cNvPr>
            <p:cNvSpPr/>
            <p:nvPr/>
          </p:nvSpPr>
          <p:spPr>
            <a:xfrm>
              <a:off x="2416844" y="2677807"/>
              <a:ext cx="233307" cy="642892"/>
            </a:xfrm>
            <a:prstGeom prst="downArrow">
              <a:avLst/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6A54493-7D4B-7798-FB38-EADB7C73AFF8}"/>
                </a:ext>
              </a:extLst>
            </p:cNvPr>
            <p:cNvSpPr/>
            <p:nvPr/>
          </p:nvSpPr>
          <p:spPr>
            <a:xfrm>
              <a:off x="2171697" y="2819071"/>
              <a:ext cx="1268831" cy="27901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glow rad="63500">
                <a:schemeClr val="accent1"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Sequencer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A68E6A4-789E-3EB3-1C4F-EF02D64753AE}"/>
                </a:ext>
              </a:extLst>
            </p:cNvPr>
            <p:cNvSpPr/>
            <p:nvPr/>
          </p:nvSpPr>
          <p:spPr>
            <a:xfrm>
              <a:off x="3237128" y="3258574"/>
              <a:ext cx="1178823" cy="64289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INPUT MONITOR</a:t>
              </a:r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740BEBCE-D689-3DF1-E56F-EAC95526E3B2}"/>
              </a:ext>
            </a:extLst>
          </p:cNvPr>
          <p:cNvSpPr/>
          <p:nvPr/>
        </p:nvSpPr>
        <p:spPr>
          <a:xfrm>
            <a:off x="3107444" y="3572456"/>
            <a:ext cx="1096105" cy="64289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OUTPUT MONITOR</a:t>
            </a:r>
          </a:p>
        </p:txBody>
      </p:sp>
      <p:sp>
        <p:nvSpPr>
          <p:cNvPr id="75" name="Arrow: Down 74">
            <a:extLst>
              <a:ext uri="{FF2B5EF4-FFF2-40B4-BE49-F238E27FC236}">
                <a16:creationId xmlns:a16="http://schemas.microsoft.com/office/drawing/2014/main" id="{EBBE2552-04E1-7F60-5FA5-F78EE05486EA}"/>
              </a:ext>
            </a:extLst>
          </p:cNvPr>
          <p:cNvSpPr/>
          <p:nvPr/>
        </p:nvSpPr>
        <p:spPr>
          <a:xfrm flipH="1" flipV="1">
            <a:off x="2575805" y="4309837"/>
            <a:ext cx="233307" cy="872512"/>
          </a:xfrm>
          <a:prstGeom prst="downArrow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888946B5-B098-2B8A-F5F6-5492D8F78B5B}"/>
              </a:ext>
            </a:extLst>
          </p:cNvPr>
          <p:cNvSpPr/>
          <p:nvPr/>
        </p:nvSpPr>
        <p:spPr>
          <a:xfrm flipH="1" flipV="1">
            <a:off x="1608442" y="4259954"/>
            <a:ext cx="274573" cy="955093"/>
          </a:xfrm>
          <a:prstGeom prst="downArrow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Arrow: Down 76">
            <a:extLst>
              <a:ext uri="{FF2B5EF4-FFF2-40B4-BE49-F238E27FC236}">
                <a16:creationId xmlns:a16="http://schemas.microsoft.com/office/drawing/2014/main" id="{6E7A7D4D-4931-BCA6-76D4-4A1236130104}"/>
              </a:ext>
            </a:extLst>
          </p:cNvPr>
          <p:cNvSpPr/>
          <p:nvPr/>
        </p:nvSpPr>
        <p:spPr>
          <a:xfrm>
            <a:off x="1266500" y="4287179"/>
            <a:ext cx="274573" cy="935643"/>
          </a:xfrm>
          <a:prstGeom prst="downArrow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0F2F140-CCA4-B8A0-26DF-93537E7EAB7F}"/>
              </a:ext>
            </a:extLst>
          </p:cNvPr>
          <p:cNvSpPr/>
          <p:nvPr/>
        </p:nvSpPr>
        <p:spPr>
          <a:xfrm>
            <a:off x="1034332" y="5271551"/>
            <a:ext cx="3711900" cy="282051"/>
          </a:xfrm>
          <a:prstGeom prst="rect">
            <a:avLst/>
          </a:prstGeom>
          <a:solidFill>
            <a:srgbClr val="660033"/>
          </a:solidFill>
          <a:ln>
            <a:solidFill>
              <a:srgbClr val="660033"/>
            </a:solidFill>
          </a:ln>
          <a:effectLst>
            <a:glow rad="101600">
              <a:srgbClr val="660033">
                <a:alpha val="40000"/>
              </a:srgb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C4DBF54-FE75-9353-9AF9-3EA629B59D6D}"/>
              </a:ext>
            </a:extLst>
          </p:cNvPr>
          <p:cNvSpPr txBox="1"/>
          <p:nvPr/>
        </p:nvSpPr>
        <p:spPr>
          <a:xfrm>
            <a:off x="1492057" y="5239147"/>
            <a:ext cx="2492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Virtual Interface</a:t>
            </a:r>
          </a:p>
        </p:txBody>
      </p:sp>
      <p:sp>
        <p:nvSpPr>
          <p:cNvPr id="84" name="Arrow: Down 83">
            <a:extLst>
              <a:ext uri="{FF2B5EF4-FFF2-40B4-BE49-F238E27FC236}">
                <a16:creationId xmlns:a16="http://schemas.microsoft.com/office/drawing/2014/main" id="{F4AFCC29-6357-2FD8-1DEE-3ED9525A8BAC}"/>
              </a:ext>
            </a:extLst>
          </p:cNvPr>
          <p:cNvSpPr/>
          <p:nvPr/>
        </p:nvSpPr>
        <p:spPr>
          <a:xfrm flipH="1" flipV="1">
            <a:off x="3783609" y="4338685"/>
            <a:ext cx="233307" cy="859501"/>
          </a:xfrm>
          <a:prstGeom prst="downArrow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Arrow: Down 85">
            <a:extLst>
              <a:ext uri="{FF2B5EF4-FFF2-40B4-BE49-F238E27FC236}">
                <a16:creationId xmlns:a16="http://schemas.microsoft.com/office/drawing/2014/main" id="{C8BE05C7-F437-A42D-6B6A-A4AD8F9AFA3B}"/>
              </a:ext>
            </a:extLst>
          </p:cNvPr>
          <p:cNvSpPr/>
          <p:nvPr/>
        </p:nvSpPr>
        <p:spPr>
          <a:xfrm flipH="1" flipV="1">
            <a:off x="8137956" y="4522050"/>
            <a:ext cx="274573" cy="706551"/>
          </a:xfrm>
          <a:prstGeom prst="downArrow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Arrow: Down 86">
            <a:extLst>
              <a:ext uri="{FF2B5EF4-FFF2-40B4-BE49-F238E27FC236}">
                <a16:creationId xmlns:a16="http://schemas.microsoft.com/office/drawing/2014/main" id="{31C038FD-8FB1-1B6E-24C8-2E438FE2A703}"/>
              </a:ext>
            </a:extLst>
          </p:cNvPr>
          <p:cNvSpPr/>
          <p:nvPr/>
        </p:nvSpPr>
        <p:spPr>
          <a:xfrm>
            <a:off x="9530964" y="4557864"/>
            <a:ext cx="274573" cy="699919"/>
          </a:xfrm>
          <a:prstGeom prst="downArrow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Arrow: Up-Down 87">
            <a:extLst>
              <a:ext uri="{FF2B5EF4-FFF2-40B4-BE49-F238E27FC236}">
                <a16:creationId xmlns:a16="http://schemas.microsoft.com/office/drawing/2014/main" id="{5FE0CE96-0CA7-3446-AC3A-06690949E026}"/>
              </a:ext>
            </a:extLst>
          </p:cNvPr>
          <p:cNvSpPr/>
          <p:nvPr/>
        </p:nvSpPr>
        <p:spPr>
          <a:xfrm>
            <a:off x="8800694" y="5530871"/>
            <a:ext cx="223866" cy="457884"/>
          </a:xfrm>
          <a:prstGeom prst="up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C0DF5D97-DBD8-15E1-B761-EBABE5CFF5B3}"/>
              </a:ext>
            </a:extLst>
          </p:cNvPr>
          <p:cNvGrpSpPr/>
          <p:nvPr/>
        </p:nvGrpSpPr>
        <p:grpSpPr>
          <a:xfrm>
            <a:off x="7460975" y="5232549"/>
            <a:ext cx="3038394" cy="338554"/>
            <a:chOff x="9056960" y="8089924"/>
            <a:chExt cx="3038394" cy="338554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61E4D62-5E7B-1BEB-4ACC-F69763BC2616}"/>
                </a:ext>
              </a:extLst>
            </p:cNvPr>
            <p:cNvSpPr/>
            <p:nvPr/>
          </p:nvSpPr>
          <p:spPr>
            <a:xfrm>
              <a:off x="9056960" y="8122328"/>
              <a:ext cx="3038394" cy="282051"/>
            </a:xfrm>
            <a:prstGeom prst="rect">
              <a:avLst/>
            </a:prstGeom>
            <a:solidFill>
              <a:srgbClr val="660033"/>
            </a:solidFill>
            <a:ln>
              <a:solidFill>
                <a:srgbClr val="660033"/>
              </a:solidFill>
            </a:ln>
            <a:effectLst>
              <a:glow rad="101600">
                <a:srgbClr val="660033">
                  <a:alpha val="40000"/>
                </a:srgbClr>
              </a:glow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26A84B2-6F7A-AB70-CC8E-B0E371183EDA}"/>
                </a:ext>
              </a:extLst>
            </p:cNvPr>
            <p:cNvSpPr txBox="1"/>
            <p:nvPr/>
          </p:nvSpPr>
          <p:spPr>
            <a:xfrm>
              <a:off x="9364858" y="8089924"/>
              <a:ext cx="24928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Virtual Interface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64D3791-1045-FC24-AAAC-CC4103EE6E92}"/>
              </a:ext>
            </a:extLst>
          </p:cNvPr>
          <p:cNvGrpSpPr/>
          <p:nvPr/>
        </p:nvGrpSpPr>
        <p:grpSpPr>
          <a:xfrm>
            <a:off x="7806654" y="5964666"/>
            <a:ext cx="2240909" cy="338554"/>
            <a:chOff x="2010737" y="5642752"/>
            <a:chExt cx="2240909" cy="338554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FC7ACB29-F739-0B30-594D-501C8ABAB635}"/>
                </a:ext>
              </a:extLst>
            </p:cNvPr>
            <p:cNvSpPr/>
            <p:nvPr/>
          </p:nvSpPr>
          <p:spPr>
            <a:xfrm>
              <a:off x="2053064" y="5644341"/>
              <a:ext cx="2198582" cy="28205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713F6C2-62CA-B95C-27E8-897A98347D43}"/>
                </a:ext>
              </a:extLst>
            </p:cNvPr>
            <p:cNvSpPr txBox="1"/>
            <p:nvPr/>
          </p:nvSpPr>
          <p:spPr>
            <a:xfrm>
              <a:off x="2010737" y="5642752"/>
              <a:ext cx="2190541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RST Interface</a:t>
              </a:r>
            </a:p>
          </p:txBody>
        </p:sp>
      </p:grpSp>
      <p:sp>
        <p:nvSpPr>
          <p:cNvPr id="161" name="Rectangle 160">
            <a:extLst>
              <a:ext uri="{FF2B5EF4-FFF2-40B4-BE49-F238E27FC236}">
                <a16:creationId xmlns:a16="http://schemas.microsoft.com/office/drawing/2014/main" id="{CCD85B1A-98E6-67C3-E3EC-D7BD8E84AE06}"/>
              </a:ext>
            </a:extLst>
          </p:cNvPr>
          <p:cNvSpPr/>
          <p:nvPr/>
        </p:nvSpPr>
        <p:spPr>
          <a:xfrm>
            <a:off x="4615643" y="4220279"/>
            <a:ext cx="2472041" cy="5228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tx1"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Virtual Sequencer</a:t>
            </a:r>
          </a:p>
        </p:txBody>
      </p:sp>
    </p:spTree>
    <p:extLst>
      <p:ext uri="{BB962C8B-B14F-4D97-AF65-F5344CB8AC3E}">
        <p14:creationId xmlns:p14="http://schemas.microsoft.com/office/powerpoint/2010/main" val="3883111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21" grpId="0" animBg="1"/>
      <p:bldP spid="13" grpId="0" animBg="1"/>
      <p:bldP spid="4" grpId="0" animBg="1"/>
      <p:bldP spid="14" grpId="0" animBg="1"/>
      <p:bldP spid="19" grpId="0" animBg="1"/>
      <p:bldP spid="126" grpId="0" animBg="1"/>
      <p:bldP spid="78" grpId="0" animBg="1"/>
      <p:bldP spid="18" grpId="0" animBg="1"/>
      <p:bldP spid="145" grpId="0" animBg="1"/>
      <p:bldP spid="30" grpId="0" animBg="1"/>
      <p:bldP spid="7" grpId="0" animBg="1"/>
      <p:bldP spid="26" grpId="0"/>
      <p:bldP spid="66" grpId="0" animBg="1"/>
      <p:bldP spid="27" grpId="0" animBg="1"/>
      <p:bldP spid="29" grpId="0" animBg="1"/>
      <p:bldP spid="31" grpId="0" animBg="1"/>
      <p:bldP spid="32" grpId="0" animBg="1"/>
      <p:bldP spid="48" grpId="0" animBg="1"/>
      <p:bldP spid="61" grpId="0"/>
      <p:bldP spid="63" grpId="0"/>
      <p:bldP spid="65" grpId="0" animBg="1"/>
      <p:bldP spid="75" grpId="0" animBg="1"/>
      <p:bldP spid="76" grpId="0" animBg="1"/>
      <p:bldP spid="77" grpId="0" animBg="1"/>
      <p:bldP spid="80" grpId="0" animBg="1"/>
      <p:bldP spid="81" grpId="0"/>
      <p:bldP spid="84" grpId="0" animBg="1"/>
      <p:bldP spid="86" grpId="0" animBg="1"/>
      <p:bldP spid="87" grpId="0" animBg="1"/>
      <p:bldP spid="88" grpId="0" animBg="1"/>
      <p:bldP spid="16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11A48-1007-A17E-6115-A7A390A14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8979" y="3990404"/>
            <a:ext cx="5021182" cy="2566528"/>
          </a:xfrm>
        </p:spPr>
        <p:txBody>
          <a:bodyPr/>
          <a:lstStyle/>
          <a:p>
            <a:pPr algn="ctr"/>
            <a:r>
              <a:rPr lang="en-US" dirty="0"/>
              <a:t>Classes?</a:t>
            </a:r>
            <a:br>
              <a:rPr lang="en-US" dirty="0"/>
            </a:br>
            <a:r>
              <a:rPr lang="en-US" dirty="0"/>
              <a:t>What do they do?</a:t>
            </a:r>
          </a:p>
        </p:txBody>
      </p:sp>
      <p:pic>
        <p:nvPicPr>
          <p:cNvPr id="5" name="Content Placeholder 4" descr="A diagram of a dog&#10;&#10;AI-generated content may be incorrect.">
            <a:extLst>
              <a:ext uri="{FF2B5EF4-FFF2-40B4-BE49-F238E27FC236}">
                <a16:creationId xmlns:a16="http://schemas.microsoft.com/office/drawing/2014/main" id="{DBCB8EDD-CB20-EBB5-7FF9-9F217B3837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37" y="823659"/>
            <a:ext cx="4870450" cy="4870450"/>
          </a:xfrm>
        </p:spPr>
      </p:pic>
      <p:pic>
        <p:nvPicPr>
          <p:cNvPr id="7" name="Picture 6" descr="A hand holding a spray object&#10;&#10;AI-generated content may be incorrect.">
            <a:extLst>
              <a:ext uri="{FF2B5EF4-FFF2-40B4-BE49-F238E27FC236}">
                <a16:creationId xmlns:a16="http://schemas.microsoft.com/office/drawing/2014/main" id="{4C1254D2-491A-E455-493C-532E36753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482" y="1231852"/>
            <a:ext cx="4106445" cy="256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637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3C41-3C7B-8D45-0F77-DB429F4F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SCOREBOARD TLM DIAGRAM</a:t>
            </a:r>
            <a:br>
              <a:rPr lang="en-US" dirty="0"/>
            </a:br>
            <a:r>
              <a:rPr lang="en-US" sz="1200" dirty="0"/>
              <a:t>The hierarchy of this scoreboard is inspired from </a:t>
            </a:r>
            <a:r>
              <a:rPr lang="en-US" sz="1200" dirty="0">
                <a:hlinkClick r:id="rId2"/>
              </a:rPr>
              <a:t>Clifford Cumming’s OVM-UVM Scoreboards-Fundamental Architectures</a:t>
            </a:r>
            <a:br>
              <a:rPr lang="en-US" sz="1200" dirty="0"/>
            </a:br>
            <a:r>
              <a:rPr lang="en-US" sz="1200" dirty="0"/>
              <a:t>The reset awareness was inspired from The published paper </a:t>
            </a:r>
            <a:r>
              <a:rPr lang="en-US" sz="1200" dirty="0">
                <a:hlinkClick r:id="rId3"/>
              </a:rPr>
              <a:t>Handling Asynchronous Reset(s) Testing by building reset-awareness into UVM testbench components  by Wei </a:t>
            </a:r>
            <a:r>
              <a:rPr lang="en-US" sz="1200" dirty="0" err="1">
                <a:hlinkClick r:id="rId3"/>
              </a:rPr>
              <a:t>Wei</a:t>
            </a:r>
            <a:r>
              <a:rPr lang="en-US" sz="1200" dirty="0">
                <a:hlinkClick r:id="rId3"/>
              </a:rPr>
              <a:t> Cheong, Katherine Garden, Ana Sanz Carretero which was previewed </a:t>
            </a:r>
            <a:r>
              <a:rPr lang="en-US" sz="900" dirty="0">
                <a:hlinkClick r:id="rId3"/>
              </a:rPr>
              <a:t>@DVCON 2021</a:t>
            </a:r>
            <a:endParaRPr lang="en-US" dirty="0"/>
          </a:p>
        </p:txBody>
      </p:sp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78670078-171E-082B-EC7E-000BAD62C4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052" y="807314"/>
            <a:ext cx="6720498" cy="5564728"/>
          </a:xfrm>
        </p:spPr>
      </p:pic>
    </p:spTree>
    <p:extLst>
      <p:ext uri="{BB962C8B-B14F-4D97-AF65-F5344CB8AC3E}">
        <p14:creationId xmlns:p14="http://schemas.microsoft.com/office/powerpoint/2010/main" val="184949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922FB-2D01-BC7C-3643-841F05152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SUBSCRIBER TLM DIAGRAM</a:t>
            </a:r>
            <a:br>
              <a:rPr lang="en-US" dirty="0"/>
            </a:br>
            <a:r>
              <a:rPr lang="en-US" sz="1200" dirty="0"/>
              <a:t>The reset awareness was inspired from The published paper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The reset awareness was inspired from The published paper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  <a:hlinkClick r:id="rId2"/>
              </a:rPr>
              <a:t>Handling Asynchronous Reset(s) Testing by building reset-awareness into UVM testbench components  by Wei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  <a:hlinkClick r:id="rId2"/>
              </a:rPr>
              <a:t>Wei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  <a:hlinkClick r:id="rId2"/>
              </a:rPr>
              <a:t> Cheong, Katherine Garden, Ana Sanz Carretero which was previewed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  <a:hlinkClick r:id="rId2"/>
              </a:rPr>
              <a:t>@DVCON 2021</a:t>
            </a:r>
            <a:endParaRPr lang="en-US" sz="1600" dirty="0"/>
          </a:p>
        </p:txBody>
      </p:sp>
      <p:pic>
        <p:nvPicPr>
          <p:cNvPr id="4" name="Content Placeholder 3" descr="A diagram of a subscriber&#10;&#10;AI-generated content may be incorrect.">
            <a:extLst>
              <a:ext uri="{FF2B5EF4-FFF2-40B4-BE49-F238E27FC236}">
                <a16:creationId xmlns:a16="http://schemas.microsoft.com/office/drawing/2014/main" id="{E6670A9D-9416-D1DF-C549-7E003CE25F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848" y="758952"/>
            <a:ext cx="6224488" cy="526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979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2C45-A869-54A0-2D56-EF3F81679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1935121"/>
          </a:xfrm>
        </p:spPr>
        <p:txBody>
          <a:bodyPr>
            <a:normAutofit fontScale="90000"/>
          </a:bodyPr>
          <a:lstStyle/>
          <a:p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ALU AGENT TLM DIAGRAM</a:t>
            </a:r>
            <a:b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</a:br>
            <a:endParaRPr lang="en-US" dirty="0"/>
          </a:p>
        </p:txBody>
      </p:sp>
      <p:pic>
        <p:nvPicPr>
          <p:cNvPr id="5" name="Content Placeholder 4" descr="A diagram of a wiring diagram&#10;&#10;AI-generated content may be incorrect.">
            <a:extLst>
              <a:ext uri="{FF2B5EF4-FFF2-40B4-BE49-F238E27FC236}">
                <a16:creationId xmlns:a16="http://schemas.microsoft.com/office/drawing/2014/main" id="{AB406499-417A-0097-E810-E60965C2FA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390" y="792300"/>
            <a:ext cx="6597421" cy="527339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E388FD-738C-5FB8-03D1-7CC57A05EA24}"/>
              </a:ext>
            </a:extLst>
          </p:cNvPr>
          <p:cNvSpPr txBox="1"/>
          <p:nvPr/>
        </p:nvSpPr>
        <p:spPr>
          <a:xfrm>
            <a:off x="304532" y="2671482"/>
            <a:ext cx="480508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The reset awareness was inspired from The published paper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  <a:hlinkClick r:id="rId3"/>
              </a:rPr>
              <a:t>Handling Asynchronous Reset(s) Testing by building reset-awareness into UVM testbench components  by Wei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  <a:hlinkClick r:id="rId3"/>
              </a:rPr>
              <a:t>Wei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  <a:hlinkClick r:id="rId3"/>
              </a:rPr>
              <a:t> Cheong, Katherine Garden, Ana Sanz Carretero which was previewed @DVCON 2021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erstadt"/>
              <a:ea typeface="+mj-ea"/>
              <a:cs typeface="+mj-cs"/>
            </a:endParaRPr>
          </a:p>
          <a:p>
            <a:endParaRPr lang="en-US" sz="1200" b="1" dirty="0">
              <a:solidFill>
                <a:srgbClr val="000000"/>
              </a:solidFill>
              <a:latin typeface="Bierstadt"/>
              <a:ea typeface="+mj-ea"/>
              <a:cs typeface="+mj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As shown in the figure, the alu agent is fully reset aware, every component is connected with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uvm</a:t>
            </a:r>
            <a:r>
              <a:rPr lang="en-US" sz="1200" b="1" dirty="0">
                <a:solidFill>
                  <a:srgbClr val="000000"/>
                </a:solidFill>
                <a:latin typeface="Bierstadt"/>
                <a:ea typeface="+mj-ea"/>
                <a:cs typeface="+mj-cs"/>
              </a:rPr>
              <a:t>_</a:t>
            </a:r>
            <a:r>
              <a:rPr lang="en-US" sz="1200" b="1" dirty="0" err="1">
                <a:solidFill>
                  <a:srgbClr val="000000"/>
                </a:solidFill>
                <a:latin typeface="Bierstadt"/>
                <a:ea typeface="+mj-ea"/>
                <a:cs typeface="+mj-cs"/>
              </a:rPr>
              <a:t>tlm_analysis_imp</a:t>
            </a:r>
            <a:r>
              <a:rPr lang="en-US" sz="1200" b="1" dirty="0">
                <a:solidFill>
                  <a:srgbClr val="000000"/>
                </a:solidFill>
                <a:latin typeface="Bierstadt"/>
                <a:ea typeface="+mj-ea"/>
                <a:cs typeface="+mj-cs"/>
              </a:rPr>
              <a:t> s to allow it to react to asynchronous reset assertion.</a:t>
            </a:r>
            <a:br>
              <a:rPr lang="en-US" sz="1200" b="1" dirty="0">
                <a:solidFill>
                  <a:srgbClr val="000000"/>
                </a:solidFill>
                <a:latin typeface="Bierstadt"/>
                <a:ea typeface="+mj-ea"/>
                <a:cs typeface="+mj-cs"/>
              </a:rPr>
            </a:br>
            <a:endParaRPr lang="en-US" sz="1200" b="1" dirty="0">
              <a:solidFill>
                <a:srgbClr val="000000"/>
              </a:solidFill>
              <a:latin typeface="Bierstadt"/>
              <a:ea typeface="+mj-ea"/>
              <a:cs typeface="+mj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Bierstadt"/>
                <a:ea typeface="+mj-ea"/>
                <a:cs typeface="+mj-cs"/>
              </a:rPr>
              <a:t>Note: the sequencer in this agent the </a:t>
            </a:r>
            <a:r>
              <a:rPr lang="en-US" sz="1200" b="1" dirty="0" err="1">
                <a:solidFill>
                  <a:schemeClr val="bg1"/>
                </a:solidFill>
                <a:highlight>
                  <a:srgbClr val="800000"/>
                </a:highlight>
                <a:latin typeface="Bierstadt"/>
                <a:ea typeface="+mj-ea"/>
                <a:cs typeface="+mj-cs"/>
              </a:rPr>
              <a:t>stop_sequences</a:t>
            </a:r>
            <a:r>
              <a:rPr lang="en-US" sz="1200" b="1" dirty="0">
                <a:solidFill>
                  <a:schemeClr val="bg1"/>
                </a:solidFill>
                <a:highlight>
                  <a:srgbClr val="800000"/>
                </a:highlight>
                <a:latin typeface="Bierstadt"/>
                <a:ea typeface="+mj-ea"/>
                <a:cs typeface="+mj-cs"/>
              </a:rPr>
              <a:t>() </a:t>
            </a:r>
            <a:r>
              <a:rPr lang="en-US" sz="1200" b="1" dirty="0">
                <a:solidFill>
                  <a:srgbClr val="000000"/>
                </a:solidFill>
                <a:latin typeface="Bierstadt"/>
                <a:ea typeface="+mj-ea"/>
                <a:cs typeface="+mj-cs"/>
              </a:rPr>
              <a:t>function is called within the write function body defined @it, therefore stopping all sequences and calling </a:t>
            </a:r>
            <a:r>
              <a:rPr lang="en-US" sz="1200" b="1" dirty="0" err="1">
                <a:solidFill>
                  <a:srgbClr val="000000"/>
                </a:solidFill>
                <a:latin typeface="Bierstadt"/>
                <a:ea typeface="+mj-ea"/>
                <a:cs typeface="+mj-cs"/>
              </a:rPr>
              <a:t>item_done</a:t>
            </a:r>
            <a:r>
              <a:rPr lang="en-US" sz="1200" b="1" dirty="0">
                <a:solidFill>
                  <a:srgbClr val="000000"/>
                </a:solidFill>
                <a:latin typeface="Bierstadt"/>
                <a:ea typeface="+mj-ea"/>
                <a:cs typeface="+mj-cs"/>
              </a:rPr>
              <a:t> to all the current running items by the driver.</a:t>
            </a:r>
          </a:p>
        </p:txBody>
      </p:sp>
    </p:spTree>
    <p:extLst>
      <p:ext uri="{BB962C8B-B14F-4D97-AF65-F5344CB8AC3E}">
        <p14:creationId xmlns:p14="http://schemas.microsoft.com/office/powerpoint/2010/main" val="3167444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49C87-D2C4-1687-6B93-D3F9C80C8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93039-7023-A969-BCEA-CF3FBBA46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1935121"/>
          </a:xfrm>
        </p:spPr>
        <p:txBody>
          <a:bodyPr>
            <a:normAutofit fontScale="90000"/>
          </a:bodyPr>
          <a:lstStyle/>
          <a:p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RST AGENT TLM DIAGRAM</a:t>
            </a:r>
            <a:b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117DAC-7C07-AFB1-8EB4-ED5B665F2F30}"/>
              </a:ext>
            </a:extLst>
          </p:cNvPr>
          <p:cNvSpPr txBox="1"/>
          <p:nvPr/>
        </p:nvSpPr>
        <p:spPr>
          <a:xfrm>
            <a:off x="304532" y="2671482"/>
            <a:ext cx="480508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The reset awareness was inspired from The published paper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  <a:hlinkClick r:id="rId2"/>
              </a:rPr>
              <a:t>Handling Asynchronous Reset(s) Testing by building reset-awareness into UVM testbench components  by Wei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  <a:hlinkClick r:id="rId2"/>
              </a:rPr>
              <a:t>Wei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  <a:hlinkClick r:id="rId2"/>
              </a:rPr>
              <a:t> Cheong, Katherine Garden, Ana Sanz Carretero which was previewed @DVCON 2021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erstadt"/>
              <a:ea typeface="+mj-ea"/>
              <a:cs typeface="+mj-cs"/>
            </a:endParaRPr>
          </a:p>
          <a:p>
            <a:endParaRPr lang="en-US" sz="1200" b="1" dirty="0">
              <a:solidFill>
                <a:srgbClr val="000000"/>
              </a:solidFill>
              <a:latin typeface="Bierstadt"/>
              <a:ea typeface="+mj-ea"/>
              <a:cs typeface="+mj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As shown in the figure, the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rst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 agent monitor class is always waiting for reset assertion, and as soon as it is asserted, the monitor class writes to the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uvm_tlm_analysis_port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 so it reaches every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reset_aware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 component and hence allows them to act accordingly. </a:t>
            </a:r>
            <a:endParaRPr lang="en-US" sz="1200" dirty="0"/>
          </a:p>
        </p:txBody>
      </p:sp>
      <p:pic>
        <p:nvPicPr>
          <p:cNvPr id="8" name="Content Placeholder 7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43107215-7977-1104-471A-57F4B61317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690" y="978408"/>
            <a:ext cx="6245778" cy="5090698"/>
          </a:xfrm>
        </p:spPr>
      </p:pic>
    </p:spTree>
    <p:extLst>
      <p:ext uri="{BB962C8B-B14F-4D97-AF65-F5344CB8AC3E}">
        <p14:creationId xmlns:p14="http://schemas.microsoft.com/office/powerpoint/2010/main" val="1670072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F995C0-5CF0-F4D9-AA65-153EC3869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6D92C13B-4E5E-B72E-DD0C-EC838F6A66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019876"/>
              </p:ext>
            </p:extLst>
          </p:nvPr>
        </p:nvGraphicFramePr>
        <p:xfrm>
          <a:off x="-175541" y="1042017"/>
          <a:ext cx="12125493" cy="5609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4CEB4C3-C7C8-4360-18AA-83E0B13CF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740152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ENVIRONMENT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5C1F83-5D7A-8504-A73E-0E965E3A96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EBBC88-3590-3D1A-ABD7-3624A8A39F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198C9B-2706-50A0-5E0C-CB2AEF37EC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6F5474AC-2987-76E1-0826-3E4102FF75D5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2290320" y="1687500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15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2C051F-E073-2CB7-BCD0-80C8BA585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916289C7-840B-D9C7-6ED7-87A8C14388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6562390"/>
              </p:ext>
            </p:extLst>
          </p:nvPr>
        </p:nvGraphicFramePr>
        <p:xfrm>
          <a:off x="324886" y="1149593"/>
          <a:ext cx="11551752" cy="51974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530C0DF-D514-530F-9DE0-40590F325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740152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ALU ACTIVE AGENT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DB8625-D9F4-EF69-6221-48AE2D26D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13CB75-22CF-7920-C80C-50AC4FDDAB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D18C7F-8CD9-6446-7ECA-CBA582D640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DB758882-5824-F6EB-478C-6DA4BA8875CE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2281354" y="1805433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5E64D5-4A8E-A1B4-3AF3-0CF8973E6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A4364225-9B8D-8C35-1ACB-8956CA8D57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2136823"/>
              </p:ext>
            </p:extLst>
          </p:nvPr>
        </p:nvGraphicFramePr>
        <p:xfrm>
          <a:off x="270537" y="1248021"/>
          <a:ext cx="11641399" cy="4865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1F044D9-63AC-91E1-12A2-9AE556047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740152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ALU DRIVER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19D401-DB84-CE02-3B82-B430E1E764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350282-4797-4896-E2D3-1881E9D681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74BDF0-45CC-8BF5-3CF3-9AD7436875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3AB7D3B9-34FD-8FAB-2E77-7D2273006323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2433756" y="1411424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763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8BBA91-7290-24CC-B53D-9029D9C4F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F914FD17-EF81-E4CB-A515-AA69AFB837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0419506"/>
              </p:ext>
            </p:extLst>
          </p:nvPr>
        </p:nvGraphicFramePr>
        <p:xfrm>
          <a:off x="270537" y="1248021"/>
          <a:ext cx="11641399" cy="4865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1527DA0-A96E-1FB4-DE0D-6CD440E56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740152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ALU INPUT MONITOR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04E444-D419-1449-B09C-3E0BA544E5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FCA48B-A0C8-7532-F901-C80C053E84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784033-48EB-01EC-88A0-684BA460B3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83D2FB76-1D80-9FD5-9D5F-04FB0D00F6B8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2433756" y="1411424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66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A2AA745-F9AE-5FDA-F6B3-07835F4A6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C4A6F8FB-D719-0797-14F2-A419B9ABB0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9134368"/>
              </p:ext>
            </p:extLst>
          </p:nvPr>
        </p:nvGraphicFramePr>
        <p:xfrm>
          <a:off x="270537" y="1248021"/>
          <a:ext cx="11641399" cy="4865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9F1BF1C-BDDF-358D-CD8A-39FA5EB1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740152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ALU OUTPUT MONITOR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64D9F8-6FEC-D974-83F9-8127C01604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01CE45-8956-CF8D-6E8E-3E194364F8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417D30-8EBB-9F73-FFFD-4B4D9C4154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FE0DD312-7350-D01A-4CAE-11E545CA39B8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2433756" y="1411424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98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EC2E788-B18D-6113-8A56-27990CC2F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C699F312-5733-7C2A-B7C6-227289E729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8346243"/>
              </p:ext>
            </p:extLst>
          </p:nvPr>
        </p:nvGraphicFramePr>
        <p:xfrm>
          <a:off x="270537" y="1248021"/>
          <a:ext cx="11641399" cy="4865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8833A9E-04A1-5247-0205-AF2624743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740152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ALU SEQUENCER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A0D62F-D5C5-CB00-28BF-F273C9E94E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118086-100C-DA84-0131-ACE9B55D45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1DA3CA-695A-3324-62EC-AA2EAE34D3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60F97B84-0392-8DA2-967A-52CF2D8080FB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2433756" y="1411424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3ED72B1-13D6-CE8E-D442-2F831EFD4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CBA9A1B0-7183-5056-9768-F0ABFEDB55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099335"/>
              </p:ext>
            </p:extLst>
          </p:nvPr>
        </p:nvGraphicFramePr>
        <p:xfrm>
          <a:off x="324886" y="1149593"/>
          <a:ext cx="11551752" cy="51974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DB0971A-0D56-7616-9562-DE885E1A8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740152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RST ACTIVE AGENT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2A0133-8AFC-8CF7-8D41-61003841E7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045667-2C42-052E-1859-540703A4DA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A9F525-FFE1-E375-56C8-4546BC3228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6C716742-DE13-82E9-3650-0EF436542694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2281354" y="1805433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10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AD20C84-C8B1-674A-2C68-2ADEAE443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B874C90D-7C6E-FCDD-83ED-449F1E1B50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6775183"/>
              </p:ext>
            </p:extLst>
          </p:nvPr>
        </p:nvGraphicFramePr>
        <p:xfrm>
          <a:off x="270537" y="1248021"/>
          <a:ext cx="11641399" cy="4865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42AA2E9-2E18-F4C6-E11C-BF39DAF22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740152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RST DRIVER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180BAB-50D1-8B96-6CF6-2FB8C36AC9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42F781-5F53-9F75-EEBE-967E09F901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590C16-CD3F-C4D8-2DA6-D5F1EBB00E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1A901E56-4633-9551-2903-B64AB5636B8A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2433756" y="1411424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2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D5BA94-4EB3-7593-7776-5D0780895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043C1C7D-8E31-CAF4-1A7D-02619992D4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3854051"/>
              </p:ext>
            </p:extLst>
          </p:nvPr>
        </p:nvGraphicFramePr>
        <p:xfrm>
          <a:off x="270537" y="1248021"/>
          <a:ext cx="11641399" cy="4865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23BFA78-192A-9E43-3A73-578EECBB9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740152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RST AGENT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81678A-3933-4463-68A0-E3720E4E87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122096-6DF8-DAB7-4198-395B5DF235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ACF4C2-A6F3-9170-7888-163D6DC149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29F3F4C0-8DC3-99A1-38BB-024E9811B568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2433756" y="1411424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7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6E65AA-9EE7-3162-3D00-AC1932756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3FD02A58-167F-A9BD-EDD8-68256A3288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4591292"/>
              </p:ext>
            </p:extLst>
          </p:nvPr>
        </p:nvGraphicFramePr>
        <p:xfrm>
          <a:off x="-175540" y="1042017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2AB1577-2CB6-4DCB-7CD7-0F3D271DA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081247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 err="1"/>
              <a:t>inputMonitor</a:t>
            </a:r>
            <a:r>
              <a:rPr lang="en-US" sz="4400" dirty="0"/>
              <a:t> &amp; </a:t>
            </a:r>
            <a:r>
              <a:rPr lang="en-US" sz="4400" dirty="0" err="1"/>
              <a:t>inputMonitor</a:t>
            </a:r>
            <a:r>
              <a:rPr lang="en-US" sz="4400" dirty="0"/>
              <a:t>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CAED0C-B355-B40C-258A-6C63E68671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8BD224-4551-5A24-9BF1-837AA5AFF0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836D79-6453-3C34-AFC9-7EF888A9B2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974406D7-349E-55C6-B23F-FB0E2BFEAD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0392299"/>
              </p:ext>
            </p:extLst>
          </p:nvPr>
        </p:nvGraphicFramePr>
        <p:xfrm>
          <a:off x="3442447" y="3460095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3DC39559-C294-301A-578D-EA51CC245888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5221779" y="3525265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414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Graphic spid="20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0CB9EF-9CBF-6E6A-2929-3F1E8957D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B1CAC4E6-1D2A-6E1E-FA7B-62DDF9DA36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4967421"/>
              </p:ext>
            </p:extLst>
          </p:nvPr>
        </p:nvGraphicFramePr>
        <p:xfrm>
          <a:off x="-175540" y="1042017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1AD5EF2-7D3F-0686-0C94-4BAEEC915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847" y="206003"/>
            <a:ext cx="9081247" cy="836014"/>
          </a:xfrm>
        </p:spPr>
        <p:txBody>
          <a:bodyPr>
            <a:noAutofit/>
          </a:bodyPr>
          <a:lstStyle/>
          <a:p>
            <a:r>
              <a:rPr lang="en-US" sz="4400" dirty="0"/>
              <a:t>Coverage &amp; Coverage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94AF20-0D4E-6680-C91A-39B054D2E4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CFE751-E941-22DA-BA3F-00EA096B31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1E2C2B-F0DA-09C6-24CE-3A8743DC32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AAA2326E-255B-CA08-7F2B-35FAEFCD18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4780754"/>
              </p:ext>
            </p:extLst>
          </p:nvPr>
        </p:nvGraphicFramePr>
        <p:xfrm>
          <a:off x="3442447" y="3460095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B17247F1-DA70-7741-35A9-C54C4DC63FFE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5221779" y="3525265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Graphic spid="20" grpId="0">
        <p:bldAsOne/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5D00AAF-C665-BE42-EF5D-06C1886BA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E2C015AC-3883-BA65-3611-EC11441EF4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2416665"/>
              </p:ext>
            </p:extLst>
          </p:nvPr>
        </p:nvGraphicFramePr>
        <p:xfrm>
          <a:off x="-175540" y="1042017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0CF42B1-B9E5-A835-4C52-FACC12FAA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847" y="206003"/>
            <a:ext cx="9081247" cy="836014"/>
          </a:xfrm>
        </p:spPr>
        <p:txBody>
          <a:bodyPr>
            <a:noAutofit/>
          </a:bodyPr>
          <a:lstStyle/>
          <a:p>
            <a:r>
              <a:rPr lang="en-US" sz="4400" dirty="0"/>
              <a:t>Scoreboard &amp; Scoreboard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858EFA-1542-5715-9861-4DAA3688A8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C58147-AB4E-EF4F-6E4A-FB389B2367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79CBE8-8BF0-153B-2C2B-F0AA5DB387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92CC61A-292B-6D16-2599-541619C885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2963261"/>
              </p:ext>
            </p:extLst>
          </p:nvPr>
        </p:nvGraphicFramePr>
        <p:xfrm>
          <a:off x="3442447" y="3460095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38D40219-14CE-922B-F345-E419D9D4F884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5221779" y="3525265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407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Graphic spid="20" grpId="0">
        <p:bldAsOne/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BD0F55-2FC0-8422-890D-678EC24BA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13789D62-9B98-8735-6985-38F6C96F57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1763471"/>
              </p:ext>
            </p:extLst>
          </p:nvPr>
        </p:nvGraphicFramePr>
        <p:xfrm>
          <a:off x="-175540" y="1042017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E95E3BC-FCE9-ED91-5625-2C7BB7FC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847" y="206003"/>
            <a:ext cx="9081247" cy="836014"/>
          </a:xfrm>
        </p:spPr>
        <p:txBody>
          <a:bodyPr>
            <a:noAutofit/>
          </a:bodyPr>
          <a:lstStyle/>
          <a:p>
            <a:r>
              <a:rPr lang="en-US" sz="4400" dirty="0"/>
              <a:t>Predictor &amp; Predictor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37F5C1-D03F-E7E2-2CCE-FEF803A63E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7B1972-0131-6353-2834-672FD620C1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978B3C-287C-845B-74E2-F33AFB24E8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E3F68928-4563-DBB0-3D11-90B09C6F35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2028848"/>
              </p:ext>
            </p:extLst>
          </p:nvPr>
        </p:nvGraphicFramePr>
        <p:xfrm>
          <a:off x="3442447" y="3460095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EEA7E272-0BC7-FC28-78D5-1D8FA630E410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5221779" y="3525265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251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Graphic spid="20" grpId="0">
        <p:bldAsOne/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4AA3E1-BDD5-88C3-D69F-9ABD7E822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9793CA44-B09B-6C73-75DC-583E57B2F9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8648573"/>
              </p:ext>
            </p:extLst>
          </p:nvPr>
        </p:nvGraphicFramePr>
        <p:xfrm>
          <a:off x="-175540" y="1042017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D5D0DE3-7AAA-2FF6-F24B-0D66184BC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847" y="206003"/>
            <a:ext cx="9081247" cy="836014"/>
          </a:xfrm>
        </p:spPr>
        <p:txBody>
          <a:bodyPr>
            <a:noAutofit/>
          </a:bodyPr>
          <a:lstStyle/>
          <a:p>
            <a:r>
              <a:rPr lang="en-US" sz="4400" dirty="0"/>
              <a:t>Comparator &amp; Comparator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A2BB31-469F-7D60-F636-9B60412F86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BBF7E7-6453-A935-A4CC-BFA4969ED8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D145F8-84DD-FB43-515A-8EB4F2B9A0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6ECFDD47-A270-26EC-8EC5-DA4296DCD3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5261271"/>
              </p:ext>
            </p:extLst>
          </p:nvPr>
        </p:nvGraphicFramePr>
        <p:xfrm>
          <a:off x="3442447" y="3460095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917FFA01-4B07-471F-5BCB-5306A2F749FB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5221779" y="3525265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03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Graphic spid="20" grpId="0">
        <p:bldAsOne/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2323916-9D7B-6466-D220-06C0233E6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2488A753-D04E-F073-CD4C-E501A651FB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8104442"/>
              </p:ext>
            </p:extLst>
          </p:nvPr>
        </p:nvGraphicFramePr>
        <p:xfrm>
          <a:off x="2639377" y="1042017"/>
          <a:ext cx="6665988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B570857-CA81-4BCD-9AB9-09F892058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847" y="206003"/>
            <a:ext cx="9081247" cy="836014"/>
          </a:xfrm>
        </p:spPr>
        <p:txBody>
          <a:bodyPr>
            <a:noAutofit/>
          </a:bodyPr>
          <a:lstStyle/>
          <a:p>
            <a:r>
              <a:rPr lang="en-US" sz="4400" dirty="0"/>
              <a:t>Transaction &amp; Transaction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3779FE-872E-8E64-2615-893D70524C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945C9D-C946-BA38-A526-9CC3CA2508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1E78BC-B1B2-096E-1BFC-5269D69CA9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6AB3688B-29E7-43EA-68F7-AE829449A4B2}"/>
              </a:ext>
            </a:extLst>
          </p:cNvPr>
          <p:cNvGraphicFramePr/>
          <p:nvPr/>
        </p:nvGraphicFramePr>
        <p:xfrm>
          <a:off x="5451605" y="3460095"/>
          <a:ext cx="6665988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A519B2D1-382A-FDBE-3509-47980DB8C2DE}"/>
              </a:ext>
            </a:extLst>
          </p:cNvPr>
          <p:cNvGraphicFramePr/>
          <p:nvPr/>
        </p:nvGraphicFramePr>
        <p:xfrm>
          <a:off x="-94858" y="3460098"/>
          <a:ext cx="6665988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2DAAE53D-F1A3-8E17-4D0D-F5BE9FE7BBCE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7423749" y="3332188"/>
            <a:ext cx="1345595" cy="756897"/>
          </a:xfrm>
          <a:prstGeom prst="rect">
            <a:avLst/>
          </a:prstGeom>
        </p:spPr>
      </p:pic>
      <p:pic>
        <p:nvPicPr>
          <p:cNvPr id="3" name="Picture 2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EF1DB37B-B48C-CC06-BAE7-04713E72E8CA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022316" flipH="1">
            <a:off x="3828903" y="3206680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583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Graphic spid="20" grpId="0">
        <p:bldAsOne/>
      </p:bldGraphic>
      <p:bldGraphic spid="21" grpId="0">
        <p:bldAsOne/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6B3A2D3-98BB-8136-4D3E-FDD3B5158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619A7F9-AE45-B915-94F2-6631802112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585065"/>
              </p:ext>
            </p:extLst>
          </p:nvPr>
        </p:nvGraphicFramePr>
        <p:xfrm>
          <a:off x="3897321" y="783445"/>
          <a:ext cx="500655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CBA1BA90-D030-2C41-9D6E-D481B80299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2855732"/>
              </p:ext>
            </p:extLst>
          </p:nvPr>
        </p:nvGraphicFramePr>
        <p:xfrm>
          <a:off x="-172653" y="783447"/>
          <a:ext cx="500655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24D876B-EAAF-6669-20A7-FFA974673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7058" y="133633"/>
            <a:ext cx="9081247" cy="836014"/>
          </a:xfrm>
        </p:spPr>
        <p:txBody>
          <a:bodyPr>
            <a:noAutofit/>
          </a:bodyPr>
          <a:lstStyle/>
          <a:p>
            <a:r>
              <a:rPr lang="en-US" sz="4400" dirty="0"/>
              <a:t>Generator &amp; Generator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C7506D-0180-3401-A00E-B62EFC48779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C48428-FB18-E5EA-CA15-80E7D3A8389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C2E9E0-F6FD-6A1D-F3EA-6F627036640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EEB162AF-1A90-69C8-AEAC-0E8C9B248F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9871449"/>
              </p:ext>
            </p:extLst>
          </p:nvPr>
        </p:nvGraphicFramePr>
        <p:xfrm>
          <a:off x="7898968" y="3782822"/>
          <a:ext cx="4185454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29937272-53AB-ED64-3CA7-738E88559E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6836712"/>
              </p:ext>
            </p:extLst>
          </p:nvPr>
        </p:nvGraphicFramePr>
        <p:xfrm>
          <a:off x="4402733" y="3716019"/>
          <a:ext cx="4049050" cy="3017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7A015B17-23CA-7CAD-DFAD-20F7A578F7C9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7423749" y="3332188"/>
            <a:ext cx="1345595" cy="756897"/>
          </a:xfrm>
          <a:prstGeom prst="rect">
            <a:avLst/>
          </a:prstGeom>
        </p:spPr>
      </p:pic>
      <p:pic>
        <p:nvPicPr>
          <p:cNvPr id="3" name="Picture 2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E142DAAB-B91E-EBD6-B3FF-36F99669197D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022316" flipH="1">
            <a:off x="3828903" y="3206680"/>
            <a:ext cx="1345595" cy="756897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EEF7F19-D706-768B-E8D3-DB07089662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3073061"/>
              </p:ext>
            </p:extLst>
          </p:nvPr>
        </p:nvGraphicFramePr>
        <p:xfrm>
          <a:off x="879607" y="3707057"/>
          <a:ext cx="4049050" cy="3017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5" r:lo="rId26" r:qs="rId27" r:cs="rId28"/>
          </a:graphicData>
        </a:graphic>
      </p:graphicFrame>
      <p:pic>
        <p:nvPicPr>
          <p:cNvPr id="8" name="Picture 7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5DA7FF45-BB3D-6155-9009-982561810B51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828900" y="1888870"/>
            <a:ext cx="1345595" cy="756897"/>
          </a:xfrm>
          <a:prstGeom prst="rect">
            <a:avLst/>
          </a:prstGeom>
        </p:spPr>
      </p:pic>
      <p:pic>
        <p:nvPicPr>
          <p:cNvPr id="9" name="Picture 8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4849D2E8-BE22-F02E-8A79-552E2F07F37A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379796" y="3332184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Graphic spid="16" grpId="0">
        <p:bldAsOne/>
      </p:bldGraphic>
      <p:bldGraphic spid="20" grpId="0">
        <p:bldAsOne/>
      </p:bldGraphic>
      <p:bldGraphic spid="21" grpId="0">
        <p:bldAsOne/>
      </p:bldGraphic>
      <p:bldGraphic spid="5" grpId="0">
        <p:bldAsOne/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A398E60-59E5-80FD-B634-5F4F0A80C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99314A4A-4CB4-72B8-789B-5990A68D8DBF}"/>
              </a:ext>
            </a:extLst>
          </p:cNvPr>
          <p:cNvGraphicFramePr/>
          <p:nvPr/>
        </p:nvGraphicFramePr>
        <p:xfrm>
          <a:off x="-175540" y="1042017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1D4CB41-F28A-18FC-7515-106E0729E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847" y="206003"/>
            <a:ext cx="9081247" cy="836014"/>
          </a:xfrm>
        </p:spPr>
        <p:txBody>
          <a:bodyPr>
            <a:noAutofit/>
          </a:bodyPr>
          <a:lstStyle/>
          <a:p>
            <a:r>
              <a:rPr lang="en-US" sz="4400" dirty="0"/>
              <a:t>Comparator &amp; Comparator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66EA30-B3BD-E776-D201-FBB7116EDF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54D666-4514-F18D-F1C6-B1407D898C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B5F332-B628-8BF9-D6F6-9A160F502F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89E955DA-990C-801E-E90F-7CA189D3C675}"/>
              </a:ext>
            </a:extLst>
          </p:cNvPr>
          <p:cNvGraphicFramePr/>
          <p:nvPr/>
        </p:nvGraphicFramePr>
        <p:xfrm>
          <a:off x="3442447" y="3460095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81FFD3B3-BF8C-06B7-82D1-BA952BCE3932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5221779" y="3525265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9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Graphic spid="20" grpId="0">
        <p:bldAsOne/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2BDB5-7B79-64EC-840C-6521F9308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B04589C9-A140-F036-6C5F-F1280903FD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8505974"/>
              </p:ext>
            </p:extLst>
          </p:nvPr>
        </p:nvGraphicFramePr>
        <p:xfrm>
          <a:off x="-175540" y="1042017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CAD3CAA-2769-6821-4841-106DF3425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847" y="206003"/>
            <a:ext cx="9081247" cy="836014"/>
          </a:xfrm>
        </p:spPr>
        <p:txBody>
          <a:bodyPr>
            <a:noAutofit/>
          </a:bodyPr>
          <a:lstStyle/>
          <a:p>
            <a:r>
              <a:rPr lang="en-US" sz="4400" dirty="0"/>
              <a:t>Environment &amp; Environment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A5F96A-024A-DA82-F875-1F7E4CFAA0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CDC841-7A01-FE06-F2C7-775271139F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F25AD0-D7DB-DA70-9402-0507377E35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ADAEA06-5BAE-FB75-B76A-D6DED7B706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8705716"/>
              </p:ext>
            </p:extLst>
          </p:nvPr>
        </p:nvGraphicFramePr>
        <p:xfrm>
          <a:off x="3442447" y="3460095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2C5E55AA-1582-88CE-3F1B-1C941082DE8D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5221779" y="3525265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7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Graphic spid="20" grpId="0">
        <p:bldAsOne/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F552DB-05C8-874C-E8F1-F724147FC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70ED726-EF08-0482-4434-1E740013A9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7089435"/>
              </p:ext>
            </p:extLst>
          </p:nvPr>
        </p:nvGraphicFramePr>
        <p:xfrm>
          <a:off x="3897320" y="783445"/>
          <a:ext cx="5103245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B08C1286-653B-02A1-FBDC-6495AF65A7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380772"/>
              </p:ext>
            </p:extLst>
          </p:nvPr>
        </p:nvGraphicFramePr>
        <p:xfrm>
          <a:off x="-172653" y="783447"/>
          <a:ext cx="500655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375C46A-CA1E-B803-034B-9A76F2ADE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133633"/>
            <a:ext cx="9081247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Test &amp; Test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B53628-ABDE-8192-2CE3-E152F561982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AC67C6-A015-3674-7CD0-B50EBA756E0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B8379A-4AE9-C80B-80A2-1BE6F263AA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123CB74C-E085-DC40-580B-CA539B2CA7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256265"/>
              </p:ext>
            </p:extLst>
          </p:nvPr>
        </p:nvGraphicFramePr>
        <p:xfrm>
          <a:off x="7898968" y="3782822"/>
          <a:ext cx="4185454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31B7EC56-BB51-3DA1-BA30-5AC31FD1FA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9560652"/>
              </p:ext>
            </p:extLst>
          </p:nvPr>
        </p:nvGraphicFramePr>
        <p:xfrm>
          <a:off x="4402733" y="3716019"/>
          <a:ext cx="4049050" cy="3017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986F1D90-231F-A6EE-0475-A0D0584AEAAC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7423749" y="3332188"/>
            <a:ext cx="1345595" cy="756897"/>
          </a:xfrm>
          <a:prstGeom prst="rect">
            <a:avLst/>
          </a:prstGeom>
        </p:spPr>
      </p:pic>
      <p:pic>
        <p:nvPicPr>
          <p:cNvPr id="3" name="Picture 2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366B50BA-877F-5E1A-A92E-18A6CFD49D78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022316" flipH="1">
            <a:off x="3730288" y="3215645"/>
            <a:ext cx="1345595" cy="756897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2369800-9A92-C6B5-DC2A-FBAAAD1C9B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5411554"/>
              </p:ext>
            </p:extLst>
          </p:nvPr>
        </p:nvGraphicFramePr>
        <p:xfrm>
          <a:off x="879607" y="3707057"/>
          <a:ext cx="4049050" cy="3017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5" r:lo="rId26" r:qs="rId27" r:cs="rId28"/>
          </a:graphicData>
        </a:graphic>
      </p:graphicFrame>
      <p:pic>
        <p:nvPicPr>
          <p:cNvPr id="8" name="Picture 7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2986EAB5-902B-A40D-7FF0-330AD77D2552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83062" y="1871281"/>
            <a:ext cx="1345595" cy="756897"/>
          </a:xfrm>
          <a:prstGeom prst="rect">
            <a:avLst/>
          </a:prstGeom>
        </p:spPr>
      </p:pic>
      <p:pic>
        <p:nvPicPr>
          <p:cNvPr id="9" name="Picture 8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A76FA953-EF3D-F216-B4C1-9AD570ED2C7D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379796" y="3332184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0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Graphic spid="16" grpId="0">
        <p:bldAsOne/>
      </p:bldGraphic>
      <p:bldGraphic spid="20" grpId="0">
        <p:bldAsOne/>
      </p:bldGraphic>
      <p:bldGraphic spid="21" grpId="0">
        <p:bldAsOne/>
      </p:bldGraphic>
      <p:bldGraphic spid="5" grpId="0">
        <p:bldAsOne/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A57F-4F08-75A7-010C-7364566A3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COVERAGE?</a:t>
            </a:r>
            <a:br>
              <a:rPr lang="en-US" dirty="0"/>
            </a:br>
            <a:r>
              <a:rPr lang="en-US" dirty="0"/>
              <a:t>What? For What?</a:t>
            </a:r>
          </a:p>
        </p:txBody>
      </p:sp>
      <p:pic>
        <p:nvPicPr>
          <p:cNvPr id="5" name="Content Placeholder 4" descr="A person in a red and black jacket&#10;&#10;AI-generated content may be incorrect.">
            <a:extLst>
              <a:ext uri="{FF2B5EF4-FFF2-40B4-BE49-F238E27FC236}">
                <a16:creationId xmlns:a16="http://schemas.microsoft.com/office/drawing/2014/main" id="{06665F37-0E06-57AE-392B-50EBA38FD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808" y="4502658"/>
            <a:ext cx="4370831" cy="2463559"/>
          </a:xfrm>
        </p:spPr>
      </p:pic>
      <p:pic>
        <p:nvPicPr>
          <p:cNvPr id="7" name="Picture 6" descr="A person in a suit reading a book&#10;&#10;AI-generated content may be incorrect.">
            <a:extLst>
              <a:ext uri="{FF2B5EF4-FFF2-40B4-BE49-F238E27FC236}">
                <a16:creationId xmlns:a16="http://schemas.microsoft.com/office/drawing/2014/main" id="{D27F5088-2BAF-E2B8-3D86-E50A0F58B4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990" y="638129"/>
            <a:ext cx="4708712" cy="3531534"/>
          </a:xfrm>
          <a:prstGeom prst="rect">
            <a:avLst/>
          </a:prstGeom>
        </p:spPr>
      </p:pic>
      <p:pic>
        <p:nvPicPr>
          <p:cNvPr id="9" name="Picture 8" descr="A person in a blue shirt&#10;&#10;AI-generated content may be incorrect.">
            <a:extLst>
              <a:ext uri="{FF2B5EF4-FFF2-40B4-BE49-F238E27FC236}">
                <a16:creationId xmlns:a16="http://schemas.microsoft.com/office/drawing/2014/main" id="{AEFF4452-2BB9-4447-4A63-D373A9C182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930" y="4169663"/>
            <a:ext cx="2095500" cy="2095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1D67E2-05BD-55CB-066B-B1B521B205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47" y="3985707"/>
            <a:ext cx="3266403" cy="246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98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00A5B-3CC9-C444-9DBF-C4CE95CB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9160" y="95296"/>
            <a:ext cx="6047922" cy="75635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Coverage Examples</a:t>
            </a:r>
          </a:p>
        </p:txBody>
      </p:sp>
      <p:pic>
        <p:nvPicPr>
          <p:cNvPr id="16" name="Picture 15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B04F0DAF-C441-B7F7-4A23-A7BF1613B72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6616867" y="1049034"/>
            <a:ext cx="1345595" cy="756897"/>
          </a:xfrm>
          <a:prstGeom prst="rect">
            <a:avLst/>
          </a:prstGeom>
        </p:spPr>
      </p:pic>
      <p:pic>
        <p:nvPicPr>
          <p:cNvPr id="17" name="Picture 16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0A6E999C-7078-D651-D69C-33D0C224930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022316" flipH="1">
            <a:off x="4223292" y="1049033"/>
            <a:ext cx="1345595" cy="75689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D8F692B-2C14-1147-4BCF-763FC3010B2E}"/>
              </a:ext>
            </a:extLst>
          </p:cNvPr>
          <p:cNvSpPr txBox="1"/>
          <p:nvPr/>
        </p:nvSpPr>
        <p:spPr>
          <a:xfrm>
            <a:off x="8301318" y="1427481"/>
            <a:ext cx="3397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Instance – based coverage method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504216-DC9F-1619-B9BD-D0D8B89D43BC}"/>
              </a:ext>
            </a:extLst>
          </p:cNvPr>
          <p:cNvSpPr txBox="1"/>
          <p:nvPr/>
        </p:nvSpPr>
        <p:spPr>
          <a:xfrm>
            <a:off x="1039904" y="1445407"/>
            <a:ext cx="3397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Fixed/Cross – based coverage</a:t>
            </a:r>
          </a:p>
          <a:p>
            <a:pPr algn="ctr"/>
            <a:r>
              <a:rPr lang="en-US" b="1" dirty="0"/>
              <a:t>method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B4294D2-2D27-9A69-01C9-D6E9D29AA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014" y="2175339"/>
            <a:ext cx="3084927" cy="125366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EC00245-F24C-6590-0FD6-80DA39B7A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115" y="5166406"/>
            <a:ext cx="3987916" cy="1446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5CF0E38-C164-C7EA-FF5E-191C66A3E568}"/>
              </a:ext>
            </a:extLst>
          </p:cNvPr>
          <p:cNvSpPr txBox="1"/>
          <p:nvPr/>
        </p:nvSpPr>
        <p:spPr>
          <a:xfrm>
            <a:off x="5258140" y="3116874"/>
            <a:ext cx="1675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BODY</a:t>
            </a:r>
          </a:p>
        </p:txBody>
      </p:sp>
      <p:pic>
        <p:nvPicPr>
          <p:cNvPr id="28" name="Graphic 27" descr="Back with solid fill">
            <a:extLst>
              <a:ext uri="{FF2B5EF4-FFF2-40B4-BE49-F238E27FC236}">
                <a16:creationId xmlns:a16="http://schemas.microsoft.com/office/drawing/2014/main" id="{32243D55-F246-3A30-57BA-72CA833D20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7037294" y="2344970"/>
            <a:ext cx="914400" cy="914400"/>
          </a:xfrm>
          <a:prstGeom prst="rect">
            <a:avLst/>
          </a:prstGeom>
        </p:spPr>
      </p:pic>
      <p:pic>
        <p:nvPicPr>
          <p:cNvPr id="29" name="Graphic 28" descr="Back with solid fill">
            <a:extLst>
              <a:ext uri="{FF2B5EF4-FFF2-40B4-BE49-F238E27FC236}">
                <a16:creationId xmlns:a16="http://schemas.microsoft.com/office/drawing/2014/main" id="{29A4C441-D462-7F49-9877-3BA52DABE6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7037294" y="3456597"/>
            <a:ext cx="914400" cy="9144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A8DEE29-647E-9503-D7E4-70E44FC0D275}"/>
              </a:ext>
            </a:extLst>
          </p:cNvPr>
          <p:cNvSpPr txBox="1"/>
          <p:nvPr/>
        </p:nvSpPr>
        <p:spPr>
          <a:xfrm>
            <a:off x="4363740" y="4757413"/>
            <a:ext cx="3464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Construction</a:t>
            </a:r>
          </a:p>
        </p:txBody>
      </p:sp>
      <p:pic>
        <p:nvPicPr>
          <p:cNvPr id="31" name="Graphic 30" descr="Back with solid fill">
            <a:extLst>
              <a:ext uri="{FF2B5EF4-FFF2-40B4-BE49-F238E27FC236}">
                <a16:creationId xmlns:a16="http://schemas.microsoft.com/office/drawing/2014/main" id="{713207EC-0FEA-5892-16C8-E8C75D7CC2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50655" y="2344969"/>
            <a:ext cx="914400" cy="914400"/>
          </a:xfrm>
          <a:prstGeom prst="rect">
            <a:avLst/>
          </a:prstGeom>
        </p:spPr>
      </p:pic>
      <p:pic>
        <p:nvPicPr>
          <p:cNvPr id="32" name="Graphic 31" descr="Back with solid fill">
            <a:extLst>
              <a:ext uri="{FF2B5EF4-FFF2-40B4-BE49-F238E27FC236}">
                <a16:creationId xmlns:a16="http://schemas.microsoft.com/office/drawing/2014/main" id="{037B7732-AE4D-00DE-1E75-C06D1CC7F4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4150655" y="3456596"/>
            <a:ext cx="914400" cy="914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4319124-FFEF-134D-2C92-49C392CAC0E0}"/>
              </a:ext>
            </a:extLst>
          </p:cNvPr>
          <p:cNvSpPr txBox="1"/>
          <p:nvPr/>
        </p:nvSpPr>
        <p:spPr>
          <a:xfrm>
            <a:off x="4363740" y="5671813"/>
            <a:ext cx="3464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Sampling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E4134B4-5C4A-9160-9311-5FB32EA59A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8115" y="5555203"/>
            <a:ext cx="4071514" cy="75749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10FCB9E-464C-D29A-4025-434E2442A5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931" y="2225643"/>
            <a:ext cx="3888970" cy="109704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47426C8-A150-B7C8-831E-B9338EC986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3931" y="3351755"/>
            <a:ext cx="3916724" cy="105959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1D4D8E8-692D-243A-F5D2-FAF6798932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555" y="5091068"/>
            <a:ext cx="1162050" cy="28575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A83969A-39B4-C65A-F293-63952C33E7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81460" y="5091068"/>
            <a:ext cx="1295400" cy="29527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0387C51-9A04-E116-ED91-70178B9630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9343" y="5840018"/>
            <a:ext cx="1485900" cy="37147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942C809-7947-B4D4-C247-2ECA296A12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80407" y="3535405"/>
            <a:ext cx="3387643" cy="128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74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6" grpId="0"/>
      <p:bldP spid="30" grpId="0"/>
      <p:bldP spid="3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E57300-C7FF-4578-99A0-42B0295B1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8F8250-7A81-4A19-87AD-FFB2CE4E3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9F38FC-2DEA-2647-C409-EF75720C1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AEEED-9477-D9EF-B1D4-2F1B15814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95" y="2140164"/>
            <a:ext cx="3906700" cy="43466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 dirty="0">
                <a:solidFill>
                  <a:schemeClr val="tx2"/>
                </a:solidFill>
              </a:rPr>
              <a:t>Coverage Closure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2A3C2729-BE57-3CD1-EE80-54B5EBB96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0496" y="657369"/>
            <a:ext cx="5642166" cy="564216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7933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F284B7-13A0-CE53-EDF7-9F144E793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00" y="1239124"/>
            <a:ext cx="7625921" cy="26517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6F5148-F156-F7EA-D350-5AB2BB64C2E4}"/>
              </a:ext>
            </a:extLst>
          </p:cNvPr>
          <p:cNvSpPr txBox="1"/>
          <p:nvPr/>
        </p:nvSpPr>
        <p:spPr>
          <a:xfrm>
            <a:off x="1792941" y="295835"/>
            <a:ext cx="86061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Dashboard.txt for valid Test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F010AD-D53F-066F-F5AF-A9FD86747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742" y="1101852"/>
            <a:ext cx="5067300" cy="5048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BDF643-6C95-81C3-4832-AA8684B98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00" y="3863686"/>
            <a:ext cx="7975288" cy="29943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697519-828F-B804-939F-3A8A23F09012}"/>
              </a:ext>
            </a:extLst>
          </p:cNvPr>
          <p:cNvSpPr txBox="1"/>
          <p:nvPr/>
        </p:nvSpPr>
        <p:spPr>
          <a:xfrm>
            <a:off x="1795048" y="3735768"/>
            <a:ext cx="86061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Dashboard.txt for Error Injection Test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56415D2-D4D6-9E4E-DB68-268CE944F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1117" y="4625368"/>
            <a:ext cx="5114925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34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93CA5-7D8C-019B-9413-364F1CA7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76" y="978408"/>
            <a:ext cx="10831448" cy="1298627"/>
          </a:xfrm>
        </p:spPr>
        <p:txBody>
          <a:bodyPr/>
          <a:lstStyle/>
          <a:p>
            <a:pPr algn="ctr"/>
            <a:r>
              <a:rPr lang="en-US" dirty="0"/>
              <a:t>Exclusions and .</a:t>
            </a:r>
            <a:r>
              <a:rPr lang="en-US" dirty="0" err="1"/>
              <a:t>el</a:t>
            </a:r>
            <a:r>
              <a:rPr lang="en-US" dirty="0"/>
              <a:t> files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ED645B-1939-C91F-D248-E47C8C66C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2110853"/>
            <a:ext cx="6242293" cy="36085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6B75AA-C746-1EEF-DE0B-69F000E9558C}"/>
              </a:ext>
            </a:extLst>
          </p:cNvPr>
          <p:cNvSpPr txBox="1"/>
          <p:nvPr/>
        </p:nvSpPr>
        <p:spPr>
          <a:xfrm>
            <a:off x="585216" y="2752344"/>
            <a:ext cx="42702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Exclusions can be done in the merge command line using –exclude but the naming of the branches, points, ..</a:t>
            </a:r>
            <a:r>
              <a:rPr lang="en-US" dirty="0" err="1"/>
              <a:t>etc</a:t>
            </a:r>
            <a:r>
              <a:rPr lang="en-US" dirty="0"/>
              <a:t> is often hard to make out and understand to just do it from the line, therefore using </a:t>
            </a:r>
            <a:r>
              <a:rPr lang="en-US" dirty="0" err="1"/>
              <a:t>dve</a:t>
            </a:r>
            <a:r>
              <a:rPr lang="en-US" dirty="0"/>
              <a:t> to make the .</a:t>
            </a:r>
            <a:r>
              <a:rPr lang="en-US" dirty="0" err="1"/>
              <a:t>el</a:t>
            </a:r>
            <a:r>
              <a:rPr lang="en-US" dirty="0"/>
              <a:t> file is much easier and thereafter including them in the report command.</a:t>
            </a:r>
          </a:p>
        </p:txBody>
      </p:sp>
    </p:spTree>
    <p:extLst>
      <p:ext uri="{BB962C8B-B14F-4D97-AF65-F5344CB8AC3E}">
        <p14:creationId xmlns:p14="http://schemas.microsoft.com/office/powerpoint/2010/main" val="38518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A97C4-555A-C71C-D255-45AC0E916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076" y="431561"/>
            <a:ext cx="10221848" cy="80556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Scripting &amp; </a:t>
            </a:r>
            <a:r>
              <a:rPr lang="en-US" sz="4000" dirty="0" err="1"/>
              <a:t>Makefiles</a:t>
            </a:r>
            <a:endParaRPr lang="en-US" sz="4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605CB2-569F-9198-C7DD-715A9A8E6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63" y="1517635"/>
            <a:ext cx="11205348" cy="42825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A17E95-3582-14FE-6C9D-96C89379A143}"/>
              </a:ext>
            </a:extLst>
          </p:cNvPr>
          <p:cNvSpPr txBox="1"/>
          <p:nvPr/>
        </p:nvSpPr>
        <p:spPr>
          <a:xfrm>
            <a:off x="7702834" y="1951672"/>
            <a:ext cx="3644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simple bash script to create ./output and ./</a:t>
            </a:r>
            <a:r>
              <a:rPr lang="en-US" dirty="0" err="1"/>
              <a:t>coverage_closure</a:t>
            </a:r>
            <a:r>
              <a:rPr lang="en-US" dirty="0"/>
              <a:t> directories, as well as running the make file</a:t>
            </a:r>
          </a:p>
        </p:txBody>
      </p:sp>
    </p:spTree>
    <p:extLst>
      <p:ext uri="{BB962C8B-B14F-4D97-AF65-F5344CB8AC3E}">
        <p14:creationId xmlns:p14="http://schemas.microsoft.com/office/powerpoint/2010/main" val="361079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33CFF35-3AAD-4F5E-77F4-18256630D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63" y="1218827"/>
            <a:ext cx="7209002" cy="41510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35B22E-DC06-4F3B-3D5F-1E8C662581C8}"/>
              </a:ext>
            </a:extLst>
          </p:cNvPr>
          <p:cNvSpPr txBox="1"/>
          <p:nvPr/>
        </p:nvSpPr>
        <p:spPr>
          <a:xfrm>
            <a:off x="6840071" y="1604682"/>
            <a:ext cx="4509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Makefile</a:t>
            </a:r>
            <a:r>
              <a:rPr lang="en-US" dirty="0"/>
              <a:t> to compile, run, check the simulation waveform using the .</a:t>
            </a:r>
            <a:r>
              <a:rPr lang="en-US" dirty="0" err="1"/>
              <a:t>vdp</a:t>
            </a:r>
            <a:r>
              <a:rPr lang="en-US" dirty="0"/>
              <a:t> files &amp; clean each time the clean task is called or when the run_all.sh is executed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1D3FD1-3D0A-6D31-014D-8A42FFEE9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70" y="296718"/>
            <a:ext cx="10221848" cy="80556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Scripting &amp; </a:t>
            </a:r>
            <a:r>
              <a:rPr lang="en-US" sz="4000" dirty="0" err="1"/>
              <a:t>Makefiles</a:t>
            </a:r>
            <a:endParaRPr lang="en-US" sz="4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2D4E7E-DEE0-03E5-5893-1ADB4883F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914" y="4370568"/>
            <a:ext cx="7999086" cy="19985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006F9BE-57DE-67BA-1AF6-1BD996BBCD0D}"/>
              </a:ext>
            </a:extLst>
          </p:cNvPr>
          <p:cNvSpPr txBox="1"/>
          <p:nvPr/>
        </p:nvSpPr>
        <p:spPr>
          <a:xfrm>
            <a:off x="7727575" y="2995295"/>
            <a:ext cx="38100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Saving compile and simulation.log files so they can be searched for any errors using a script if I have the time to make one</a:t>
            </a:r>
          </a:p>
        </p:txBody>
      </p:sp>
    </p:spTree>
    <p:extLst>
      <p:ext uri="{BB962C8B-B14F-4D97-AF65-F5344CB8AC3E}">
        <p14:creationId xmlns:p14="http://schemas.microsoft.com/office/powerpoint/2010/main" val="1419080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/>
    </p:bldLst>
  </p:timing>
</p:sld>
</file>

<file path=ppt/theme/theme1.xml><?xml version="1.0" encoding="utf-8"?>
<a:theme xmlns:a="http://schemas.openxmlformats.org/drawingml/2006/main" name="GestaltVTI">
  <a:themeElements>
    <a:clrScheme name="Custom 86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6213</TotalTime>
  <Words>2145</Words>
  <Application>Microsoft Office PowerPoint</Application>
  <PresentationFormat>Widescreen</PresentationFormat>
  <Paragraphs>312</Paragraphs>
  <Slides>37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Arial</vt:lpstr>
      <vt:lpstr>Bierstadt</vt:lpstr>
      <vt:lpstr>Wingdings</vt:lpstr>
      <vt:lpstr>GestaltVTI</vt:lpstr>
      <vt:lpstr>Design &amp; Verification of an ALU using UVM &amp; SVA</vt:lpstr>
      <vt:lpstr>PowerPoint Presentation</vt:lpstr>
      <vt:lpstr>PowerPoint Presentation</vt:lpstr>
      <vt:lpstr>ALU DESIGN SPECIFICATIONS</vt:lpstr>
      <vt:lpstr>Verification Environment Classes</vt:lpstr>
      <vt:lpstr>PowerPoint Presentation</vt:lpstr>
      <vt:lpstr>Classes? What do they do?</vt:lpstr>
      <vt:lpstr>SCOREBOARD TLM DIAGRAM The hierarchy of this scoreboard is inspired from Clifford Cumming’s OVM-UVM Scoreboards-Fundamental Architectures The reset awareness was inspired from The published paper Handling Asynchronous Reset(s) Testing by building reset-awareness into UVM testbench components  by Wei Wei Cheong, Katherine Garden, Ana Sanz Carretero which was previewed @DVCON 2021</vt:lpstr>
      <vt:lpstr>SUBSCRIBER TLM DIAGRAM The reset awareness was inspired from The published paper The reset awareness was inspired from The published paper Handling Asynchronous Reset(s) Testing by building reset-awareness into UVM testbench components  by Wei Wei Cheong, Katherine Garden, Ana Sanz Carretero which was previewed @DVCON 2021</vt:lpstr>
      <vt:lpstr>ALU AGENT TLM DIAGRAM </vt:lpstr>
      <vt:lpstr>RST AGENT TLM DIAGRAM </vt:lpstr>
      <vt:lpstr>ENVIRONMENT</vt:lpstr>
      <vt:lpstr>ALU ACTIVE AGENT</vt:lpstr>
      <vt:lpstr>ALU DRIVER</vt:lpstr>
      <vt:lpstr>ALU INPUT MONITOR</vt:lpstr>
      <vt:lpstr>ALU OUTPUT MONITOR</vt:lpstr>
      <vt:lpstr>ALU SEQUENCER</vt:lpstr>
      <vt:lpstr>RST ACTIVE AGENT</vt:lpstr>
      <vt:lpstr>RST DRIVER</vt:lpstr>
      <vt:lpstr>RST AGENT</vt:lpstr>
      <vt:lpstr>inputMonitor &amp; inputMonitor Base</vt:lpstr>
      <vt:lpstr>Coverage &amp; Coverage Base</vt:lpstr>
      <vt:lpstr>Scoreboard &amp; Scoreboard Base</vt:lpstr>
      <vt:lpstr>Predictor &amp; Predictor Base</vt:lpstr>
      <vt:lpstr>Comparator &amp; Comparator Base</vt:lpstr>
      <vt:lpstr>Transaction &amp; Transaction Base</vt:lpstr>
      <vt:lpstr>Generator &amp; Generator Base</vt:lpstr>
      <vt:lpstr>Comparator &amp; Comparator Base</vt:lpstr>
      <vt:lpstr>Environment &amp; Environment Base</vt:lpstr>
      <vt:lpstr>Test &amp; Test Base</vt:lpstr>
      <vt:lpstr>COVERAGE? What? For What?</vt:lpstr>
      <vt:lpstr>Coverage Examples</vt:lpstr>
      <vt:lpstr>Coverage Closure</vt:lpstr>
      <vt:lpstr>PowerPoint Presentation</vt:lpstr>
      <vt:lpstr>Exclusions and .el files</vt:lpstr>
      <vt:lpstr>Scripting &amp; Makefiles</vt:lpstr>
      <vt:lpstr>Scripting &amp; Makefiles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Abdelrahman Yassien</dc:creator>
  <cp:lastModifiedBy>Abdelrahman Yassien</cp:lastModifiedBy>
  <cp:revision>4</cp:revision>
  <dcterms:created xsi:type="dcterms:W3CDTF">2025-02-16T17:37:03Z</dcterms:created>
  <dcterms:modified xsi:type="dcterms:W3CDTF">2025-03-23T20:41:59Z</dcterms:modified>
</cp:coreProperties>
</file>